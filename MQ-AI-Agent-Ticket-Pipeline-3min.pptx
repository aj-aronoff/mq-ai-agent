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7"/>
    <p:sldId id="260" r:id="rId8"/>
    <p:sldId id="261" r:id="rId9"/>
    <p:sldId id="262" r:id="rId12"/>
    <p:sldId id="263"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2905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A.J. This is the MQ AI Agent Ticket Pipeline. Eight hundred and fifty messages on a real queue manager, and nothing reading them. Three minutes on how we find that automatically, and get it answered.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idea. A queue manager already knows when a queue is stuck. What it does not do is tell anybody. So we built a pipeline. It detects that state — messages waiting, nothing reading. It raises a ticket carrying the MQ facts. It adds the one line that makes the ticket answerable. And the IBM MQ AI Agent diagnoses it. Detect, ticket and enhance are ours, and they run unattended. The diagnosis is IBM's. The fix stays a human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queues on one queue manager. One is eighty-five percent full. The other has not been read in a week. MQ reports all of it on its own dashboard — but only if somebody goes and looks. Nobody was looking.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MQSC command covers every queue on the estate. The rule is two fields. Depth above zero: work is waiting. IPPROCS zero: nothing has the queue open to read it. Either one alone is completely normal. Together, they are always a problem. On QMS1 it fires twice — the queue we broke, and a commerce queue stuck for a week that nobody had noticed.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the ticket our scanner raises. Accurate, and useless to an AI agent. On the right, the same ticket with one line added: Diagnose Q ACME.APPDATA.QUEUE on Q Manager QMS1. Two field substitutions. That is the whole enhancer — and now it is a question the agent can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reply, from an IBM sandbox, this week. Not a mock. Primary issue, named: the queue is GET-disabled. The metrics that prove it. Three other causes ruled out without being asked. And the one command that fixes it. Twenty seconds, from a ticket that used to say nothing but a queue name. Nobody ran a single MQSC command to get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honest boundary. The agent found it. A person still runs the fix. That is IBM's design — the agent diagnoses, it does not change anything. And it matters: the agent recommended MONQ(ENABLED), which is not valid MQSC. Right intent, wrong syntax. A pipeline that applied agent output automatically would have failed right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pipeline. Thank you — happy to break the queue manager again, live, if anyone wants to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61616"/>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1325880"/>
            <a:ext cx="8229600" cy="274320"/>
          </a:xfrm>
          <a:prstGeom prst="rect">
            <a:avLst/>
          </a:prstGeom>
          <a:noFill/>
          <a:ln/>
        </p:spPr>
        <p:txBody>
          <a:bodyPr wrap="square" rtlCol="0"/>
          <a:lstStyle>
            <a:lvl1pPr marL="0" indent="0" algn="l">
              <a:buNone/>
              <a:defRPr lang="en-US" sz="1300" kern="0" spc="160" dirty="0">
                <a:solidFill>
                  <a:srgbClr val="0F62FE"/>
                </a:solidFill>
                <a:latin typeface="Courier New" pitchFamily="34" charset="0"/>
                <a:ea typeface="Courier New" pitchFamily="34" charset="-122"/>
                <a:cs typeface="Courier New" pitchFamily="34" charset="-120"/>
              </a:defRPr>
            </a:lvl1pPr>
          </a:lstStyle>
          <a:p>
            <a:pPr marL="0" indent="0" algn="l">
              <a:buNone/>
            </a:pPr>
            <a:endParaRPr lang="en-US" sz="1300" dirty="0"/>
          </a:p>
        </p:txBody>
      </p:sp>
      <p:sp>
        <p:nvSpPr>
          <p:cNvPr id="3" name="Text 0"/>
          <p:cNvSpPr>
            <a:spLocks noGrp="1"/>
          </p:cNvSpPr>
          <p:nvPr>
            <p:ph type="title" idx="101" hasCustomPrompt="1"/>
          </p:nvPr>
        </p:nvSpPr>
        <p:spPr>
          <a:xfrm>
            <a:off x="566928" y="1737360"/>
            <a:ext cx="5943600" cy="1737360"/>
          </a:xfrm>
          <a:prstGeom prst="rect">
            <a:avLst/>
          </a:prstGeom>
          <a:noFill/>
          <a:ln/>
        </p:spPr>
        <p:txBody>
          <a:bodyPr wrap="square" rtlCol="0"/>
          <a:lstStyle>
            <a:lvl1pPr marL="0" indent="0" algn="l">
              <a:buNone/>
              <a:defRPr lang="en-US" sz="5400" b="1" kern="0" spc="-80" dirty="0">
                <a:solidFill>
                  <a:srgbClr val="FFFFFF"/>
                </a:solidFill>
              </a:defRPr>
            </a:lvl1pPr>
          </a:lstStyle>
          <a:p>
            <a:pPr marL="0" indent="0" algn="l">
              <a:buNone/>
            </a:pPr>
            <a:endParaRPr lang="en-US" sz="5400" dirty="0"/>
          </a:p>
        </p:txBody>
      </p:sp>
      <p:sp>
        <p:nvSpPr>
          <p:cNvPr id="4" name="Text 0"/>
          <p:cNvSpPr>
            <a:spLocks noGrp="1"/>
          </p:cNvSpPr>
          <p:nvPr>
            <p:ph type="body" idx="102" hasCustomPrompt="1"/>
          </p:nvPr>
        </p:nvSpPr>
        <p:spPr>
          <a:xfrm>
            <a:off x="566928" y="3493008"/>
            <a:ext cx="5943600" cy="685800"/>
          </a:xfrm>
          <a:prstGeom prst="rect">
            <a:avLst/>
          </a:prstGeom>
          <a:noFill/>
          <a:ln/>
        </p:spPr>
        <p:txBody>
          <a:bodyPr wrap="square" rtlCol="0"/>
          <a:lstStyle>
            <a:lvl1pPr marL="0" indent="0" algn="l">
              <a:buNone/>
              <a:defRPr lang="en-US" sz="2100" dirty="0">
                <a:solidFill>
                  <a:srgbClr val="C6C6C6"/>
                </a:solidFill>
              </a:defRPr>
            </a:lvl1pPr>
          </a:lstStyle>
          <a:p>
            <a:pPr marL="0" indent="0" algn="l">
              <a:buNone/>
            </a:pPr>
            <a:endParaRPr lang="en-US" sz="2100" dirty="0"/>
          </a:p>
        </p:txBody>
      </p:sp>
      <p:sp>
        <p:nvSpPr>
          <p:cNvPr id="5" name="Text 0"/>
          <p:cNvSpPr>
            <a:spLocks noGrp="1"/>
          </p:cNvSpPr>
          <p:nvPr>
            <p:ph type="body" idx="103" hasCustomPrompt="1"/>
          </p:nvPr>
        </p:nvSpPr>
        <p:spPr>
          <a:xfrm>
            <a:off x="566928" y="5715000"/>
            <a:ext cx="8595360" cy="411480"/>
          </a:xfrm>
          <a:prstGeom prst="rect">
            <a:avLst/>
          </a:prstGeom>
          <a:noFill/>
          <a:ln/>
        </p:spPr>
        <p:txBody>
          <a:bodyPr wrap="square" rtlCol="0"/>
          <a:lstStyle>
            <a:lvl1pPr marL="0" indent="0" algn="l">
              <a:buNone/>
              <a:defRPr lang="en-US" sz="1400" kern="0" spc="60" dirty="0">
                <a:solidFill>
                  <a:srgbClr val="6F6F6F"/>
                </a:solidFill>
              </a:defRPr>
            </a:lvl1pPr>
          </a:lstStyle>
          <a:p>
            <a:pPr marL="0" indent="0" algn="l">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161616"/>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2651760"/>
            <a:ext cx="8229600" cy="292608"/>
          </a:xfrm>
          <a:prstGeom prst="rect">
            <a:avLst/>
          </a:prstGeom>
          <a:noFill/>
          <a:ln/>
        </p:spPr>
        <p:txBody>
          <a:bodyPr wrap="square" rtlCol="0"/>
          <a:lstStyle>
            <a:lvl1pPr marL="0" indent="0" algn="l">
              <a:buNone/>
              <a:defRPr lang="en-US" sz="1300" kern="0" spc="160" dirty="0">
                <a:solidFill>
                  <a:srgbClr val="0F62FE"/>
                </a:solidFill>
                <a:latin typeface="Courier New" pitchFamily="34" charset="0"/>
                <a:ea typeface="Courier New" pitchFamily="34" charset="-122"/>
                <a:cs typeface="Courier New" pitchFamily="34" charset="-120"/>
              </a:defRPr>
            </a:lvl1pPr>
          </a:lstStyle>
          <a:p>
            <a:pPr marL="0" indent="0" algn="l">
              <a:buNone/>
            </a:pPr>
            <a:endParaRPr lang="en-US" sz="1300" dirty="0"/>
          </a:p>
        </p:txBody>
      </p:sp>
      <p:sp>
        <p:nvSpPr>
          <p:cNvPr id="3" name="Text 0"/>
          <p:cNvSpPr>
            <a:spLocks noGrp="1"/>
          </p:cNvSpPr>
          <p:nvPr>
            <p:ph type="title" idx="101" hasCustomPrompt="1"/>
          </p:nvPr>
        </p:nvSpPr>
        <p:spPr>
          <a:xfrm>
            <a:off x="566928" y="3017520"/>
            <a:ext cx="10058400" cy="1188720"/>
          </a:xfrm>
          <a:prstGeom prst="rect">
            <a:avLst/>
          </a:prstGeom>
          <a:noFill/>
          <a:ln/>
        </p:spPr>
        <p:txBody>
          <a:bodyPr wrap="square" rtlCol="0"/>
          <a:lstStyle>
            <a:lvl1pPr marL="0" indent="0" algn="l">
              <a:buNone/>
              <a:defRPr lang="en-US" sz="4000" b="1" kern="0" spc="-50" dirty="0">
                <a:solidFill>
                  <a:srgbClr val="FFFFFF"/>
                </a:solidFill>
              </a:defRPr>
            </a:lvl1pPr>
          </a:lstStyle>
          <a:p>
            <a:pPr marL="0" indent="0" algn="l">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lstStyle>
            <a:lvl1pPr marL="0" indent="0" algn="l">
              <a:buNone/>
              <a:defRPr lang="en-US" sz="3200" b="1" kern="0" spc="-40" dirty="0">
                <a:solidFill>
                  <a:srgbClr val="161616"/>
                </a:solidFill>
              </a:defRPr>
            </a:lvl1pPr>
          </a:lstStyle>
          <a:p>
            <a:pPr marL="0" indent="0" algn="l">
              <a:buNone/>
            </a:pPr>
            <a:endParaRPr lang="en-US" sz="3200" dirty="0"/>
          </a:p>
        </p:txBody>
      </p:sp>
      <p:sp>
        <p:nvSpPr>
          <p:cNvPr id="3" name="Text 0"/>
          <p:cNvSpPr txBox="1"/>
          <p:nvPr/>
        </p:nvSpPr>
        <p:spPr>
          <a:xfrm>
            <a:off x="566928" y="6364224"/>
            <a:ext cx="6400800" cy="274320"/>
          </a:xfrm>
          <a:prstGeom prst="rect">
            <a:avLst/>
          </a:prstGeom>
          <a:noFill/>
          <a:ln/>
        </p:spPr>
        <p:txBody>
          <a:bodyPr wrap="square" lIns="0" tIns="0" rIns="0" bIns="0" rtlCol="0" anchor="ctr"/>
          <a:lstStyle/>
          <a:p>
            <a:pPr marL="0" indent="0">
              <a:buNone/>
            </a:pPr>
            <a:r>
              <a:rPr lang="en-US" sz="900" dirty="0">
                <a:solidFill>
                  <a:srgbClr val="A8A8A8"/>
                </a:solidFill>
              </a:rPr>
              <a:t>MQ AI Agent Ticket Pipeline  ·  IBM AngelHack</a:t>
            </a:r>
            <a:endParaRPr lang="en-US" sz="900" dirty="0"/>
          </a:p>
        </p:txBody>
      </p:sp>
      <p:sp>
        <p:nvSpPr>
          <p:cNvPr id="2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A8A8A8"/>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6161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lstStyle>
            <a:lvl1pPr marL="0" indent="0" algn="l">
              <a:buNone/>
              <a:defRPr lang="en-US" sz="3200" b="1" kern="0" spc="-40" dirty="0">
                <a:solidFill>
                  <a:srgbClr val="FFFFFF"/>
                </a:solidFill>
              </a:defRPr>
            </a:lvl1pPr>
          </a:lstStyle>
          <a:p>
            <a:pPr marL="0" indent="0" algn="l">
              <a:buNone/>
            </a:pPr>
            <a:endParaRPr lang="en-US" sz="3200" dirty="0"/>
          </a:p>
        </p:txBody>
      </p:sp>
      <p:sp>
        <p:nvSpPr>
          <p:cNvPr id="3" name="Text 0"/>
          <p:cNvSpPr txBox="1"/>
          <p:nvPr/>
        </p:nvSpPr>
        <p:spPr>
          <a:xfrm>
            <a:off x="566928" y="6364224"/>
            <a:ext cx="6400800" cy="274320"/>
          </a:xfrm>
          <a:prstGeom prst="rect">
            <a:avLst/>
          </a:prstGeom>
          <a:noFill/>
          <a:ln/>
        </p:spPr>
        <p:txBody>
          <a:bodyPr wrap="square" lIns="0" tIns="0" rIns="0" bIns="0" rtlCol="0" anchor="ctr"/>
          <a:lstStyle/>
          <a:p>
            <a:pPr marL="0" indent="0">
              <a:buNone/>
            </a:pPr>
            <a:r>
              <a:rPr lang="en-US" sz="900" dirty="0">
                <a:solidFill>
                  <a:srgbClr val="6F6F6F"/>
                </a:solidFill>
              </a:rPr>
              <a:t>MQ AI Agent Ticket Pipeline  ·  IBM AngelHack</a:t>
            </a:r>
            <a:endParaRPr lang="en-US" sz="900" dirty="0"/>
          </a:p>
        </p:txBody>
      </p:sp>
      <p:sp>
        <p:nvSpPr>
          <p:cNvPr id="2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6F6F6F"/>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A8A8A8"/>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1325880"/>
            <a:ext cx="8229600" cy="274320"/>
          </a:xfrm>
          <a:prstGeom prst="rect">
            <a:avLst/>
          </a:prstGeom>
          <a:noFill/>
          <a:ln/>
        </p:spPr>
        <p:txBody>
          <a:bodyPr wrap="square" rtlCol="0"/>
          <a:lstStyle/>
          <a:p>
            <a:pPr marL="0" indent="0" algn="l">
              <a:buNone/>
            </a:pPr>
            <a:r>
              <a:rPr lang="en-US" sz="1300" kern="0" spc="160" dirty="0">
                <a:solidFill>
                  <a:srgbClr val="0F62FE"/>
                </a:solidFill>
                <a:latin typeface="Courier New" pitchFamily="34" charset="0"/>
                <a:ea typeface="Courier New" pitchFamily="34" charset="-122"/>
                <a:cs typeface="Courier New" pitchFamily="34" charset="-120"/>
              </a:rPr>
              <a:t>QMS1  ·  ACME.APPDATA.QUEUE</a:t>
            </a:r>
            <a:endParaRPr lang="en-US" sz="1300" dirty="0"/>
          </a:p>
        </p:txBody>
      </p:sp>
      <p:sp>
        <p:nvSpPr>
          <p:cNvPr id="3" name="Text 0"/>
          <p:cNvSpPr>
            <a:spLocks noGrp="1"/>
          </p:cNvSpPr>
          <p:nvPr>
            <p:ph type="title" idx="101" hasCustomPrompt="1"/>
          </p:nvPr>
        </p:nvSpPr>
        <p:spPr>
          <a:xfrm>
            <a:off x="566928" y="1737360"/>
            <a:ext cx="5943600" cy="1737360"/>
          </a:xfrm>
          <a:prstGeom prst="rect">
            <a:avLst/>
          </a:prstGeom>
          <a:noFill/>
          <a:ln/>
        </p:spPr>
        <p:txBody>
          <a:bodyPr wrap="square" rtlCol="0" anchor="t"/>
          <a:lstStyle/>
          <a:p>
            <a:pPr marL="0" indent="0" algn="l">
              <a:buNone/>
            </a:pPr>
            <a:r>
              <a:rPr lang="en-US" sz="5400" b="1" kern="0" spc="-80" dirty="0">
                <a:solidFill>
                  <a:srgbClr val="FFFFFF"/>
                </a:solidFill>
              </a:rPr>
              <a:t>MQ AI Agent</a:t>
            </a:r>
            <a:endParaRPr lang="en-US" sz="5400" dirty="0"/>
          </a:p>
          <a:p>
            <a:pPr marL="0" indent="0" algn="l">
              <a:buNone/>
            </a:pPr>
            <a:r>
              <a:rPr lang="en-US" sz="5400" b="1" kern="0" spc="-80" dirty="0">
                <a:solidFill>
                  <a:srgbClr val="FFFFFF"/>
                </a:solidFill>
              </a:rPr>
              <a:t>Ticket Pipeline</a:t>
            </a:r>
            <a:endParaRPr lang="en-US" sz="5400" dirty="0"/>
          </a:p>
        </p:txBody>
      </p:sp>
      <p:sp>
        <p:nvSpPr>
          <p:cNvPr id="4" name="Text 0"/>
          <p:cNvSpPr>
            <a:spLocks noGrp="1"/>
          </p:cNvSpPr>
          <p:nvPr>
            <p:ph type="body" idx="102" hasCustomPrompt="1"/>
          </p:nvPr>
        </p:nvSpPr>
        <p:spPr>
          <a:xfrm>
            <a:off x="566928" y="3493008"/>
            <a:ext cx="5943600" cy="685800"/>
          </a:xfrm>
          <a:prstGeom prst="rect">
            <a:avLst/>
          </a:prstGeom>
          <a:noFill/>
          <a:ln/>
        </p:spPr>
        <p:txBody>
          <a:bodyPr wrap="square" rtlCol="0"/>
          <a:lstStyle/>
          <a:p>
            <a:pPr marL="0" indent="0" algn="l">
              <a:buNone/>
            </a:pPr>
            <a:r>
              <a:rPr lang="en-US" sz="2100" dirty="0">
                <a:solidFill>
                  <a:srgbClr val="C6C6C6"/>
                </a:solidFill>
              </a:rPr>
              <a:t>From a silent queue to an actionable diagnosis</a:t>
            </a:r>
            <a:endParaRPr lang="en-US" sz="2100" dirty="0"/>
          </a:p>
        </p:txBody>
      </p:sp>
      <p:sp>
        <p:nvSpPr>
          <p:cNvPr id="5" name="Text 0"/>
          <p:cNvSpPr>
            <a:spLocks noGrp="1"/>
          </p:cNvSpPr>
          <p:nvPr>
            <p:ph type="body" idx="103" hasCustomPrompt="1"/>
          </p:nvPr>
        </p:nvSpPr>
        <p:spPr>
          <a:xfrm>
            <a:off x="566928" y="5715000"/>
            <a:ext cx="8595360" cy="411480"/>
          </a:xfrm>
          <a:prstGeom prst="rect">
            <a:avLst/>
          </a:prstGeom>
          <a:noFill/>
          <a:ln/>
        </p:spPr>
        <p:txBody>
          <a:bodyPr wrap="square" rtlCol="0"/>
          <a:lstStyle/>
          <a:p>
            <a:pPr marL="0" indent="0" algn="l">
              <a:buNone/>
            </a:pPr>
            <a:r>
              <a:rPr lang="en-US" sz="1400" kern="0" spc="60" dirty="0">
                <a:solidFill>
                  <a:srgbClr val="6F6F6F"/>
                </a:solidFill>
              </a:rPr>
              <a:t>A.J. Aronoff   ·   IBM AngelHack   ·   October 2026</a:t>
            </a:r>
            <a:endParaRPr lang="en-US" sz="1400" dirty="0"/>
          </a:p>
        </p:txBody>
      </p:sp>
      <p:sp>
        <p:nvSpPr>
          <p:cNvPr id="6" name="msg-square"/>
          <p:cNvSpPr/>
          <p:nvPr/>
        </p:nvSpPr>
        <p:spPr>
          <a:xfrm>
            <a:off x="7182612" y="2066544"/>
            <a:ext cx="155448" cy="155448"/>
          </a:xfrm>
          <a:prstGeom prst="rect">
            <a:avLst/>
          </a:prstGeom>
          <a:solidFill>
            <a:srgbClr val="0F62FE"/>
          </a:solidFill>
          <a:ln w="9525">
            <a:solidFill>
              <a:srgbClr val="0F62FE"/>
            </a:solidFill>
            <a:prstDash val="solid"/>
          </a:ln>
        </p:spPr>
      </p:sp>
      <p:sp>
        <p:nvSpPr>
          <p:cNvPr id="7" name="msg-square"/>
          <p:cNvSpPr/>
          <p:nvPr/>
        </p:nvSpPr>
        <p:spPr>
          <a:xfrm>
            <a:off x="7406640" y="2066544"/>
            <a:ext cx="155448" cy="155448"/>
          </a:xfrm>
          <a:prstGeom prst="rect">
            <a:avLst/>
          </a:prstGeom>
          <a:solidFill>
            <a:srgbClr val="0F62FE"/>
          </a:solidFill>
          <a:ln w="9525">
            <a:solidFill>
              <a:srgbClr val="0F62FE"/>
            </a:solidFill>
            <a:prstDash val="solid"/>
          </a:ln>
        </p:spPr>
      </p:sp>
      <p:sp>
        <p:nvSpPr>
          <p:cNvPr id="8" name="msg-square"/>
          <p:cNvSpPr/>
          <p:nvPr/>
        </p:nvSpPr>
        <p:spPr>
          <a:xfrm>
            <a:off x="7630668" y="2066544"/>
            <a:ext cx="155448" cy="155448"/>
          </a:xfrm>
          <a:prstGeom prst="rect">
            <a:avLst/>
          </a:prstGeom>
          <a:solidFill>
            <a:srgbClr val="0F62FE"/>
          </a:solidFill>
          <a:ln w="9525">
            <a:solidFill>
              <a:srgbClr val="0F62FE"/>
            </a:solidFill>
            <a:prstDash val="solid"/>
          </a:ln>
        </p:spPr>
      </p:sp>
      <p:sp>
        <p:nvSpPr>
          <p:cNvPr id="9" name="msg-square"/>
          <p:cNvSpPr/>
          <p:nvPr/>
        </p:nvSpPr>
        <p:spPr>
          <a:xfrm>
            <a:off x="7854696" y="2066544"/>
            <a:ext cx="155448" cy="155448"/>
          </a:xfrm>
          <a:prstGeom prst="rect">
            <a:avLst/>
          </a:prstGeom>
          <a:solidFill>
            <a:srgbClr val="0F62FE"/>
          </a:solidFill>
          <a:ln w="9525">
            <a:solidFill>
              <a:srgbClr val="0F62FE"/>
            </a:solidFill>
            <a:prstDash val="solid"/>
          </a:ln>
        </p:spPr>
      </p:sp>
      <p:sp>
        <p:nvSpPr>
          <p:cNvPr id="10" name="msg-square"/>
          <p:cNvSpPr/>
          <p:nvPr/>
        </p:nvSpPr>
        <p:spPr>
          <a:xfrm>
            <a:off x="8078724" y="2066544"/>
            <a:ext cx="155448" cy="155448"/>
          </a:xfrm>
          <a:prstGeom prst="rect">
            <a:avLst/>
          </a:prstGeom>
          <a:solidFill>
            <a:srgbClr val="0F62FE"/>
          </a:solidFill>
          <a:ln w="9525">
            <a:solidFill>
              <a:srgbClr val="0F62FE"/>
            </a:solidFill>
            <a:prstDash val="solid"/>
          </a:ln>
        </p:spPr>
      </p:sp>
      <p:sp>
        <p:nvSpPr>
          <p:cNvPr id="11" name="msg-square"/>
          <p:cNvSpPr/>
          <p:nvPr/>
        </p:nvSpPr>
        <p:spPr>
          <a:xfrm>
            <a:off x="8302752" y="2066544"/>
            <a:ext cx="155448" cy="155448"/>
          </a:xfrm>
          <a:prstGeom prst="rect">
            <a:avLst/>
          </a:prstGeom>
          <a:solidFill>
            <a:srgbClr val="0F62FE"/>
          </a:solidFill>
          <a:ln w="9525">
            <a:solidFill>
              <a:srgbClr val="0F62FE"/>
            </a:solidFill>
            <a:prstDash val="solid"/>
          </a:ln>
        </p:spPr>
      </p:sp>
      <p:sp>
        <p:nvSpPr>
          <p:cNvPr id="12" name="msg-square"/>
          <p:cNvSpPr/>
          <p:nvPr/>
        </p:nvSpPr>
        <p:spPr>
          <a:xfrm>
            <a:off x="8526780" y="2066544"/>
            <a:ext cx="155448" cy="155448"/>
          </a:xfrm>
          <a:prstGeom prst="rect">
            <a:avLst/>
          </a:prstGeom>
          <a:solidFill>
            <a:srgbClr val="0F62FE"/>
          </a:solidFill>
          <a:ln w="9525">
            <a:solidFill>
              <a:srgbClr val="0F62FE"/>
            </a:solidFill>
            <a:prstDash val="solid"/>
          </a:ln>
        </p:spPr>
      </p:sp>
      <p:sp>
        <p:nvSpPr>
          <p:cNvPr id="13" name="msg-square"/>
          <p:cNvSpPr/>
          <p:nvPr/>
        </p:nvSpPr>
        <p:spPr>
          <a:xfrm>
            <a:off x="8750808" y="2066544"/>
            <a:ext cx="155448" cy="155448"/>
          </a:xfrm>
          <a:prstGeom prst="rect">
            <a:avLst/>
          </a:prstGeom>
          <a:solidFill>
            <a:srgbClr val="0F62FE"/>
          </a:solidFill>
          <a:ln w="9525">
            <a:solidFill>
              <a:srgbClr val="0F62FE"/>
            </a:solidFill>
            <a:prstDash val="solid"/>
          </a:ln>
        </p:spPr>
      </p:sp>
      <p:sp>
        <p:nvSpPr>
          <p:cNvPr id="14" name="msg-square"/>
          <p:cNvSpPr/>
          <p:nvPr/>
        </p:nvSpPr>
        <p:spPr>
          <a:xfrm>
            <a:off x="8974836" y="2066544"/>
            <a:ext cx="155448" cy="155448"/>
          </a:xfrm>
          <a:prstGeom prst="rect">
            <a:avLst/>
          </a:prstGeom>
          <a:solidFill>
            <a:srgbClr val="0F62FE"/>
          </a:solidFill>
          <a:ln w="9525">
            <a:solidFill>
              <a:srgbClr val="0F62FE"/>
            </a:solidFill>
            <a:prstDash val="solid"/>
          </a:ln>
        </p:spPr>
      </p:sp>
      <p:sp>
        <p:nvSpPr>
          <p:cNvPr id="15" name="msg-square"/>
          <p:cNvSpPr/>
          <p:nvPr/>
        </p:nvSpPr>
        <p:spPr>
          <a:xfrm>
            <a:off x="9198864" y="2066544"/>
            <a:ext cx="155448" cy="155448"/>
          </a:xfrm>
          <a:prstGeom prst="rect">
            <a:avLst/>
          </a:prstGeom>
          <a:solidFill>
            <a:srgbClr val="0F62FE"/>
          </a:solidFill>
          <a:ln w="9525">
            <a:solidFill>
              <a:srgbClr val="0F62FE"/>
            </a:solidFill>
            <a:prstDash val="solid"/>
          </a:ln>
        </p:spPr>
      </p:sp>
      <p:sp>
        <p:nvSpPr>
          <p:cNvPr id="16" name="msg-square"/>
          <p:cNvSpPr/>
          <p:nvPr/>
        </p:nvSpPr>
        <p:spPr>
          <a:xfrm>
            <a:off x="9422892" y="2066544"/>
            <a:ext cx="155448" cy="155448"/>
          </a:xfrm>
          <a:prstGeom prst="rect">
            <a:avLst/>
          </a:prstGeom>
          <a:solidFill>
            <a:srgbClr val="0F62FE"/>
          </a:solidFill>
          <a:ln w="9525">
            <a:solidFill>
              <a:srgbClr val="0F62FE"/>
            </a:solidFill>
            <a:prstDash val="solid"/>
          </a:ln>
        </p:spPr>
      </p:sp>
      <p:sp>
        <p:nvSpPr>
          <p:cNvPr id="17" name="msg-square"/>
          <p:cNvSpPr/>
          <p:nvPr/>
        </p:nvSpPr>
        <p:spPr>
          <a:xfrm>
            <a:off x="9646920" y="2066544"/>
            <a:ext cx="155448" cy="155448"/>
          </a:xfrm>
          <a:prstGeom prst="rect">
            <a:avLst/>
          </a:prstGeom>
          <a:solidFill>
            <a:srgbClr val="0F62FE"/>
          </a:solidFill>
          <a:ln w="9525">
            <a:solidFill>
              <a:srgbClr val="0F62FE"/>
            </a:solidFill>
            <a:prstDash val="solid"/>
          </a:ln>
        </p:spPr>
      </p:sp>
      <p:sp>
        <p:nvSpPr>
          <p:cNvPr id="18" name="msg-square"/>
          <p:cNvSpPr/>
          <p:nvPr/>
        </p:nvSpPr>
        <p:spPr>
          <a:xfrm>
            <a:off x="9870948" y="2066544"/>
            <a:ext cx="155448" cy="155448"/>
          </a:xfrm>
          <a:prstGeom prst="rect">
            <a:avLst/>
          </a:prstGeom>
          <a:solidFill>
            <a:srgbClr val="0F62FE"/>
          </a:solidFill>
          <a:ln w="9525">
            <a:solidFill>
              <a:srgbClr val="0F62FE"/>
            </a:solidFill>
            <a:prstDash val="solid"/>
          </a:ln>
        </p:spPr>
      </p:sp>
      <p:sp>
        <p:nvSpPr>
          <p:cNvPr id="19" name="msg-square"/>
          <p:cNvSpPr/>
          <p:nvPr/>
        </p:nvSpPr>
        <p:spPr>
          <a:xfrm>
            <a:off x="10094976" y="2066544"/>
            <a:ext cx="155448" cy="155448"/>
          </a:xfrm>
          <a:prstGeom prst="rect">
            <a:avLst/>
          </a:prstGeom>
          <a:solidFill>
            <a:srgbClr val="0F62FE"/>
          </a:solidFill>
          <a:ln w="9525">
            <a:solidFill>
              <a:srgbClr val="0F62FE"/>
            </a:solidFill>
            <a:prstDash val="solid"/>
          </a:ln>
        </p:spPr>
      </p:sp>
      <p:sp>
        <p:nvSpPr>
          <p:cNvPr id="20" name="msg-square"/>
          <p:cNvSpPr/>
          <p:nvPr/>
        </p:nvSpPr>
        <p:spPr>
          <a:xfrm>
            <a:off x="10319004" y="2066544"/>
            <a:ext cx="155448" cy="155448"/>
          </a:xfrm>
          <a:prstGeom prst="rect">
            <a:avLst/>
          </a:prstGeom>
          <a:solidFill>
            <a:srgbClr val="0F62FE"/>
          </a:solidFill>
          <a:ln w="9525">
            <a:solidFill>
              <a:srgbClr val="0F62FE"/>
            </a:solidFill>
            <a:prstDash val="solid"/>
          </a:ln>
        </p:spPr>
      </p:sp>
      <p:sp>
        <p:nvSpPr>
          <p:cNvPr id="21" name="msg-square"/>
          <p:cNvSpPr/>
          <p:nvPr/>
        </p:nvSpPr>
        <p:spPr>
          <a:xfrm>
            <a:off x="10543032" y="2066544"/>
            <a:ext cx="155448" cy="155448"/>
          </a:xfrm>
          <a:prstGeom prst="rect">
            <a:avLst/>
          </a:prstGeom>
          <a:solidFill>
            <a:srgbClr val="0F62FE"/>
          </a:solidFill>
          <a:ln w="9525">
            <a:solidFill>
              <a:srgbClr val="0F62FE"/>
            </a:solidFill>
            <a:prstDash val="solid"/>
          </a:ln>
        </p:spPr>
      </p:sp>
      <p:sp>
        <p:nvSpPr>
          <p:cNvPr id="22" name="msg-square"/>
          <p:cNvSpPr/>
          <p:nvPr/>
        </p:nvSpPr>
        <p:spPr>
          <a:xfrm>
            <a:off x="10767060" y="2066544"/>
            <a:ext cx="155448" cy="155448"/>
          </a:xfrm>
          <a:prstGeom prst="rect">
            <a:avLst/>
          </a:prstGeom>
          <a:solidFill>
            <a:srgbClr val="0F62FE"/>
          </a:solidFill>
          <a:ln w="9525">
            <a:solidFill>
              <a:srgbClr val="0F62FE"/>
            </a:solidFill>
            <a:prstDash val="solid"/>
          </a:ln>
        </p:spPr>
      </p:sp>
      <p:sp>
        <p:nvSpPr>
          <p:cNvPr id="23" name="msg-square"/>
          <p:cNvSpPr/>
          <p:nvPr/>
        </p:nvSpPr>
        <p:spPr>
          <a:xfrm>
            <a:off x="10991088" y="2066544"/>
            <a:ext cx="155448" cy="155448"/>
          </a:xfrm>
          <a:prstGeom prst="rect">
            <a:avLst/>
          </a:prstGeom>
          <a:solidFill>
            <a:srgbClr val="0F62FE"/>
          </a:solidFill>
          <a:ln w="9525">
            <a:solidFill>
              <a:srgbClr val="0F62FE"/>
            </a:solidFill>
            <a:prstDash val="solid"/>
          </a:ln>
        </p:spPr>
      </p:sp>
      <p:sp>
        <p:nvSpPr>
          <p:cNvPr id="24" name="msg-square"/>
          <p:cNvSpPr/>
          <p:nvPr/>
        </p:nvSpPr>
        <p:spPr>
          <a:xfrm>
            <a:off x="11215116" y="2066544"/>
            <a:ext cx="155448" cy="155448"/>
          </a:xfrm>
          <a:prstGeom prst="rect">
            <a:avLst/>
          </a:prstGeom>
          <a:solidFill>
            <a:srgbClr val="0F62FE"/>
          </a:solidFill>
          <a:ln w="9525">
            <a:solidFill>
              <a:srgbClr val="0F62FE"/>
            </a:solidFill>
            <a:prstDash val="solid"/>
          </a:ln>
        </p:spPr>
      </p:sp>
      <p:sp>
        <p:nvSpPr>
          <p:cNvPr id="25" name="msg-square"/>
          <p:cNvSpPr/>
          <p:nvPr/>
        </p:nvSpPr>
        <p:spPr>
          <a:xfrm>
            <a:off x="11439144" y="2066544"/>
            <a:ext cx="155448" cy="155448"/>
          </a:xfrm>
          <a:prstGeom prst="rect">
            <a:avLst/>
          </a:prstGeom>
          <a:solidFill>
            <a:srgbClr val="0F62FE"/>
          </a:solidFill>
          <a:ln w="9525">
            <a:solidFill>
              <a:srgbClr val="0F62FE"/>
            </a:solidFill>
            <a:prstDash val="solid"/>
          </a:ln>
        </p:spPr>
      </p:sp>
      <p:sp>
        <p:nvSpPr>
          <p:cNvPr id="26" name="msg-square"/>
          <p:cNvSpPr/>
          <p:nvPr/>
        </p:nvSpPr>
        <p:spPr>
          <a:xfrm>
            <a:off x="7182612" y="2290572"/>
            <a:ext cx="155448" cy="155448"/>
          </a:xfrm>
          <a:prstGeom prst="rect">
            <a:avLst/>
          </a:prstGeom>
          <a:solidFill>
            <a:srgbClr val="0F62FE"/>
          </a:solidFill>
          <a:ln w="9525">
            <a:solidFill>
              <a:srgbClr val="0F62FE"/>
            </a:solidFill>
            <a:prstDash val="solid"/>
          </a:ln>
        </p:spPr>
      </p:sp>
      <p:sp>
        <p:nvSpPr>
          <p:cNvPr id="27" name="msg-square"/>
          <p:cNvSpPr/>
          <p:nvPr/>
        </p:nvSpPr>
        <p:spPr>
          <a:xfrm>
            <a:off x="7406640" y="2290572"/>
            <a:ext cx="155448" cy="155448"/>
          </a:xfrm>
          <a:prstGeom prst="rect">
            <a:avLst/>
          </a:prstGeom>
          <a:solidFill>
            <a:srgbClr val="0F62FE"/>
          </a:solidFill>
          <a:ln w="9525">
            <a:solidFill>
              <a:srgbClr val="0F62FE"/>
            </a:solidFill>
            <a:prstDash val="solid"/>
          </a:ln>
        </p:spPr>
      </p:sp>
      <p:sp>
        <p:nvSpPr>
          <p:cNvPr id="28" name="msg-square"/>
          <p:cNvSpPr/>
          <p:nvPr/>
        </p:nvSpPr>
        <p:spPr>
          <a:xfrm>
            <a:off x="7630668" y="2290572"/>
            <a:ext cx="155448" cy="155448"/>
          </a:xfrm>
          <a:prstGeom prst="rect">
            <a:avLst/>
          </a:prstGeom>
          <a:solidFill>
            <a:srgbClr val="0F62FE"/>
          </a:solidFill>
          <a:ln w="9525">
            <a:solidFill>
              <a:srgbClr val="0F62FE"/>
            </a:solidFill>
            <a:prstDash val="solid"/>
          </a:ln>
        </p:spPr>
      </p:sp>
      <p:sp>
        <p:nvSpPr>
          <p:cNvPr id="29" name="msg-square"/>
          <p:cNvSpPr/>
          <p:nvPr/>
        </p:nvSpPr>
        <p:spPr>
          <a:xfrm>
            <a:off x="7854696" y="2290572"/>
            <a:ext cx="155448" cy="155448"/>
          </a:xfrm>
          <a:prstGeom prst="rect">
            <a:avLst/>
          </a:prstGeom>
          <a:solidFill>
            <a:srgbClr val="0F62FE"/>
          </a:solidFill>
          <a:ln w="9525">
            <a:solidFill>
              <a:srgbClr val="0F62FE"/>
            </a:solidFill>
            <a:prstDash val="solid"/>
          </a:ln>
        </p:spPr>
      </p:sp>
      <p:sp>
        <p:nvSpPr>
          <p:cNvPr id="30" name="msg-square"/>
          <p:cNvSpPr/>
          <p:nvPr/>
        </p:nvSpPr>
        <p:spPr>
          <a:xfrm>
            <a:off x="8078724" y="2290572"/>
            <a:ext cx="155448" cy="155448"/>
          </a:xfrm>
          <a:prstGeom prst="rect">
            <a:avLst/>
          </a:prstGeom>
          <a:solidFill>
            <a:srgbClr val="0F62FE"/>
          </a:solidFill>
          <a:ln w="9525">
            <a:solidFill>
              <a:srgbClr val="0F62FE"/>
            </a:solidFill>
            <a:prstDash val="solid"/>
          </a:ln>
        </p:spPr>
      </p:sp>
      <p:sp>
        <p:nvSpPr>
          <p:cNvPr id="31" name="msg-square"/>
          <p:cNvSpPr/>
          <p:nvPr/>
        </p:nvSpPr>
        <p:spPr>
          <a:xfrm>
            <a:off x="8302752" y="2290572"/>
            <a:ext cx="155448" cy="155448"/>
          </a:xfrm>
          <a:prstGeom prst="rect">
            <a:avLst/>
          </a:prstGeom>
          <a:solidFill>
            <a:srgbClr val="0F62FE"/>
          </a:solidFill>
          <a:ln w="9525">
            <a:solidFill>
              <a:srgbClr val="0F62FE"/>
            </a:solidFill>
            <a:prstDash val="solid"/>
          </a:ln>
        </p:spPr>
      </p:sp>
      <p:sp>
        <p:nvSpPr>
          <p:cNvPr id="32" name="msg-square"/>
          <p:cNvSpPr/>
          <p:nvPr/>
        </p:nvSpPr>
        <p:spPr>
          <a:xfrm>
            <a:off x="8526780" y="2290572"/>
            <a:ext cx="155448" cy="155448"/>
          </a:xfrm>
          <a:prstGeom prst="rect">
            <a:avLst/>
          </a:prstGeom>
          <a:solidFill>
            <a:srgbClr val="0F62FE"/>
          </a:solidFill>
          <a:ln w="9525">
            <a:solidFill>
              <a:srgbClr val="0F62FE"/>
            </a:solidFill>
            <a:prstDash val="solid"/>
          </a:ln>
        </p:spPr>
      </p:sp>
      <p:sp>
        <p:nvSpPr>
          <p:cNvPr id="33" name="msg-square"/>
          <p:cNvSpPr/>
          <p:nvPr/>
        </p:nvSpPr>
        <p:spPr>
          <a:xfrm>
            <a:off x="8750808" y="2290572"/>
            <a:ext cx="155448" cy="155448"/>
          </a:xfrm>
          <a:prstGeom prst="rect">
            <a:avLst/>
          </a:prstGeom>
          <a:solidFill>
            <a:srgbClr val="0F62FE"/>
          </a:solidFill>
          <a:ln w="9525">
            <a:solidFill>
              <a:srgbClr val="0F62FE"/>
            </a:solidFill>
            <a:prstDash val="solid"/>
          </a:ln>
        </p:spPr>
      </p:sp>
      <p:sp>
        <p:nvSpPr>
          <p:cNvPr id="34" name="msg-square"/>
          <p:cNvSpPr/>
          <p:nvPr/>
        </p:nvSpPr>
        <p:spPr>
          <a:xfrm>
            <a:off x="8974836" y="2290572"/>
            <a:ext cx="155448" cy="155448"/>
          </a:xfrm>
          <a:prstGeom prst="rect">
            <a:avLst/>
          </a:prstGeom>
          <a:solidFill>
            <a:srgbClr val="0F62FE"/>
          </a:solidFill>
          <a:ln w="9525">
            <a:solidFill>
              <a:srgbClr val="0F62FE"/>
            </a:solidFill>
            <a:prstDash val="solid"/>
          </a:ln>
        </p:spPr>
      </p:sp>
      <p:sp>
        <p:nvSpPr>
          <p:cNvPr id="35" name="msg-square"/>
          <p:cNvSpPr/>
          <p:nvPr/>
        </p:nvSpPr>
        <p:spPr>
          <a:xfrm>
            <a:off x="9198864" y="2290572"/>
            <a:ext cx="155448" cy="155448"/>
          </a:xfrm>
          <a:prstGeom prst="rect">
            <a:avLst/>
          </a:prstGeom>
          <a:solidFill>
            <a:srgbClr val="0F62FE"/>
          </a:solidFill>
          <a:ln w="9525">
            <a:solidFill>
              <a:srgbClr val="0F62FE"/>
            </a:solidFill>
            <a:prstDash val="solid"/>
          </a:ln>
        </p:spPr>
      </p:sp>
      <p:sp>
        <p:nvSpPr>
          <p:cNvPr id="36" name="msg-square"/>
          <p:cNvSpPr/>
          <p:nvPr/>
        </p:nvSpPr>
        <p:spPr>
          <a:xfrm>
            <a:off x="9422892" y="2290572"/>
            <a:ext cx="155448" cy="155448"/>
          </a:xfrm>
          <a:prstGeom prst="rect">
            <a:avLst/>
          </a:prstGeom>
          <a:solidFill>
            <a:srgbClr val="0F62FE"/>
          </a:solidFill>
          <a:ln w="9525">
            <a:solidFill>
              <a:srgbClr val="0F62FE"/>
            </a:solidFill>
            <a:prstDash val="solid"/>
          </a:ln>
        </p:spPr>
      </p:sp>
      <p:sp>
        <p:nvSpPr>
          <p:cNvPr id="37" name="msg-square"/>
          <p:cNvSpPr/>
          <p:nvPr/>
        </p:nvSpPr>
        <p:spPr>
          <a:xfrm>
            <a:off x="9646920" y="2290572"/>
            <a:ext cx="155448" cy="155448"/>
          </a:xfrm>
          <a:prstGeom prst="rect">
            <a:avLst/>
          </a:prstGeom>
          <a:solidFill>
            <a:srgbClr val="0F62FE"/>
          </a:solidFill>
          <a:ln w="9525">
            <a:solidFill>
              <a:srgbClr val="0F62FE"/>
            </a:solidFill>
            <a:prstDash val="solid"/>
          </a:ln>
        </p:spPr>
      </p:sp>
      <p:sp>
        <p:nvSpPr>
          <p:cNvPr id="38" name="msg-square"/>
          <p:cNvSpPr/>
          <p:nvPr/>
        </p:nvSpPr>
        <p:spPr>
          <a:xfrm>
            <a:off x="9870948" y="2290572"/>
            <a:ext cx="155448" cy="155448"/>
          </a:xfrm>
          <a:prstGeom prst="rect">
            <a:avLst/>
          </a:prstGeom>
          <a:solidFill>
            <a:srgbClr val="0F62FE"/>
          </a:solidFill>
          <a:ln w="9525">
            <a:solidFill>
              <a:srgbClr val="0F62FE"/>
            </a:solidFill>
            <a:prstDash val="solid"/>
          </a:ln>
        </p:spPr>
      </p:sp>
      <p:sp>
        <p:nvSpPr>
          <p:cNvPr id="39" name="msg-square"/>
          <p:cNvSpPr/>
          <p:nvPr/>
        </p:nvSpPr>
        <p:spPr>
          <a:xfrm>
            <a:off x="10094976" y="2290572"/>
            <a:ext cx="155448" cy="155448"/>
          </a:xfrm>
          <a:prstGeom prst="rect">
            <a:avLst/>
          </a:prstGeom>
          <a:solidFill>
            <a:srgbClr val="0F62FE"/>
          </a:solidFill>
          <a:ln w="9525">
            <a:solidFill>
              <a:srgbClr val="0F62FE"/>
            </a:solidFill>
            <a:prstDash val="solid"/>
          </a:ln>
        </p:spPr>
      </p:sp>
      <p:sp>
        <p:nvSpPr>
          <p:cNvPr id="40" name="msg-square"/>
          <p:cNvSpPr/>
          <p:nvPr/>
        </p:nvSpPr>
        <p:spPr>
          <a:xfrm>
            <a:off x="10319004" y="2290572"/>
            <a:ext cx="155448" cy="155448"/>
          </a:xfrm>
          <a:prstGeom prst="rect">
            <a:avLst/>
          </a:prstGeom>
          <a:solidFill>
            <a:srgbClr val="0F62FE"/>
          </a:solidFill>
          <a:ln w="9525">
            <a:solidFill>
              <a:srgbClr val="0F62FE"/>
            </a:solidFill>
            <a:prstDash val="solid"/>
          </a:ln>
        </p:spPr>
      </p:sp>
      <p:sp>
        <p:nvSpPr>
          <p:cNvPr id="41" name="msg-square"/>
          <p:cNvSpPr/>
          <p:nvPr/>
        </p:nvSpPr>
        <p:spPr>
          <a:xfrm>
            <a:off x="10543032" y="2290572"/>
            <a:ext cx="155448" cy="155448"/>
          </a:xfrm>
          <a:prstGeom prst="rect">
            <a:avLst/>
          </a:prstGeom>
          <a:solidFill>
            <a:srgbClr val="0F62FE"/>
          </a:solidFill>
          <a:ln w="9525">
            <a:solidFill>
              <a:srgbClr val="0F62FE"/>
            </a:solidFill>
            <a:prstDash val="solid"/>
          </a:ln>
        </p:spPr>
      </p:sp>
      <p:sp>
        <p:nvSpPr>
          <p:cNvPr id="42" name="msg-square"/>
          <p:cNvSpPr/>
          <p:nvPr/>
        </p:nvSpPr>
        <p:spPr>
          <a:xfrm>
            <a:off x="10767060" y="2290572"/>
            <a:ext cx="155448" cy="155448"/>
          </a:xfrm>
          <a:prstGeom prst="rect">
            <a:avLst/>
          </a:prstGeom>
          <a:solidFill>
            <a:srgbClr val="0F62FE"/>
          </a:solidFill>
          <a:ln w="9525">
            <a:solidFill>
              <a:srgbClr val="0F62FE"/>
            </a:solidFill>
            <a:prstDash val="solid"/>
          </a:ln>
        </p:spPr>
      </p:sp>
      <p:sp>
        <p:nvSpPr>
          <p:cNvPr id="43" name="msg-square"/>
          <p:cNvSpPr/>
          <p:nvPr/>
        </p:nvSpPr>
        <p:spPr>
          <a:xfrm>
            <a:off x="10991088" y="2290572"/>
            <a:ext cx="155448" cy="155448"/>
          </a:xfrm>
          <a:prstGeom prst="rect">
            <a:avLst/>
          </a:prstGeom>
          <a:solidFill>
            <a:srgbClr val="0F62FE"/>
          </a:solidFill>
          <a:ln w="9525">
            <a:solidFill>
              <a:srgbClr val="0F62FE"/>
            </a:solidFill>
            <a:prstDash val="solid"/>
          </a:ln>
        </p:spPr>
      </p:sp>
      <p:sp>
        <p:nvSpPr>
          <p:cNvPr id="44" name="msg-square"/>
          <p:cNvSpPr/>
          <p:nvPr/>
        </p:nvSpPr>
        <p:spPr>
          <a:xfrm>
            <a:off x="11215116" y="2290572"/>
            <a:ext cx="155448" cy="155448"/>
          </a:xfrm>
          <a:prstGeom prst="rect">
            <a:avLst/>
          </a:prstGeom>
          <a:solidFill>
            <a:srgbClr val="0F62FE"/>
          </a:solidFill>
          <a:ln w="9525">
            <a:solidFill>
              <a:srgbClr val="0F62FE"/>
            </a:solidFill>
            <a:prstDash val="solid"/>
          </a:ln>
        </p:spPr>
      </p:sp>
      <p:sp>
        <p:nvSpPr>
          <p:cNvPr id="45" name="msg-square"/>
          <p:cNvSpPr/>
          <p:nvPr/>
        </p:nvSpPr>
        <p:spPr>
          <a:xfrm>
            <a:off x="11439144" y="2290572"/>
            <a:ext cx="155448" cy="155448"/>
          </a:xfrm>
          <a:prstGeom prst="rect">
            <a:avLst/>
          </a:prstGeom>
          <a:solidFill>
            <a:srgbClr val="0F62FE"/>
          </a:solidFill>
          <a:ln w="9525">
            <a:solidFill>
              <a:srgbClr val="0F62FE"/>
            </a:solidFill>
            <a:prstDash val="solid"/>
          </a:ln>
        </p:spPr>
      </p:sp>
      <p:sp>
        <p:nvSpPr>
          <p:cNvPr id="46" name="msg-square"/>
          <p:cNvSpPr/>
          <p:nvPr/>
        </p:nvSpPr>
        <p:spPr>
          <a:xfrm>
            <a:off x="7182612" y="2514600"/>
            <a:ext cx="155448" cy="155448"/>
          </a:xfrm>
          <a:prstGeom prst="rect">
            <a:avLst/>
          </a:prstGeom>
          <a:solidFill>
            <a:srgbClr val="0F62FE"/>
          </a:solidFill>
          <a:ln w="9525">
            <a:solidFill>
              <a:srgbClr val="0F62FE"/>
            </a:solidFill>
            <a:prstDash val="solid"/>
          </a:ln>
        </p:spPr>
      </p:sp>
      <p:sp>
        <p:nvSpPr>
          <p:cNvPr id="47" name="msg-square"/>
          <p:cNvSpPr/>
          <p:nvPr/>
        </p:nvSpPr>
        <p:spPr>
          <a:xfrm>
            <a:off x="7406640" y="2514600"/>
            <a:ext cx="155448" cy="155448"/>
          </a:xfrm>
          <a:prstGeom prst="rect">
            <a:avLst/>
          </a:prstGeom>
          <a:solidFill>
            <a:srgbClr val="0F62FE"/>
          </a:solidFill>
          <a:ln w="9525">
            <a:solidFill>
              <a:srgbClr val="0F62FE"/>
            </a:solidFill>
            <a:prstDash val="solid"/>
          </a:ln>
        </p:spPr>
      </p:sp>
      <p:sp>
        <p:nvSpPr>
          <p:cNvPr id="48" name="msg-square"/>
          <p:cNvSpPr/>
          <p:nvPr/>
        </p:nvSpPr>
        <p:spPr>
          <a:xfrm>
            <a:off x="7630668" y="2514600"/>
            <a:ext cx="155448" cy="155448"/>
          </a:xfrm>
          <a:prstGeom prst="rect">
            <a:avLst/>
          </a:prstGeom>
          <a:solidFill>
            <a:srgbClr val="0F62FE"/>
          </a:solidFill>
          <a:ln w="9525">
            <a:solidFill>
              <a:srgbClr val="0F62FE"/>
            </a:solidFill>
            <a:prstDash val="solid"/>
          </a:ln>
        </p:spPr>
      </p:sp>
      <p:sp>
        <p:nvSpPr>
          <p:cNvPr id="49" name="msg-square"/>
          <p:cNvSpPr/>
          <p:nvPr/>
        </p:nvSpPr>
        <p:spPr>
          <a:xfrm>
            <a:off x="7854696" y="2514600"/>
            <a:ext cx="155448" cy="155448"/>
          </a:xfrm>
          <a:prstGeom prst="rect">
            <a:avLst/>
          </a:prstGeom>
          <a:solidFill>
            <a:srgbClr val="0F62FE"/>
          </a:solidFill>
          <a:ln w="9525">
            <a:solidFill>
              <a:srgbClr val="0F62FE"/>
            </a:solidFill>
            <a:prstDash val="solid"/>
          </a:ln>
        </p:spPr>
      </p:sp>
      <p:sp>
        <p:nvSpPr>
          <p:cNvPr id="50" name="msg-square"/>
          <p:cNvSpPr/>
          <p:nvPr/>
        </p:nvSpPr>
        <p:spPr>
          <a:xfrm>
            <a:off x="8078724" y="2514600"/>
            <a:ext cx="155448" cy="155448"/>
          </a:xfrm>
          <a:prstGeom prst="rect">
            <a:avLst/>
          </a:prstGeom>
          <a:solidFill>
            <a:srgbClr val="0F62FE"/>
          </a:solidFill>
          <a:ln w="9525">
            <a:solidFill>
              <a:srgbClr val="0F62FE"/>
            </a:solidFill>
            <a:prstDash val="solid"/>
          </a:ln>
        </p:spPr>
      </p:sp>
      <p:sp>
        <p:nvSpPr>
          <p:cNvPr id="51" name="msg-square"/>
          <p:cNvSpPr/>
          <p:nvPr/>
        </p:nvSpPr>
        <p:spPr>
          <a:xfrm>
            <a:off x="8302752" y="2514600"/>
            <a:ext cx="155448" cy="155448"/>
          </a:xfrm>
          <a:prstGeom prst="rect">
            <a:avLst/>
          </a:prstGeom>
          <a:solidFill>
            <a:srgbClr val="0F62FE"/>
          </a:solidFill>
          <a:ln w="9525">
            <a:solidFill>
              <a:srgbClr val="0F62FE"/>
            </a:solidFill>
            <a:prstDash val="solid"/>
          </a:ln>
        </p:spPr>
      </p:sp>
      <p:sp>
        <p:nvSpPr>
          <p:cNvPr id="52" name="msg-square"/>
          <p:cNvSpPr/>
          <p:nvPr/>
        </p:nvSpPr>
        <p:spPr>
          <a:xfrm>
            <a:off x="8526780" y="2514600"/>
            <a:ext cx="155448" cy="155448"/>
          </a:xfrm>
          <a:prstGeom prst="rect">
            <a:avLst/>
          </a:prstGeom>
          <a:solidFill>
            <a:srgbClr val="0F62FE"/>
          </a:solidFill>
          <a:ln w="9525">
            <a:solidFill>
              <a:srgbClr val="0F62FE"/>
            </a:solidFill>
            <a:prstDash val="solid"/>
          </a:ln>
        </p:spPr>
      </p:sp>
      <p:sp>
        <p:nvSpPr>
          <p:cNvPr id="53" name="msg-square"/>
          <p:cNvSpPr/>
          <p:nvPr/>
        </p:nvSpPr>
        <p:spPr>
          <a:xfrm>
            <a:off x="8750808" y="2514600"/>
            <a:ext cx="155448" cy="155448"/>
          </a:xfrm>
          <a:prstGeom prst="rect">
            <a:avLst/>
          </a:prstGeom>
          <a:solidFill>
            <a:srgbClr val="0F62FE"/>
          </a:solidFill>
          <a:ln w="9525">
            <a:solidFill>
              <a:srgbClr val="0F62FE"/>
            </a:solidFill>
            <a:prstDash val="solid"/>
          </a:ln>
        </p:spPr>
      </p:sp>
      <p:sp>
        <p:nvSpPr>
          <p:cNvPr id="54" name="msg-square"/>
          <p:cNvSpPr/>
          <p:nvPr/>
        </p:nvSpPr>
        <p:spPr>
          <a:xfrm>
            <a:off x="8974836" y="2514600"/>
            <a:ext cx="155448" cy="155448"/>
          </a:xfrm>
          <a:prstGeom prst="rect">
            <a:avLst/>
          </a:prstGeom>
          <a:solidFill>
            <a:srgbClr val="0F62FE"/>
          </a:solidFill>
          <a:ln w="9525">
            <a:solidFill>
              <a:srgbClr val="0F62FE"/>
            </a:solidFill>
            <a:prstDash val="solid"/>
          </a:ln>
        </p:spPr>
      </p:sp>
      <p:sp>
        <p:nvSpPr>
          <p:cNvPr id="55" name="msg-square"/>
          <p:cNvSpPr/>
          <p:nvPr/>
        </p:nvSpPr>
        <p:spPr>
          <a:xfrm>
            <a:off x="9198864" y="2514600"/>
            <a:ext cx="155448" cy="155448"/>
          </a:xfrm>
          <a:prstGeom prst="rect">
            <a:avLst/>
          </a:prstGeom>
          <a:solidFill>
            <a:srgbClr val="0F62FE"/>
          </a:solidFill>
          <a:ln w="9525">
            <a:solidFill>
              <a:srgbClr val="0F62FE"/>
            </a:solidFill>
            <a:prstDash val="solid"/>
          </a:ln>
        </p:spPr>
      </p:sp>
      <p:sp>
        <p:nvSpPr>
          <p:cNvPr id="56" name="msg-square"/>
          <p:cNvSpPr/>
          <p:nvPr/>
        </p:nvSpPr>
        <p:spPr>
          <a:xfrm>
            <a:off x="9422892" y="2514600"/>
            <a:ext cx="155448" cy="155448"/>
          </a:xfrm>
          <a:prstGeom prst="rect">
            <a:avLst/>
          </a:prstGeom>
          <a:solidFill>
            <a:srgbClr val="0F62FE"/>
          </a:solidFill>
          <a:ln w="9525">
            <a:solidFill>
              <a:srgbClr val="0F62FE"/>
            </a:solidFill>
            <a:prstDash val="solid"/>
          </a:ln>
        </p:spPr>
      </p:sp>
      <p:sp>
        <p:nvSpPr>
          <p:cNvPr id="57" name="msg-square"/>
          <p:cNvSpPr/>
          <p:nvPr/>
        </p:nvSpPr>
        <p:spPr>
          <a:xfrm>
            <a:off x="9646920" y="2514600"/>
            <a:ext cx="155448" cy="155448"/>
          </a:xfrm>
          <a:prstGeom prst="rect">
            <a:avLst/>
          </a:prstGeom>
          <a:solidFill>
            <a:srgbClr val="0F62FE"/>
          </a:solidFill>
          <a:ln w="9525">
            <a:solidFill>
              <a:srgbClr val="0F62FE"/>
            </a:solidFill>
            <a:prstDash val="solid"/>
          </a:ln>
        </p:spPr>
      </p:sp>
      <p:sp>
        <p:nvSpPr>
          <p:cNvPr id="58" name="msg-square"/>
          <p:cNvSpPr/>
          <p:nvPr/>
        </p:nvSpPr>
        <p:spPr>
          <a:xfrm>
            <a:off x="9870948" y="2514600"/>
            <a:ext cx="155448" cy="155448"/>
          </a:xfrm>
          <a:prstGeom prst="rect">
            <a:avLst/>
          </a:prstGeom>
          <a:solidFill>
            <a:srgbClr val="0F62FE"/>
          </a:solidFill>
          <a:ln w="9525">
            <a:solidFill>
              <a:srgbClr val="0F62FE"/>
            </a:solidFill>
            <a:prstDash val="solid"/>
          </a:ln>
        </p:spPr>
      </p:sp>
      <p:sp>
        <p:nvSpPr>
          <p:cNvPr id="59" name="msg-square"/>
          <p:cNvSpPr/>
          <p:nvPr/>
        </p:nvSpPr>
        <p:spPr>
          <a:xfrm>
            <a:off x="10094976" y="2514600"/>
            <a:ext cx="155448" cy="155448"/>
          </a:xfrm>
          <a:prstGeom prst="rect">
            <a:avLst/>
          </a:prstGeom>
          <a:solidFill>
            <a:srgbClr val="0F62FE"/>
          </a:solidFill>
          <a:ln w="9525">
            <a:solidFill>
              <a:srgbClr val="0F62FE"/>
            </a:solidFill>
            <a:prstDash val="solid"/>
          </a:ln>
        </p:spPr>
      </p:sp>
      <p:sp>
        <p:nvSpPr>
          <p:cNvPr id="60" name="msg-square"/>
          <p:cNvSpPr/>
          <p:nvPr/>
        </p:nvSpPr>
        <p:spPr>
          <a:xfrm>
            <a:off x="10319004" y="2514600"/>
            <a:ext cx="155448" cy="155448"/>
          </a:xfrm>
          <a:prstGeom prst="rect">
            <a:avLst/>
          </a:prstGeom>
          <a:solidFill>
            <a:srgbClr val="0F62FE"/>
          </a:solidFill>
          <a:ln w="9525">
            <a:solidFill>
              <a:srgbClr val="0F62FE"/>
            </a:solidFill>
            <a:prstDash val="solid"/>
          </a:ln>
        </p:spPr>
      </p:sp>
      <p:sp>
        <p:nvSpPr>
          <p:cNvPr id="61" name="msg-square"/>
          <p:cNvSpPr/>
          <p:nvPr/>
        </p:nvSpPr>
        <p:spPr>
          <a:xfrm>
            <a:off x="10543032" y="2514600"/>
            <a:ext cx="155448" cy="155448"/>
          </a:xfrm>
          <a:prstGeom prst="rect">
            <a:avLst/>
          </a:prstGeom>
          <a:solidFill>
            <a:srgbClr val="0F62FE"/>
          </a:solidFill>
          <a:ln w="9525">
            <a:solidFill>
              <a:srgbClr val="0F62FE"/>
            </a:solidFill>
            <a:prstDash val="solid"/>
          </a:ln>
        </p:spPr>
      </p:sp>
      <p:sp>
        <p:nvSpPr>
          <p:cNvPr id="62" name="msg-square"/>
          <p:cNvSpPr/>
          <p:nvPr/>
        </p:nvSpPr>
        <p:spPr>
          <a:xfrm>
            <a:off x="10767060" y="2514600"/>
            <a:ext cx="155448" cy="155448"/>
          </a:xfrm>
          <a:prstGeom prst="rect">
            <a:avLst/>
          </a:prstGeom>
          <a:solidFill>
            <a:srgbClr val="0F62FE"/>
          </a:solidFill>
          <a:ln w="9525">
            <a:solidFill>
              <a:srgbClr val="0F62FE"/>
            </a:solidFill>
            <a:prstDash val="solid"/>
          </a:ln>
        </p:spPr>
      </p:sp>
      <p:sp>
        <p:nvSpPr>
          <p:cNvPr id="63" name="msg-square"/>
          <p:cNvSpPr/>
          <p:nvPr/>
        </p:nvSpPr>
        <p:spPr>
          <a:xfrm>
            <a:off x="10991088" y="2514600"/>
            <a:ext cx="155448" cy="155448"/>
          </a:xfrm>
          <a:prstGeom prst="rect">
            <a:avLst/>
          </a:prstGeom>
          <a:solidFill>
            <a:srgbClr val="0F62FE"/>
          </a:solidFill>
          <a:ln w="9525">
            <a:solidFill>
              <a:srgbClr val="0F62FE"/>
            </a:solidFill>
            <a:prstDash val="solid"/>
          </a:ln>
        </p:spPr>
      </p:sp>
      <p:sp>
        <p:nvSpPr>
          <p:cNvPr id="64" name="msg-square"/>
          <p:cNvSpPr/>
          <p:nvPr/>
        </p:nvSpPr>
        <p:spPr>
          <a:xfrm>
            <a:off x="11215116" y="2514600"/>
            <a:ext cx="155448" cy="155448"/>
          </a:xfrm>
          <a:prstGeom prst="rect">
            <a:avLst/>
          </a:prstGeom>
          <a:solidFill>
            <a:srgbClr val="0F62FE"/>
          </a:solidFill>
          <a:ln w="9525">
            <a:solidFill>
              <a:srgbClr val="0F62FE"/>
            </a:solidFill>
            <a:prstDash val="solid"/>
          </a:ln>
        </p:spPr>
      </p:sp>
      <p:sp>
        <p:nvSpPr>
          <p:cNvPr id="65" name="msg-square"/>
          <p:cNvSpPr/>
          <p:nvPr/>
        </p:nvSpPr>
        <p:spPr>
          <a:xfrm>
            <a:off x="11439144" y="2514600"/>
            <a:ext cx="155448" cy="155448"/>
          </a:xfrm>
          <a:prstGeom prst="rect">
            <a:avLst/>
          </a:prstGeom>
          <a:solidFill>
            <a:srgbClr val="0F62FE"/>
          </a:solidFill>
          <a:ln w="9525">
            <a:solidFill>
              <a:srgbClr val="0F62FE"/>
            </a:solidFill>
            <a:prstDash val="solid"/>
          </a:ln>
        </p:spPr>
      </p:sp>
      <p:sp>
        <p:nvSpPr>
          <p:cNvPr id="66" name="msg-square"/>
          <p:cNvSpPr/>
          <p:nvPr/>
        </p:nvSpPr>
        <p:spPr>
          <a:xfrm>
            <a:off x="7182612" y="2738628"/>
            <a:ext cx="155448" cy="155448"/>
          </a:xfrm>
          <a:prstGeom prst="rect">
            <a:avLst/>
          </a:prstGeom>
          <a:solidFill>
            <a:srgbClr val="0F62FE"/>
          </a:solidFill>
          <a:ln w="9525">
            <a:solidFill>
              <a:srgbClr val="0F62FE"/>
            </a:solidFill>
            <a:prstDash val="solid"/>
          </a:ln>
        </p:spPr>
      </p:sp>
      <p:sp>
        <p:nvSpPr>
          <p:cNvPr id="67" name="msg-square"/>
          <p:cNvSpPr/>
          <p:nvPr/>
        </p:nvSpPr>
        <p:spPr>
          <a:xfrm>
            <a:off x="7406640" y="2738628"/>
            <a:ext cx="155448" cy="155448"/>
          </a:xfrm>
          <a:prstGeom prst="rect">
            <a:avLst/>
          </a:prstGeom>
          <a:solidFill>
            <a:srgbClr val="0F62FE"/>
          </a:solidFill>
          <a:ln w="9525">
            <a:solidFill>
              <a:srgbClr val="0F62FE"/>
            </a:solidFill>
            <a:prstDash val="solid"/>
          </a:ln>
        </p:spPr>
      </p:sp>
      <p:sp>
        <p:nvSpPr>
          <p:cNvPr id="68" name="msg-square"/>
          <p:cNvSpPr/>
          <p:nvPr/>
        </p:nvSpPr>
        <p:spPr>
          <a:xfrm>
            <a:off x="7630668" y="2738628"/>
            <a:ext cx="155448" cy="155448"/>
          </a:xfrm>
          <a:prstGeom prst="rect">
            <a:avLst/>
          </a:prstGeom>
          <a:solidFill>
            <a:srgbClr val="0F62FE"/>
          </a:solidFill>
          <a:ln w="9525">
            <a:solidFill>
              <a:srgbClr val="0F62FE"/>
            </a:solidFill>
            <a:prstDash val="solid"/>
          </a:ln>
        </p:spPr>
      </p:sp>
      <p:sp>
        <p:nvSpPr>
          <p:cNvPr id="69" name="msg-square"/>
          <p:cNvSpPr/>
          <p:nvPr/>
        </p:nvSpPr>
        <p:spPr>
          <a:xfrm>
            <a:off x="7854696" y="2738628"/>
            <a:ext cx="155448" cy="155448"/>
          </a:xfrm>
          <a:prstGeom prst="rect">
            <a:avLst/>
          </a:prstGeom>
          <a:solidFill>
            <a:srgbClr val="0F62FE"/>
          </a:solidFill>
          <a:ln w="9525">
            <a:solidFill>
              <a:srgbClr val="0F62FE"/>
            </a:solidFill>
            <a:prstDash val="solid"/>
          </a:ln>
        </p:spPr>
      </p:sp>
      <p:sp>
        <p:nvSpPr>
          <p:cNvPr id="70" name="msg-square"/>
          <p:cNvSpPr/>
          <p:nvPr/>
        </p:nvSpPr>
        <p:spPr>
          <a:xfrm>
            <a:off x="8078724" y="2738628"/>
            <a:ext cx="155448" cy="155448"/>
          </a:xfrm>
          <a:prstGeom prst="rect">
            <a:avLst/>
          </a:prstGeom>
          <a:solidFill>
            <a:srgbClr val="0F62FE"/>
          </a:solidFill>
          <a:ln w="9525">
            <a:solidFill>
              <a:srgbClr val="0F62FE"/>
            </a:solidFill>
            <a:prstDash val="solid"/>
          </a:ln>
        </p:spPr>
      </p:sp>
      <p:sp>
        <p:nvSpPr>
          <p:cNvPr id="71" name="msg-square"/>
          <p:cNvSpPr/>
          <p:nvPr/>
        </p:nvSpPr>
        <p:spPr>
          <a:xfrm>
            <a:off x="8302752" y="2738628"/>
            <a:ext cx="155448" cy="155448"/>
          </a:xfrm>
          <a:prstGeom prst="rect">
            <a:avLst/>
          </a:prstGeom>
          <a:solidFill>
            <a:srgbClr val="0F62FE"/>
          </a:solidFill>
          <a:ln w="9525">
            <a:solidFill>
              <a:srgbClr val="0F62FE"/>
            </a:solidFill>
            <a:prstDash val="solid"/>
          </a:ln>
        </p:spPr>
      </p:sp>
      <p:sp>
        <p:nvSpPr>
          <p:cNvPr id="72" name="msg-square"/>
          <p:cNvSpPr/>
          <p:nvPr/>
        </p:nvSpPr>
        <p:spPr>
          <a:xfrm>
            <a:off x="8526780" y="2738628"/>
            <a:ext cx="155448" cy="155448"/>
          </a:xfrm>
          <a:prstGeom prst="rect">
            <a:avLst/>
          </a:prstGeom>
          <a:solidFill>
            <a:srgbClr val="0F62FE"/>
          </a:solidFill>
          <a:ln w="9525">
            <a:solidFill>
              <a:srgbClr val="0F62FE"/>
            </a:solidFill>
            <a:prstDash val="solid"/>
          </a:ln>
        </p:spPr>
      </p:sp>
      <p:sp>
        <p:nvSpPr>
          <p:cNvPr id="73" name="msg-square"/>
          <p:cNvSpPr/>
          <p:nvPr/>
        </p:nvSpPr>
        <p:spPr>
          <a:xfrm>
            <a:off x="8750808" y="2738628"/>
            <a:ext cx="155448" cy="155448"/>
          </a:xfrm>
          <a:prstGeom prst="rect">
            <a:avLst/>
          </a:prstGeom>
          <a:solidFill>
            <a:srgbClr val="0F62FE"/>
          </a:solidFill>
          <a:ln w="9525">
            <a:solidFill>
              <a:srgbClr val="0F62FE"/>
            </a:solidFill>
            <a:prstDash val="solid"/>
          </a:ln>
        </p:spPr>
      </p:sp>
      <p:sp>
        <p:nvSpPr>
          <p:cNvPr id="74" name="msg-square"/>
          <p:cNvSpPr/>
          <p:nvPr/>
        </p:nvSpPr>
        <p:spPr>
          <a:xfrm>
            <a:off x="8974836" y="2738628"/>
            <a:ext cx="155448" cy="155448"/>
          </a:xfrm>
          <a:prstGeom prst="rect">
            <a:avLst/>
          </a:prstGeom>
          <a:solidFill>
            <a:srgbClr val="0F62FE"/>
          </a:solidFill>
          <a:ln w="9525">
            <a:solidFill>
              <a:srgbClr val="0F62FE"/>
            </a:solidFill>
            <a:prstDash val="solid"/>
          </a:ln>
        </p:spPr>
      </p:sp>
      <p:sp>
        <p:nvSpPr>
          <p:cNvPr id="75" name="msg-square"/>
          <p:cNvSpPr/>
          <p:nvPr/>
        </p:nvSpPr>
        <p:spPr>
          <a:xfrm>
            <a:off x="9198864" y="2738628"/>
            <a:ext cx="155448" cy="155448"/>
          </a:xfrm>
          <a:prstGeom prst="rect">
            <a:avLst/>
          </a:prstGeom>
          <a:solidFill>
            <a:srgbClr val="0F62FE"/>
          </a:solidFill>
          <a:ln w="9525">
            <a:solidFill>
              <a:srgbClr val="0F62FE"/>
            </a:solidFill>
            <a:prstDash val="solid"/>
          </a:ln>
        </p:spPr>
      </p:sp>
      <p:sp>
        <p:nvSpPr>
          <p:cNvPr id="76" name="msg-square"/>
          <p:cNvSpPr/>
          <p:nvPr/>
        </p:nvSpPr>
        <p:spPr>
          <a:xfrm>
            <a:off x="9422892" y="2738628"/>
            <a:ext cx="155448" cy="155448"/>
          </a:xfrm>
          <a:prstGeom prst="rect">
            <a:avLst/>
          </a:prstGeom>
          <a:solidFill>
            <a:srgbClr val="0F62FE"/>
          </a:solidFill>
          <a:ln w="9525">
            <a:solidFill>
              <a:srgbClr val="0F62FE"/>
            </a:solidFill>
            <a:prstDash val="solid"/>
          </a:ln>
        </p:spPr>
      </p:sp>
      <p:sp>
        <p:nvSpPr>
          <p:cNvPr id="77" name="msg-square"/>
          <p:cNvSpPr/>
          <p:nvPr/>
        </p:nvSpPr>
        <p:spPr>
          <a:xfrm>
            <a:off x="9646920" y="2738628"/>
            <a:ext cx="155448" cy="155448"/>
          </a:xfrm>
          <a:prstGeom prst="rect">
            <a:avLst/>
          </a:prstGeom>
          <a:solidFill>
            <a:srgbClr val="0F62FE"/>
          </a:solidFill>
          <a:ln w="9525">
            <a:solidFill>
              <a:srgbClr val="0F62FE"/>
            </a:solidFill>
            <a:prstDash val="solid"/>
          </a:ln>
        </p:spPr>
      </p:sp>
      <p:sp>
        <p:nvSpPr>
          <p:cNvPr id="78" name="msg-square"/>
          <p:cNvSpPr/>
          <p:nvPr/>
        </p:nvSpPr>
        <p:spPr>
          <a:xfrm>
            <a:off x="9870948" y="2738628"/>
            <a:ext cx="155448" cy="155448"/>
          </a:xfrm>
          <a:prstGeom prst="rect">
            <a:avLst/>
          </a:prstGeom>
          <a:solidFill>
            <a:srgbClr val="0F62FE"/>
          </a:solidFill>
          <a:ln w="9525">
            <a:solidFill>
              <a:srgbClr val="0F62FE"/>
            </a:solidFill>
            <a:prstDash val="solid"/>
          </a:ln>
        </p:spPr>
      </p:sp>
      <p:sp>
        <p:nvSpPr>
          <p:cNvPr id="79" name="msg-square"/>
          <p:cNvSpPr/>
          <p:nvPr/>
        </p:nvSpPr>
        <p:spPr>
          <a:xfrm>
            <a:off x="10094976" y="2738628"/>
            <a:ext cx="155448" cy="155448"/>
          </a:xfrm>
          <a:prstGeom prst="rect">
            <a:avLst/>
          </a:prstGeom>
          <a:solidFill>
            <a:srgbClr val="0F62FE"/>
          </a:solidFill>
          <a:ln w="9525">
            <a:solidFill>
              <a:srgbClr val="0F62FE"/>
            </a:solidFill>
            <a:prstDash val="solid"/>
          </a:ln>
        </p:spPr>
      </p:sp>
      <p:sp>
        <p:nvSpPr>
          <p:cNvPr id="80" name="msg-square"/>
          <p:cNvSpPr/>
          <p:nvPr/>
        </p:nvSpPr>
        <p:spPr>
          <a:xfrm>
            <a:off x="10319004" y="2738628"/>
            <a:ext cx="155448" cy="155448"/>
          </a:xfrm>
          <a:prstGeom prst="rect">
            <a:avLst/>
          </a:prstGeom>
          <a:solidFill>
            <a:srgbClr val="0F62FE"/>
          </a:solidFill>
          <a:ln w="9525">
            <a:solidFill>
              <a:srgbClr val="0F62FE"/>
            </a:solidFill>
            <a:prstDash val="solid"/>
          </a:ln>
        </p:spPr>
      </p:sp>
      <p:sp>
        <p:nvSpPr>
          <p:cNvPr id="81" name="msg-square"/>
          <p:cNvSpPr/>
          <p:nvPr/>
        </p:nvSpPr>
        <p:spPr>
          <a:xfrm>
            <a:off x="10543032" y="2738628"/>
            <a:ext cx="155448" cy="155448"/>
          </a:xfrm>
          <a:prstGeom prst="rect">
            <a:avLst/>
          </a:prstGeom>
          <a:solidFill>
            <a:srgbClr val="0F62FE"/>
          </a:solidFill>
          <a:ln w="9525">
            <a:solidFill>
              <a:srgbClr val="0F62FE"/>
            </a:solidFill>
            <a:prstDash val="solid"/>
          </a:ln>
        </p:spPr>
      </p:sp>
      <p:sp>
        <p:nvSpPr>
          <p:cNvPr id="82" name="msg-square"/>
          <p:cNvSpPr/>
          <p:nvPr/>
        </p:nvSpPr>
        <p:spPr>
          <a:xfrm>
            <a:off x="10767060" y="2738628"/>
            <a:ext cx="155448" cy="155448"/>
          </a:xfrm>
          <a:prstGeom prst="rect">
            <a:avLst/>
          </a:prstGeom>
          <a:solidFill>
            <a:srgbClr val="0F62FE"/>
          </a:solidFill>
          <a:ln w="9525">
            <a:solidFill>
              <a:srgbClr val="0F62FE"/>
            </a:solidFill>
            <a:prstDash val="solid"/>
          </a:ln>
        </p:spPr>
      </p:sp>
      <p:sp>
        <p:nvSpPr>
          <p:cNvPr id="83" name="msg-square"/>
          <p:cNvSpPr/>
          <p:nvPr/>
        </p:nvSpPr>
        <p:spPr>
          <a:xfrm>
            <a:off x="10991088" y="2738628"/>
            <a:ext cx="155448" cy="155448"/>
          </a:xfrm>
          <a:prstGeom prst="rect">
            <a:avLst/>
          </a:prstGeom>
          <a:solidFill>
            <a:srgbClr val="0F62FE"/>
          </a:solidFill>
          <a:ln w="9525">
            <a:solidFill>
              <a:srgbClr val="0F62FE"/>
            </a:solidFill>
            <a:prstDash val="solid"/>
          </a:ln>
        </p:spPr>
      </p:sp>
      <p:sp>
        <p:nvSpPr>
          <p:cNvPr id="84" name="msg-square"/>
          <p:cNvSpPr/>
          <p:nvPr/>
        </p:nvSpPr>
        <p:spPr>
          <a:xfrm>
            <a:off x="11215116" y="2738628"/>
            <a:ext cx="155448" cy="155448"/>
          </a:xfrm>
          <a:prstGeom prst="rect">
            <a:avLst/>
          </a:prstGeom>
          <a:solidFill>
            <a:srgbClr val="0F62FE"/>
          </a:solidFill>
          <a:ln w="9525">
            <a:solidFill>
              <a:srgbClr val="0F62FE"/>
            </a:solidFill>
            <a:prstDash val="solid"/>
          </a:ln>
        </p:spPr>
      </p:sp>
      <p:sp>
        <p:nvSpPr>
          <p:cNvPr id="85" name="msg-square"/>
          <p:cNvSpPr/>
          <p:nvPr/>
        </p:nvSpPr>
        <p:spPr>
          <a:xfrm>
            <a:off x="11439144" y="2738628"/>
            <a:ext cx="155448" cy="155448"/>
          </a:xfrm>
          <a:prstGeom prst="rect">
            <a:avLst/>
          </a:prstGeom>
          <a:solidFill>
            <a:srgbClr val="0F62FE"/>
          </a:solidFill>
          <a:ln w="9525">
            <a:solidFill>
              <a:srgbClr val="0F62FE"/>
            </a:solidFill>
            <a:prstDash val="solid"/>
          </a:ln>
        </p:spPr>
      </p:sp>
      <p:sp>
        <p:nvSpPr>
          <p:cNvPr id="86" name="msg-square"/>
          <p:cNvSpPr/>
          <p:nvPr/>
        </p:nvSpPr>
        <p:spPr>
          <a:xfrm>
            <a:off x="7182612" y="2962656"/>
            <a:ext cx="155448" cy="155448"/>
          </a:xfrm>
          <a:prstGeom prst="rect">
            <a:avLst/>
          </a:prstGeom>
          <a:solidFill>
            <a:srgbClr val="0F62FE"/>
          </a:solidFill>
          <a:ln w="9525">
            <a:solidFill>
              <a:srgbClr val="0F62FE"/>
            </a:solidFill>
            <a:prstDash val="solid"/>
          </a:ln>
        </p:spPr>
      </p:sp>
      <p:sp>
        <p:nvSpPr>
          <p:cNvPr id="87" name="msg-square"/>
          <p:cNvSpPr/>
          <p:nvPr/>
        </p:nvSpPr>
        <p:spPr>
          <a:xfrm>
            <a:off x="7406640" y="2962656"/>
            <a:ext cx="155448" cy="155448"/>
          </a:xfrm>
          <a:prstGeom prst="rect">
            <a:avLst/>
          </a:prstGeom>
          <a:solidFill>
            <a:srgbClr val="0F62FE"/>
          </a:solidFill>
          <a:ln w="9525">
            <a:solidFill>
              <a:srgbClr val="0F62FE"/>
            </a:solidFill>
            <a:prstDash val="solid"/>
          </a:ln>
        </p:spPr>
      </p:sp>
      <p:sp>
        <p:nvSpPr>
          <p:cNvPr id="88" name="msg-square"/>
          <p:cNvSpPr/>
          <p:nvPr/>
        </p:nvSpPr>
        <p:spPr>
          <a:xfrm>
            <a:off x="7630668" y="2962656"/>
            <a:ext cx="155448" cy="155448"/>
          </a:xfrm>
          <a:prstGeom prst="rect">
            <a:avLst/>
          </a:prstGeom>
          <a:solidFill>
            <a:srgbClr val="0F62FE"/>
          </a:solidFill>
          <a:ln w="9525">
            <a:solidFill>
              <a:srgbClr val="0F62FE"/>
            </a:solidFill>
            <a:prstDash val="solid"/>
          </a:ln>
        </p:spPr>
      </p:sp>
      <p:sp>
        <p:nvSpPr>
          <p:cNvPr id="89" name="msg-square"/>
          <p:cNvSpPr/>
          <p:nvPr/>
        </p:nvSpPr>
        <p:spPr>
          <a:xfrm>
            <a:off x="7854696" y="2962656"/>
            <a:ext cx="155448" cy="155448"/>
          </a:xfrm>
          <a:prstGeom prst="rect">
            <a:avLst/>
          </a:prstGeom>
          <a:solidFill>
            <a:srgbClr val="0F62FE"/>
          </a:solidFill>
          <a:ln w="9525">
            <a:solidFill>
              <a:srgbClr val="0F62FE"/>
            </a:solidFill>
            <a:prstDash val="solid"/>
          </a:ln>
        </p:spPr>
      </p:sp>
      <p:sp>
        <p:nvSpPr>
          <p:cNvPr id="90" name="msg-square"/>
          <p:cNvSpPr/>
          <p:nvPr/>
        </p:nvSpPr>
        <p:spPr>
          <a:xfrm>
            <a:off x="8078724" y="2962656"/>
            <a:ext cx="155448" cy="155448"/>
          </a:xfrm>
          <a:prstGeom prst="rect">
            <a:avLst/>
          </a:prstGeom>
          <a:solidFill>
            <a:srgbClr val="0F62FE"/>
          </a:solidFill>
          <a:ln w="9525">
            <a:solidFill>
              <a:srgbClr val="0F62FE"/>
            </a:solidFill>
            <a:prstDash val="solid"/>
          </a:ln>
        </p:spPr>
      </p:sp>
      <p:sp>
        <p:nvSpPr>
          <p:cNvPr id="91" name="msg-square"/>
          <p:cNvSpPr/>
          <p:nvPr/>
        </p:nvSpPr>
        <p:spPr>
          <a:xfrm>
            <a:off x="8302752" y="2962656"/>
            <a:ext cx="155448" cy="155448"/>
          </a:xfrm>
          <a:prstGeom prst="rect">
            <a:avLst/>
          </a:prstGeom>
          <a:solidFill>
            <a:srgbClr val="161616"/>
          </a:solidFill>
          <a:ln w="9525">
            <a:solidFill>
              <a:srgbClr val="393939"/>
            </a:solidFill>
            <a:prstDash val="solid"/>
          </a:ln>
        </p:spPr>
      </p:sp>
      <p:sp>
        <p:nvSpPr>
          <p:cNvPr id="92" name="msg-square"/>
          <p:cNvSpPr/>
          <p:nvPr/>
        </p:nvSpPr>
        <p:spPr>
          <a:xfrm>
            <a:off x="8526780" y="2962656"/>
            <a:ext cx="155448" cy="155448"/>
          </a:xfrm>
          <a:prstGeom prst="rect">
            <a:avLst/>
          </a:prstGeom>
          <a:solidFill>
            <a:srgbClr val="161616"/>
          </a:solidFill>
          <a:ln w="9525">
            <a:solidFill>
              <a:srgbClr val="393939"/>
            </a:solidFill>
            <a:prstDash val="solid"/>
          </a:ln>
        </p:spPr>
      </p:sp>
      <p:sp>
        <p:nvSpPr>
          <p:cNvPr id="93" name="msg-square"/>
          <p:cNvSpPr/>
          <p:nvPr/>
        </p:nvSpPr>
        <p:spPr>
          <a:xfrm>
            <a:off x="8750808" y="2962656"/>
            <a:ext cx="155448" cy="155448"/>
          </a:xfrm>
          <a:prstGeom prst="rect">
            <a:avLst/>
          </a:prstGeom>
          <a:solidFill>
            <a:srgbClr val="161616"/>
          </a:solidFill>
          <a:ln w="9525">
            <a:solidFill>
              <a:srgbClr val="393939"/>
            </a:solidFill>
            <a:prstDash val="solid"/>
          </a:ln>
        </p:spPr>
      </p:sp>
      <p:sp>
        <p:nvSpPr>
          <p:cNvPr id="94" name="msg-square"/>
          <p:cNvSpPr/>
          <p:nvPr/>
        </p:nvSpPr>
        <p:spPr>
          <a:xfrm>
            <a:off x="8974836" y="2962656"/>
            <a:ext cx="155448" cy="155448"/>
          </a:xfrm>
          <a:prstGeom prst="rect">
            <a:avLst/>
          </a:prstGeom>
          <a:solidFill>
            <a:srgbClr val="161616"/>
          </a:solidFill>
          <a:ln w="9525">
            <a:solidFill>
              <a:srgbClr val="393939"/>
            </a:solidFill>
            <a:prstDash val="solid"/>
          </a:ln>
        </p:spPr>
      </p:sp>
      <p:sp>
        <p:nvSpPr>
          <p:cNvPr id="95" name="msg-square"/>
          <p:cNvSpPr/>
          <p:nvPr/>
        </p:nvSpPr>
        <p:spPr>
          <a:xfrm>
            <a:off x="9198864" y="2962656"/>
            <a:ext cx="155448" cy="155448"/>
          </a:xfrm>
          <a:prstGeom prst="rect">
            <a:avLst/>
          </a:prstGeom>
          <a:solidFill>
            <a:srgbClr val="161616"/>
          </a:solidFill>
          <a:ln w="9525">
            <a:solidFill>
              <a:srgbClr val="393939"/>
            </a:solidFill>
            <a:prstDash val="solid"/>
          </a:ln>
        </p:spPr>
      </p:sp>
      <p:sp>
        <p:nvSpPr>
          <p:cNvPr id="96" name="msg-square"/>
          <p:cNvSpPr/>
          <p:nvPr/>
        </p:nvSpPr>
        <p:spPr>
          <a:xfrm>
            <a:off x="9422892" y="2962656"/>
            <a:ext cx="155448" cy="155448"/>
          </a:xfrm>
          <a:prstGeom prst="rect">
            <a:avLst/>
          </a:prstGeom>
          <a:solidFill>
            <a:srgbClr val="161616"/>
          </a:solidFill>
          <a:ln w="9525">
            <a:solidFill>
              <a:srgbClr val="393939"/>
            </a:solidFill>
            <a:prstDash val="solid"/>
          </a:ln>
        </p:spPr>
      </p:sp>
      <p:sp>
        <p:nvSpPr>
          <p:cNvPr id="97" name="msg-square"/>
          <p:cNvSpPr/>
          <p:nvPr/>
        </p:nvSpPr>
        <p:spPr>
          <a:xfrm>
            <a:off x="9646920" y="2962656"/>
            <a:ext cx="155448" cy="155448"/>
          </a:xfrm>
          <a:prstGeom prst="rect">
            <a:avLst/>
          </a:prstGeom>
          <a:solidFill>
            <a:srgbClr val="161616"/>
          </a:solidFill>
          <a:ln w="9525">
            <a:solidFill>
              <a:srgbClr val="393939"/>
            </a:solidFill>
            <a:prstDash val="solid"/>
          </a:ln>
        </p:spPr>
      </p:sp>
      <p:sp>
        <p:nvSpPr>
          <p:cNvPr id="98" name="msg-square"/>
          <p:cNvSpPr/>
          <p:nvPr/>
        </p:nvSpPr>
        <p:spPr>
          <a:xfrm>
            <a:off x="9870948" y="2962656"/>
            <a:ext cx="155448" cy="155448"/>
          </a:xfrm>
          <a:prstGeom prst="rect">
            <a:avLst/>
          </a:prstGeom>
          <a:solidFill>
            <a:srgbClr val="161616"/>
          </a:solidFill>
          <a:ln w="9525">
            <a:solidFill>
              <a:srgbClr val="393939"/>
            </a:solidFill>
            <a:prstDash val="solid"/>
          </a:ln>
        </p:spPr>
      </p:sp>
      <p:sp>
        <p:nvSpPr>
          <p:cNvPr id="99" name="msg-square"/>
          <p:cNvSpPr/>
          <p:nvPr/>
        </p:nvSpPr>
        <p:spPr>
          <a:xfrm>
            <a:off x="10094976" y="2962656"/>
            <a:ext cx="155448" cy="155448"/>
          </a:xfrm>
          <a:prstGeom prst="rect">
            <a:avLst/>
          </a:prstGeom>
          <a:solidFill>
            <a:srgbClr val="161616"/>
          </a:solidFill>
          <a:ln w="9525">
            <a:solidFill>
              <a:srgbClr val="393939"/>
            </a:solidFill>
            <a:prstDash val="solid"/>
          </a:ln>
        </p:spPr>
      </p:sp>
      <p:sp>
        <p:nvSpPr>
          <p:cNvPr id="100" name="msg-square"/>
          <p:cNvSpPr/>
          <p:nvPr/>
        </p:nvSpPr>
        <p:spPr>
          <a:xfrm>
            <a:off x="10319004" y="2962656"/>
            <a:ext cx="155448" cy="155448"/>
          </a:xfrm>
          <a:prstGeom prst="rect">
            <a:avLst/>
          </a:prstGeom>
          <a:solidFill>
            <a:srgbClr val="161616"/>
          </a:solidFill>
          <a:ln w="9525">
            <a:solidFill>
              <a:srgbClr val="393939"/>
            </a:solidFill>
            <a:prstDash val="solid"/>
          </a:ln>
        </p:spPr>
      </p:sp>
      <p:sp>
        <p:nvSpPr>
          <p:cNvPr id="101" name="msg-square"/>
          <p:cNvSpPr/>
          <p:nvPr/>
        </p:nvSpPr>
        <p:spPr>
          <a:xfrm>
            <a:off x="10543032" y="2962656"/>
            <a:ext cx="155448" cy="155448"/>
          </a:xfrm>
          <a:prstGeom prst="rect">
            <a:avLst/>
          </a:prstGeom>
          <a:solidFill>
            <a:srgbClr val="161616"/>
          </a:solidFill>
          <a:ln w="9525">
            <a:solidFill>
              <a:srgbClr val="393939"/>
            </a:solidFill>
            <a:prstDash val="solid"/>
          </a:ln>
        </p:spPr>
      </p:sp>
      <p:sp>
        <p:nvSpPr>
          <p:cNvPr id="102" name="msg-square"/>
          <p:cNvSpPr/>
          <p:nvPr/>
        </p:nvSpPr>
        <p:spPr>
          <a:xfrm>
            <a:off x="10767060" y="2962656"/>
            <a:ext cx="155448" cy="155448"/>
          </a:xfrm>
          <a:prstGeom prst="rect">
            <a:avLst/>
          </a:prstGeom>
          <a:solidFill>
            <a:srgbClr val="161616"/>
          </a:solidFill>
          <a:ln w="9525">
            <a:solidFill>
              <a:srgbClr val="393939"/>
            </a:solidFill>
            <a:prstDash val="solid"/>
          </a:ln>
        </p:spPr>
      </p:sp>
      <p:sp>
        <p:nvSpPr>
          <p:cNvPr id="103" name="msg-square"/>
          <p:cNvSpPr/>
          <p:nvPr/>
        </p:nvSpPr>
        <p:spPr>
          <a:xfrm>
            <a:off x="10991088" y="2962656"/>
            <a:ext cx="155448" cy="155448"/>
          </a:xfrm>
          <a:prstGeom prst="rect">
            <a:avLst/>
          </a:prstGeom>
          <a:solidFill>
            <a:srgbClr val="161616"/>
          </a:solidFill>
          <a:ln w="9525">
            <a:solidFill>
              <a:srgbClr val="393939"/>
            </a:solidFill>
            <a:prstDash val="solid"/>
          </a:ln>
        </p:spPr>
      </p:sp>
      <p:sp>
        <p:nvSpPr>
          <p:cNvPr id="104" name="msg-square"/>
          <p:cNvSpPr/>
          <p:nvPr/>
        </p:nvSpPr>
        <p:spPr>
          <a:xfrm>
            <a:off x="11215116" y="2962656"/>
            <a:ext cx="155448" cy="155448"/>
          </a:xfrm>
          <a:prstGeom prst="rect">
            <a:avLst/>
          </a:prstGeom>
          <a:solidFill>
            <a:srgbClr val="161616"/>
          </a:solidFill>
          <a:ln w="9525">
            <a:solidFill>
              <a:srgbClr val="393939"/>
            </a:solidFill>
            <a:prstDash val="solid"/>
          </a:ln>
        </p:spPr>
      </p:sp>
      <p:sp>
        <p:nvSpPr>
          <p:cNvPr id="105" name="msg-square"/>
          <p:cNvSpPr/>
          <p:nvPr/>
        </p:nvSpPr>
        <p:spPr>
          <a:xfrm>
            <a:off x="11439144" y="2962656"/>
            <a:ext cx="155448" cy="155448"/>
          </a:xfrm>
          <a:prstGeom prst="rect">
            <a:avLst/>
          </a:prstGeom>
          <a:solidFill>
            <a:srgbClr val="161616"/>
          </a:solidFill>
          <a:ln w="9525">
            <a:solidFill>
              <a:srgbClr val="393939"/>
            </a:solidFill>
            <a:prstDash val="solid"/>
          </a:ln>
        </p:spPr>
      </p:sp>
      <p:sp>
        <p:nvSpPr>
          <p:cNvPr id="106" name="Text 104"/>
          <p:cNvSpPr txBox="1"/>
          <p:nvPr/>
        </p:nvSpPr>
        <p:spPr>
          <a:xfrm>
            <a:off x="7182612" y="3296412"/>
            <a:ext cx="4411980" cy="274320"/>
          </a:xfrm>
          <a:prstGeom prst="rect">
            <a:avLst/>
          </a:prstGeom>
          <a:noFill/>
          <a:ln/>
        </p:spPr>
        <p:txBody>
          <a:bodyPr wrap="square" lIns="0" tIns="0" rIns="0" bIns="0" rtlCol="0" anchor="ctr"/>
          <a:lstStyle/>
          <a:p>
            <a:pPr marL="0" indent="0" algn="r">
              <a:buNone/>
            </a:pPr>
            <a:r>
              <a:rPr lang="en-US" sz="1100" dirty="0">
                <a:solidFill>
                  <a:srgbClr val="8D8D8D"/>
                </a:solidFill>
                <a:latin typeface="Courier New" pitchFamily="34" charset="0"/>
                <a:ea typeface="Courier New" pitchFamily="34" charset="-122"/>
                <a:cs typeface="Courier New" pitchFamily="34" charset="-120"/>
              </a:rPr>
              <a:t>850 messages waiting  ·  0 applications reading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Overview">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FFFFFF"/>
                </a:solidFill>
              </a:rPr>
              <a:t>Overview: What we are building</a:t>
            </a:r>
            <a:endParaRPr lang="en-US" sz="3200" dirty="0"/>
          </a:p>
        </p:txBody>
      </p:sp>
      <p:sp>
        <p:nvSpPr>
          <p:cNvPr id="3" name="thesis"/>
          <p:cNvSpPr txBox="1"/>
          <p:nvPr/>
        </p:nvSpPr>
        <p:spPr>
          <a:xfrm>
            <a:off x="566928" y="1152144"/>
            <a:ext cx="10058400" cy="566928"/>
          </a:xfrm>
          <a:prstGeom prst="rect">
            <a:avLst/>
          </a:prstGeom>
          <a:noFill/>
          <a:ln/>
        </p:spPr>
        <p:txBody>
          <a:bodyPr wrap="square" lIns="0" tIns="0" rIns="0" bIns="0" rtlCol="0" anchor="t"/>
          <a:lstStyle/>
          <a:p>
            <a:pPr marL="0" indent="0" algn="l">
              <a:lnSpc>
                <a:spcPts val="2100"/>
              </a:lnSpc>
              <a:buNone/>
            </a:pPr>
            <a:r>
              <a:rPr lang="en-US" sz="1600" b="1" kern="0" dirty="0">
                <a:solidFill>
                  <a:srgbClr val="C6C6C6"/>
                </a:solidFill>
              </a:rPr>
              <a:t>An automated pipeline that records status, notices problems, writes the ticket, enhances the ticket for the MQ AI Agent and asks the agent what is wrong.</a:t>
            </a:r>
          </a:p>
        </p:txBody>
      </p:sp>
      <p:sp>
        <p:nvSpPr>
          <p:cNvPr id="4" name="step"/>
          <p:cNvSpPr/>
          <p:nvPr/>
        </p:nvSpPr>
        <p:spPr>
          <a:xfrm>
            <a:off x="566928" y="1847088"/>
            <a:ext cx="2560320" cy="2340864"/>
          </a:xfrm>
          <a:prstGeom prst="rect">
            <a:avLst/>
          </a:prstGeom>
          <a:solidFill>
            <a:srgbClr val="262626"/>
          </a:solidFill>
          <a:ln w="12700">
            <a:solidFill>
              <a:srgbClr val="393939"/>
            </a:solidFill>
            <a:prstDash val="solid"/>
          </a:ln>
        </p:spPr>
      </p:sp>
      <p:sp>
        <p:nvSpPr>
          <p:cNvPr id="5" name="accent"/>
          <p:cNvSpPr/>
          <p:nvPr/>
        </p:nvSpPr>
        <p:spPr>
          <a:xfrm>
            <a:off x="566928" y="1847088"/>
            <a:ext cx="54864" cy="2340864"/>
          </a:xfrm>
          <a:prstGeom prst="rect">
            <a:avLst/>
          </a:prstGeom>
          <a:solidFill>
            <a:srgbClr val="0F62FE"/>
          </a:solidFill>
          <a:ln w="12700">
            <a:solidFill>
              <a:srgbClr val="0F62FE"/>
            </a:solidFill>
            <a:prstDash val="solid"/>
          </a:ln>
        </p:spPr>
      </p:sp>
      <p:sp>
        <p:nvSpPr>
          <p:cNvPr id="6" name="verb"/>
          <p:cNvSpPr txBox="1"/>
          <p:nvPr/>
        </p:nvSpPr>
        <p:spPr>
          <a:xfrm>
            <a:off x="877824" y="2121408"/>
            <a:ext cx="1975104" cy="384048"/>
          </a:xfrm>
          <a:prstGeom prst="rect">
            <a:avLst/>
          </a:prstGeom>
          <a:noFill/>
          <a:ln/>
        </p:spPr>
        <p:txBody>
          <a:bodyPr wrap="square" lIns="0" tIns="0" rIns="0" bIns="0" rtlCol="0" anchor="t"/>
          <a:lstStyle/>
          <a:p>
            <a:pPr marL="0" indent="0" algn="l">
              <a:buNone/>
            </a:pPr>
            <a:r>
              <a:rPr lang="en-US" sz="1700" b="1" kern="0" spc="60" dirty="0">
                <a:solidFill>
                  <a:srgbClr val="FFFFFF"/>
                </a:solidFill>
              </a:rPr>
              <a:t>DETECT</a:t>
            </a:r>
          </a:p>
        </p:txBody>
      </p:sp>
      <p:sp>
        <p:nvSpPr>
          <p:cNvPr id="7" name="body"/>
          <p:cNvSpPr txBox="1"/>
          <p:nvPr/>
        </p:nvSpPr>
        <p:spPr>
          <a:xfrm>
            <a:off x="877824" y="2633472"/>
            <a:ext cx="1975104" cy="914400"/>
          </a:xfrm>
          <a:prstGeom prst="rect">
            <a:avLst/>
          </a:prstGeom>
          <a:noFill/>
          <a:ln/>
        </p:spPr>
        <p:txBody>
          <a:bodyPr wrap="square" lIns="0" tIns="0" rIns="0" bIns="0" rtlCol="0" anchor="t"/>
          <a:lstStyle/>
          <a:p>
            <a:pPr marL="0" indent="0" algn="l">
              <a:lnSpc>
                <a:spcPts val="1600"/>
              </a:lnSpc>
              <a:buNone/>
            </a:pPr>
            <a:r>
              <a:rPr lang="en-US" sz="1200" kern="0" dirty="0">
                <a:solidFill>
                  <a:srgbClr val="C6C6C6"/>
                </a:solidFill>
              </a:rPr>
              <a:t>Sweep every queue. Depth with nothing reading it is the state that always needs a person.</a:t>
            </a:r>
          </a:p>
        </p:txBody>
      </p:sp>
      <p:sp>
        <p:nvSpPr>
          <p:cNvPr id="8" name="mono-block"/>
          <p:cNvSpPr/>
          <p:nvPr/>
        </p:nvSpPr>
        <p:spPr>
          <a:xfrm>
            <a:off x="877824" y="3621024"/>
            <a:ext cx="1975104" cy="457200"/>
          </a:xfrm>
          <a:prstGeom prst="rect">
            <a:avLst/>
          </a:prstGeom>
          <a:solidFill>
            <a:srgbClr val="1C1C1C"/>
          </a:solidFill>
          <a:ln w="12700">
            <a:solidFill>
              <a:srgbClr val="1C1C1C"/>
            </a:solidFill>
            <a:prstDash val="solid"/>
          </a:ln>
        </p:spPr>
      </p:sp>
      <p:sp>
        <p:nvSpPr>
          <p:cNvPr id="9" name="mono"/>
          <p:cNvSpPr txBox="1"/>
          <p:nvPr/>
        </p:nvSpPr>
        <p:spPr>
          <a:xfrm>
            <a:off x="987552" y="3621024"/>
            <a:ext cx="1755648" cy="457200"/>
          </a:xfrm>
          <a:prstGeom prst="rect">
            <a:avLst/>
          </a:prstGeom>
          <a:noFill/>
          <a:ln/>
        </p:spPr>
        <p:txBody>
          <a:bodyPr wrap="square" lIns="0" tIns="0" rIns="0" bIns="0" rtlCol="0" anchor="ctr"/>
          <a:lstStyle/>
          <a:p>
            <a:pPr marL="0" indent="0" algn="l">
              <a:lnSpc>
                <a:spcPts val="1050"/>
              </a:lnSpc>
              <a:buNone/>
            </a:pPr>
            <a:r>
              <a:rPr lang="en-US" sz="850" kern="0" dirty="0">
                <a:solidFill>
                  <a:srgbClr val="A6C8FF"/>
                </a:solidFill>
                <a:latin typeface="Courier New" pitchFamily="34" charset="0"/>
                <a:ea typeface="Courier New" pitchFamily="34" charset="-122"/>
                <a:cs typeface="Courier New" pitchFamily="34" charset="-120"/>
              </a:rPr>
              <a:t>CURDEPTH &gt; 0</a:t>
            </a:r>
          </a:p>
          <a:p>
            <a:pPr marL="0" indent="0" algn="l">
              <a:lnSpc>
                <a:spcPts val="1050"/>
              </a:lnSpc>
              <a:buNone/>
            </a:pPr>
            <a:r>
              <a:rPr lang="en-US" sz="850" kern="0" dirty="0">
                <a:solidFill>
                  <a:srgbClr val="A6C8FF"/>
                </a:solidFill>
                <a:latin typeface="Courier New" pitchFamily="34" charset="0"/>
                <a:ea typeface="Courier New" pitchFamily="34" charset="-122"/>
                <a:cs typeface="Courier New" pitchFamily="34" charset="-120"/>
              </a:rPr>
              <a:t>IPPROCS = 0</a:t>
            </a:r>
          </a:p>
        </p:txBody>
      </p:sp>
      <p:sp>
        <p:nvSpPr>
          <p:cNvPr id="10" name="arrow"/>
          <p:cNvSpPr/>
          <p:nvPr/>
        </p:nvSpPr>
        <p:spPr>
          <a:xfrm>
            <a:off x="3182112" y="3017520"/>
            <a:ext cx="155448" cy="0"/>
          </a:xfrm>
          <a:prstGeom prst="line">
            <a:avLst/>
          </a:prstGeom>
          <a:noFill/>
          <a:ln w="22225">
            <a:solidFill>
              <a:srgbClr val="8D8D8D"/>
            </a:solidFill>
            <a:prstDash val="solid"/>
            <a:tailEnd type="triangle"/>
          </a:ln>
        </p:spPr>
      </p:sp>
      <p:sp>
        <p:nvSpPr>
          <p:cNvPr id="11" name="step"/>
          <p:cNvSpPr/>
          <p:nvPr/>
        </p:nvSpPr>
        <p:spPr>
          <a:xfrm>
            <a:off x="3392424" y="1847088"/>
            <a:ext cx="2560320" cy="2340864"/>
          </a:xfrm>
          <a:prstGeom prst="rect">
            <a:avLst/>
          </a:prstGeom>
          <a:solidFill>
            <a:srgbClr val="262626"/>
          </a:solidFill>
          <a:ln w="12700">
            <a:solidFill>
              <a:srgbClr val="393939"/>
            </a:solidFill>
            <a:prstDash val="solid"/>
          </a:ln>
        </p:spPr>
      </p:sp>
      <p:sp>
        <p:nvSpPr>
          <p:cNvPr id="12" name="accent"/>
          <p:cNvSpPr/>
          <p:nvPr/>
        </p:nvSpPr>
        <p:spPr>
          <a:xfrm>
            <a:off x="3392424" y="1847088"/>
            <a:ext cx="54864" cy="2340864"/>
          </a:xfrm>
          <a:prstGeom prst="rect">
            <a:avLst/>
          </a:prstGeom>
          <a:solidFill>
            <a:srgbClr val="0F62FE"/>
          </a:solidFill>
          <a:ln w="12700">
            <a:solidFill>
              <a:srgbClr val="0F62FE"/>
            </a:solidFill>
            <a:prstDash val="solid"/>
          </a:ln>
        </p:spPr>
      </p:sp>
      <p:sp>
        <p:nvSpPr>
          <p:cNvPr id="13" name="verb"/>
          <p:cNvSpPr txBox="1"/>
          <p:nvPr/>
        </p:nvSpPr>
        <p:spPr>
          <a:xfrm>
            <a:off x="3703320" y="2121408"/>
            <a:ext cx="1975104" cy="384048"/>
          </a:xfrm>
          <a:prstGeom prst="rect">
            <a:avLst/>
          </a:prstGeom>
          <a:noFill/>
          <a:ln/>
        </p:spPr>
        <p:txBody>
          <a:bodyPr wrap="square" lIns="0" tIns="0" rIns="0" bIns="0" rtlCol="0" anchor="t"/>
          <a:lstStyle/>
          <a:p>
            <a:pPr marL="0" indent="0" algn="l">
              <a:buNone/>
            </a:pPr>
            <a:r>
              <a:rPr lang="en-US" sz="1700" b="1" kern="0" spc="60" dirty="0">
                <a:solidFill>
                  <a:srgbClr val="FFFFFF"/>
                </a:solidFill>
              </a:rPr>
              <a:t>TICKET</a:t>
            </a:r>
          </a:p>
        </p:txBody>
      </p:sp>
      <p:sp>
        <p:nvSpPr>
          <p:cNvPr id="14" name="body"/>
          <p:cNvSpPr txBox="1"/>
          <p:nvPr/>
        </p:nvSpPr>
        <p:spPr>
          <a:xfrm>
            <a:off x="3703320" y="2633472"/>
            <a:ext cx="1975104" cy="914400"/>
          </a:xfrm>
          <a:prstGeom prst="rect">
            <a:avLst/>
          </a:prstGeom>
          <a:noFill/>
          <a:ln/>
        </p:spPr>
        <p:txBody>
          <a:bodyPr wrap="square" lIns="0" tIns="0" rIns="0" bIns="0" rtlCol="0" anchor="t"/>
          <a:lstStyle/>
          <a:p>
            <a:pPr marL="0" indent="0" algn="l">
              <a:lnSpc>
                <a:spcPts val="1600"/>
              </a:lnSpc>
              <a:buNone/>
            </a:pPr>
            <a:r>
              <a:rPr lang="en-US" sz="1200" kern="0" dirty="0">
                <a:solidFill>
                  <a:srgbClr val="C6C6C6"/>
                </a:solidFill>
              </a:rPr>
              <a:t>Each stuck queue becomes one ticket, carrying the MQ facts that prove it.</a:t>
            </a:r>
          </a:p>
        </p:txBody>
      </p:sp>
      <p:sp>
        <p:nvSpPr>
          <p:cNvPr id="15" name="mono-block"/>
          <p:cNvSpPr/>
          <p:nvPr/>
        </p:nvSpPr>
        <p:spPr>
          <a:xfrm>
            <a:off x="3703320" y="3621024"/>
            <a:ext cx="1975104" cy="457200"/>
          </a:xfrm>
          <a:prstGeom prst="rect">
            <a:avLst/>
          </a:prstGeom>
          <a:solidFill>
            <a:srgbClr val="1C1C1C"/>
          </a:solidFill>
          <a:ln w="12700">
            <a:solidFill>
              <a:srgbClr val="1C1C1C"/>
            </a:solidFill>
            <a:prstDash val="solid"/>
          </a:ln>
        </p:spPr>
      </p:sp>
      <p:sp>
        <p:nvSpPr>
          <p:cNvPr id="16" name="mono"/>
          <p:cNvSpPr txBox="1"/>
          <p:nvPr/>
        </p:nvSpPr>
        <p:spPr>
          <a:xfrm>
            <a:off x="3813048" y="3621024"/>
            <a:ext cx="1755648" cy="457200"/>
          </a:xfrm>
          <a:prstGeom prst="rect">
            <a:avLst/>
          </a:prstGeom>
          <a:noFill/>
          <a:ln/>
        </p:spPr>
        <p:txBody>
          <a:bodyPr wrap="square" lIns="0" tIns="0" rIns="0" bIns="0" rtlCol="0" anchor="ctr"/>
          <a:lstStyle/>
          <a:p>
            <a:pPr marL="0" indent="0" algn="l">
              <a:lnSpc>
                <a:spcPts val="1050"/>
              </a:lnSpc>
              <a:buNone/>
            </a:pPr>
            <a:r>
              <a:rPr lang="en-US" sz="850" kern="0" dirty="0">
                <a:solidFill>
                  <a:srgbClr val="A6C8FF"/>
                </a:solidFill>
                <a:latin typeface="Courier New" pitchFamily="34" charset="0"/>
                <a:ea typeface="Courier New" pitchFamily="34" charset="-122"/>
                <a:cs typeface="Courier New" pitchFamily="34" charset="-120"/>
              </a:rPr>
              <a:t>INC-0042   QMS1</a:t>
            </a:r>
          </a:p>
          <a:p>
            <a:pPr marL="0" indent="0" algn="l">
              <a:lnSpc>
                <a:spcPts val="1050"/>
              </a:lnSpc>
              <a:buNone/>
            </a:pPr>
            <a:r>
              <a:rPr lang="en-US" sz="850" kern="0" dirty="0">
                <a:solidFill>
                  <a:srgbClr val="A6C8FF"/>
                </a:solidFill>
                <a:latin typeface="Courier New" pitchFamily="34" charset="0"/>
                <a:ea typeface="Courier New" pitchFamily="34" charset="-122"/>
                <a:cs typeface="Courier New" pitchFamily="34" charset="-120"/>
              </a:rPr>
              <a:t>850 deep, 0 readers</a:t>
            </a:r>
          </a:p>
        </p:txBody>
      </p:sp>
      <p:sp>
        <p:nvSpPr>
          <p:cNvPr id="17" name="arrow"/>
          <p:cNvSpPr/>
          <p:nvPr/>
        </p:nvSpPr>
        <p:spPr>
          <a:xfrm>
            <a:off x="6007608" y="3017520"/>
            <a:ext cx="155448" cy="0"/>
          </a:xfrm>
          <a:prstGeom prst="line">
            <a:avLst/>
          </a:prstGeom>
          <a:noFill/>
          <a:ln w="22225">
            <a:solidFill>
              <a:srgbClr val="8D8D8D"/>
            </a:solidFill>
            <a:prstDash val="solid"/>
            <a:tailEnd type="triangle"/>
          </a:ln>
        </p:spPr>
      </p:sp>
      <p:sp>
        <p:nvSpPr>
          <p:cNvPr id="18" name="step"/>
          <p:cNvSpPr/>
          <p:nvPr/>
        </p:nvSpPr>
        <p:spPr>
          <a:xfrm>
            <a:off x="6217920" y="1847088"/>
            <a:ext cx="2560320" cy="2340864"/>
          </a:xfrm>
          <a:prstGeom prst="rect">
            <a:avLst/>
          </a:prstGeom>
          <a:solidFill>
            <a:srgbClr val="262626"/>
          </a:solidFill>
          <a:ln w="12700">
            <a:solidFill>
              <a:srgbClr val="393939"/>
            </a:solidFill>
            <a:prstDash val="solid"/>
          </a:ln>
        </p:spPr>
      </p:sp>
      <p:sp>
        <p:nvSpPr>
          <p:cNvPr id="19" name="accent"/>
          <p:cNvSpPr/>
          <p:nvPr/>
        </p:nvSpPr>
        <p:spPr>
          <a:xfrm>
            <a:off x="6217920" y="1847088"/>
            <a:ext cx="54864" cy="2340864"/>
          </a:xfrm>
          <a:prstGeom prst="rect">
            <a:avLst/>
          </a:prstGeom>
          <a:solidFill>
            <a:srgbClr val="0F62FE"/>
          </a:solidFill>
          <a:ln w="12700">
            <a:solidFill>
              <a:srgbClr val="0F62FE"/>
            </a:solidFill>
            <a:prstDash val="solid"/>
          </a:ln>
        </p:spPr>
      </p:sp>
      <p:sp>
        <p:nvSpPr>
          <p:cNvPr id="20" name="verb"/>
          <p:cNvSpPr txBox="1"/>
          <p:nvPr/>
        </p:nvSpPr>
        <p:spPr>
          <a:xfrm>
            <a:off x="6528816" y="2121408"/>
            <a:ext cx="1975104" cy="384048"/>
          </a:xfrm>
          <a:prstGeom prst="rect">
            <a:avLst/>
          </a:prstGeom>
          <a:noFill/>
          <a:ln/>
        </p:spPr>
        <p:txBody>
          <a:bodyPr wrap="square" lIns="0" tIns="0" rIns="0" bIns="0" rtlCol="0" anchor="t"/>
          <a:lstStyle/>
          <a:p>
            <a:pPr marL="0" indent="0" algn="l">
              <a:buNone/>
            </a:pPr>
            <a:r>
              <a:rPr lang="en-US" sz="1700" b="1" kern="0" spc="60" dirty="0">
                <a:solidFill>
                  <a:srgbClr val="FFFFFF"/>
                </a:solidFill>
              </a:rPr>
              <a:t>ENHANCE</a:t>
            </a:r>
          </a:p>
        </p:txBody>
      </p:sp>
      <p:sp>
        <p:nvSpPr>
          <p:cNvPr id="21" name="body"/>
          <p:cNvSpPr txBox="1"/>
          <p:nvPr/>
        </p:nvSpPr>
        <p:spPr>
          <a:xfrm>
            <a:off x="6528816" y="2633472"/>
            <a:ext cx="1975104" cy="914400"/>
          </a:xfrm>
          <a:prstGeom prst="rect">
            <a:avLst/>
          </a:prstGeom>
          <a:noFill/>
          <a:ln/>
        </p:spPr>
        <p:txBody>
          <a:bodyPr wrap="square" lIns="0" tIns="0" rIns="0" bIns="0" rtlCol="0" anchor="t"/>
          <a:lstStyle/>
          <a:p>
            <a:pPr marL="0" indent="0" algn="l">
              <a:lnSpc>
                <a:spcPts val="1600"/>
              </a:lnSpc>
              <a:buNone/>
            </a:pPr>
            <a:r>
              <a:rPr lang="en-US" sz="1200" kern="0" dirty="0">
                <a:solidFill>
                  <a:srgbClr val="C6C6C6"/>
                </a:solidFill>
              </a:rPr>
              <a:t>One line is added — the line that turns a record of a problem into a question an agent can answer.</a:t>
            </a:r>
          </a:p>
        </p:txBody>
      </p:sp>
      <p:sp>
        <p:nvSpPr>
          <p:cNvPr id="22" name="mono-block"/>
          <p:cNvSpPr/>
          <p:nvPr/>
        </p:nvSpPr>
        <p:spPr>
          <a:xfrm>
            <a:off x="6528816" y="3621024"/>
            <a:ext cx="1975104" cy="457200"/>
          </a:xfrm>
          <a:prstGeom prst="rect">
            <a:avLst/>
          </a:prstGeom>
          <a:solidFill>
            <a:srgbClr val="1C1C1C"/>
          </a:solidFill>
          <a:ln w="12700">
            <a:solidFill>
              <a:srgbClr val="1C1C1C"/>
            </a:solidFill>
            <a:prstDash val="solid"/>
          </a:ln>
        </p:spPr>
      </p:sp>
      <p:sp>
        <p:nvSpPr>
          <p:cNvPr id="23" name="mono"/>
          <p:cNvSpPr txBox="1"/>
          <p:nvPr/>
        </p:nvSpPr>
        <p:spPr>
          <a:xfrm>
            <a:off x="6638544" y="3621024"/>
            <a:ext cx="1755648" cy="457200"/>
          </a:xfrm>
          <a:prstGeom prst="rect">
            <a:avLst/>
          </a:prstGeom>
          <a:noFill/>
          <a:ln/>
        </p:spPr>
        <p:txBody>
          <a:bodyPr wrap="square" lIns="0" tIns="0" rIns="0" bIns="0" rtlCol="0" anchor="ctr"/>
          <a:lstStyle/>
          <a:p>
            <a:pPr marL="0" indent="0" algn="l">
              <a:lnSpc>
                <a:spcPts val="1050"/>
              </a:lnSpc>
              <a:buNone/>
            </a:pPr>
            <a:r>
              <a:rPr lang="en-US" sz="850" kern="0" dirty="0">
                <a:solidFill>
                  <a:srgbClr val="A6C8FF"/>
                </a:solidFill>
                <a:latin typeface="Courier New" pitchFamily="34" charset="0"/>
                <a:ea typeface="Courier New" pitchFamily="34" charset="-122"/>
                <a:cs typeface="Courier New" pitchFamily="34" charset="-120"/>
              </a:rPr>
              <a:t>Diagnose Q &lt;queue&gt;</a:t>
            </a:r>
          </a:p>
          <a:p>
            <a:pPr marL="0" indent="0" algn="l">
              <a:lnSpc>
                <a:spcPts val="1050"/>
              </a:lnSpc>
              <a:buNone/>
            </a:pPr>
            <a:r>
              <a:rPr lang="en-US" sz="850" kern="0" dirty="0">
                <a:solidFill>
                  <a:srgbClr val="A6C8FF"/>
                </a:solidFill>
                <a:latin typeface="Courier New" pitchFamily="34" charset="0"/>
                <a:ea typeface="Courier New" pitchFamily="34" charset="-122"/>
                <a:cs typeface="Courier New" pitchFamily="34" charset="-120"/>
              </a:rPr>
              <a:t>on Q Manager &lt;qmgr&gt;</a:t>
            </a:r>
          </a:p>
        </p:txBody>
      </p:sp>
      <p:sp>
        <p:nvSpPr>
          <p:cNvPr id="24" name="arrow"/>
          <p:cNvSpPr/>
          <p:nvPr/>
        </p:nvSpPr>
        <p:spPr>
          <a:xfrm>
            <a:off x="8833104" y="3017520"/>
            <a:ext cx="155448" cy="0"/>
          </a:xfrm>
          <a:prstGeom prst="line">
            <a:avLst/>
          </a:prstGeom>
          <a:noFill/>
          <a:ln w="22225">
            <a:solidFill>
              <a:srgbClr val="8D8D8D"/>
            </a:solidFill>
            <a:prstDash val="solid"/>
            <a:tailEnd type="triangle"/>
          </a:ln>
        </p:spPr>
      </p:sp>
      <p:sp>
        <p:nvSpPr>
          <p:cNvPr id="25" name="step"/>
          <p:cNvSpPr/>
          <p:nvPr/>
        </p:nvSpPr>
        <p:spPr>
          <a:xfrm>
            <a:off x="9043416" y="1847088"/>
            <a:ext cx="2560320" cy="2340864"/>
          </a:xfrm>
          <a:prstGeom prst="rect">
            <a:avLst/>
          </a:prstGeom>
          <a:solidFill>
            <a:srgbClr val="262626"/>
          </a:solidFill>
          <a:ln w="12700">
            <a:solidFill>
              <a:srgbClr val="393939"/>
            </a:solidFill>
            <a:prstDash val="solid"/>
          </a:ln>
        </p:spPr>
      </p:sp>
      <p:sp>
        <p:nvSpPr>
          <p:cNvPr id="26" name="accent"/>
          <p:cNvSpPr/>
          <p:nvPr/>
        </p:nvSpPr>
        <p:spPr>
          <a:xfrm>
            <a:off x="9043416" y="1847088"/>
            <a:ext cx="54864" cy="2340864"/>
          </a:xfrm>
          <a:prstGeom prst="rect">
            <a:avLst/>
          </a:prstGeom>
          <a:solidFill>
            <a:srgbClr val="8A3FFC"/>
          </a:solidFill>
          <a:ln w="12700">
            <a:solidFill>
              <a:srgbClr val="8A3FFC"/>
            </a:solidFill>
            <a:prstDash val="solid"/>
          </a:ln>
        </p:spPr>
      </p:sp>
      <p:sp>
        <p:nvSpPr>
          <p:cNvPr id="27" name="verb"/>
          <p:cNvSpPr txBox="1"/>
          <p:nvPr/>
        </p:nvSpPr>
        <p:spPr>
          <a:xfrm>
            <a:off x="9354312" y="2121408"/>
            <a:ext cx="1975104" cy="384048"/>
          </a:xfrm>
          <a:prstGeom prst="rect">
            <a:avLst/>
          </a:prstGeom>
          <a:noFill/>
          <a:ln/>
        </p:spPr>
        <p:txBody>
          <a:bodyPr wrap="square" lIns="0" tIns="0" rIns="0" bIns="0" rtlCol="0" anchor="t"/>
          <a:lstStyle/>
          <a:p>
            <a:pPr marL="0" indent="0" algn="l">
              <a:buNone/>
            </a:pPr>
            <a:r>
              <a:rPr lang="en-US" sz="1700" b="1" kern="0" spc="60" dirty="0">
                <a:solidFill>
                  <a:srgbClr val="FFFFFF"/>
                </a:solidFill>
              </a:rPr>
              <a:t>DIAGNOSE</a:t>
            </a:r>
          </a:p>
        </p:txBody>
      </p:sp>
      <p:sp>
        <p:nvSpPr>
          <p:cNvPr id="28" name="body"/>
          <p:cNvSpPr txBox="1"/>
          <p:nvPr/>
        </p:nvSpPr>
        <p:spPr>
          <a:xfrm>
            <a:off x="9354312" y="2633472"/>
            <a:ext cx="1975104" cy="914400"/>
          </a:xfrm>
          <a:prstGeom prst="rect">
            <a:avLst/>
          </a:prstGeom>
          <a:noFill/>
          <a:ln/>
        </p:spPr>
        <p:txBody>
          <a:bodyPr wrap="square" lIns="0" tIns="0" rIns="0" bIns="0" rtlCol="0" anchor="t"/>
          <a:lstStyle/>
          <a:p>
            <a:pPr marL="0" indent="0" algn="l">
              <a:lnSpc>
                <a:spcPts val="1600"/>
              </a:lnSpc>
              <a:buNone/>
            </a:pPr>
            <a:r>
              <a:rPr lang="en-US" sz="1200" kern="0" dirty="0">
                <a:solidFill>
                  <a:srgbClr val="C6C6C6"/>
                </a:solidFill>
              </a:rPr>
              <a:t>The IBM MQ AI Agent reads it, inspects the live queue manager, and names the cause and the command.</a:t>
            </a:r>
          </a:p>
        </p:txBody>
      </p:sp>
      <p:sp>
        <p:nvSpPr>
          <p:cNvPr id="29" name="mono-block"/>
          <p:cNvSpPr/>
          <p:nvPr/>
        </p:nvSpPr>
        <p:spPr>
          <a:xfrm>
            <a:off x="9354312" y="3621024"/>
            <a:ext cx="1975104" cy="457200"/>
          </a:xfrm>
          <a:prstGeom prst="rect">
            <a:avLst/>
          </a:prstGeom>
          <a:solidFill>
            <a:srgbClr val="1C1C1C"/>
          </a:solidFill>
          <a:ln w="12700">
            <a:solidFill>
              <a:srgbClr val="1C1C1C"/>
            </a:solidFill>
            <a:prstDash val="solid"/>
          </a:ln>
        </p:spPr>
      </p:sp>
      <p:sp>
        <p:nvSpPr>
          <p:cNvPr id="30" name="mono"/>
          <p:cNvSpPr txBox="1"/>
          <p:nvPr/>
        </p:nvSpPr>
        <p:spPr>
          <a:xfrm>
            <a:off x="9464040" y="3621024"/>
            <a:ext cx="1755648" cy="457200"/>
          </a:xfrm>
          <a:prstGeom prst="rect">
            <a:avLst/>
          </a:prstGeom>
          <a:noFill/>
          <a:ln/>
        </p:spPr>
        <p:txBody>
          <a:bodyPr wrap="square" lIns="0" tIns="0" rIns="0" bIns="0" rtlCol="0" anchor="ctr"/>
          <a:lstStyle/>
          <a:p>
            <a:pPr marL="0" indent="0" algn="l">
              <a:lnSpc>
                <a:spcPts val="1050"/>
              </a:lnSpc>
              <a:buNone/>
            </a:pPr>
            <a:r>
              <a:rPr lang="en-US" sz="850" kern="0" dirty="0">
                <a:solidFill>
                  <a:srgbClr val="D4BBFF"/>
                </a:solidFill>
                <a:latin typeface="Courier New" pitchFamily="34" charset="0"/>
                <a:ea typeface="Courier New" pitchFamily="34" charset="-122"/>
                <a:cs typeface="Courier New" pitchFamily="34" charset="-120"/>
              </a:rPr>
              <a:t>GET(DISABLED)</a:t>
            </a:r>
          </a:p>
          <a:p>
            <a:pPr marL="0" indent="0" algn="l">
              <a:lnSpc>
                <a:spcPts val="1050"/>
              </a:lnSpc>
              <a:buNone/>
            </a:pPr>
            <a:r>
              <a:rPr lang="en-US" sz="850" kern="0" dirty="0">
                <a:solidFill>
                  <a:srgbClr val="D4BBFF"/>
                </a:solidFill>
                <a:latin typeface="Courier New" pitchFamily="34" charset="0"/>
                <a:ea typeface="Courier New" pitchFamily="34" charset="-122"/>
                <a:cs typeface="Courier New" pitchFamily="34" charset="-120"/>
              </a:rPr>
              <a:t>found in 20 seconds</a:t>
            </a:r>
          </a:p>
        </p:txBody>
      </p:sp>
      <p:sp>
        <p:nvSpPr>
          <p:cNvPr id="31" name="takeaway"/>
          <p:cNvSpPr/>
          <p:nvPr/>
        </p:nvSpPr>
        <p:spPr>
          <a:xfrm>
            <a:off x="566928" y="4498848"/>
            <a:ext cx="11027664" cy="1133856"/>
          </a:xfrm>
          <a:prstGeom prst="rect">
            <a:avLst/>
          </a:prstGeom>
          <a:solidFill>
            <a:srgbClr val="0F62FE"/>
          </a:solidFill>
          <a:ln w="12700">
            <a:solidFill>
              <a:srgbClr val="0F62FE"/>
            </a:solidFill>
            <a:prstDash val="solid"/>
          </a:ln>
        </p:spPr>
      </p:sp>
      <p:sp>
        <p:nvSpPr>
          <p:cNvPr id="32" name="takeaway-text"/>
          <p:cNvSpPr txBox="1"/>
          <p:nvPr/>
        </p:nvSpPr>
        <p:spPr>
          <a:xfrm>
            <a:off x="950976" y="4773168"/>
            <a:ext cx="10241280" cy="621792"/>
          </a:xfrm>
          <a:prstGeom prst="rect">
            <a:avLst/>
          </a:prstGeom>
          <a:noFill/>
          <a:ln/>
        </p:spPr>
        <p:txBody>
          <a:bodyPr wrap="square" lIns="0" tIns="0" rIns="0" bIns="0" rtlCol="0" anchor="t"/>
          <a:lstStyle/>
          <a:p>
            <a:pPr marL="0" indent="0" algn="l">
              <a:lnSpc>
                <a:spcPts val="1900"/>
              </a:lnSpc>
              <a:buNone/>
            </a:pPr>
            <a:r>
              <a:rPr lang="en-US" sz="1600" b="1" kern="0" dirty="0">
                <a:solidFill>
                  <a:srgbClr val="FFFFFF"/>
                </a:solidFill>
              </a:rPr>
              <a:t>Nobody has to notice first (automated: detection, ticketing, enhancement)</a:t>
            </a:r>
          </a:p>
          <a:p>
            <a:pPr marL="0" indent="0" algn="l">
              <a:lnSpc>
                <a:spcPts val="1900"/>
              </a:lnSpc>
              <a:buNone/>
            </a:pPr>
            <a:r>
              <a:rPr lang="en-US" sz="1300" kern="0" dirty="0">
                <a:solidFill>
                  <a:srgbClr val="EDF5FF"/>
                </a:solidFill>
              </a:rPr>
              <a:t>Detect, ticket and enhance are ours, and they run unattended. </a:t>
            </a:r>
            <a:r>
              <a:rPr lang="en-US" sz="1300" b="1" kern="0" dirty="0">
                <a:solidFill>
                  <a:srgbClr val="EDF5FF"/>
                </a:solidFill>
              </a:rPr>
              <a:t>Diagnose is IBM's MQ AI Agent, live. The fix stays a human decision.</a:t>
            </a:r>
          </a:p>
        </p:txBody>
      </p:sp>
      <p:sp>
        <p:nvSpPr>
          <p:cNvPr id="33" name="Slide Number Placeholder 0"/>
          <p:cNvSpPr>
            <a:spLocks noGrp="1"/>
          </p:cNvSpPr>
          <p:nvPr>
            <p:ph type="sldNum" sz="quarter" idx="4294967295"/>
          </p:nvPr>
        </p:nvSpPr>
        <p:spPr>
          <a:xfrm>
            <a:off x="11430000" y="6364224"/>
            <a:ext cx="365760" cy="274320"/>
          </a:xfrm>
          <a:prstGeom prst="rect">
            <a:avLst/>
          </a:prstGeom>
        </p:spPr>
        <p:txBody>
          <a:bodyPr/>
          <a:lstStyle>
            <a:lvl1pPr>
              <a:defRPr sz="900">
                <a:solidFill>
                  <a:srgbClr val="A8A8A8"/>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161616"/>
                </a:solidFill>
              </a:rPr>
              <a:t>A queue can be 85% full with no one reading from it</a:t>
            </a:r>
            <a:endParaRPr lang="en-US" sz="3200" dirty="0"/>
          </a:p>
        </p:txBody>
      </p:sp>
      <p:sp>
        <p:nvSpPr>
          <p:cNvPr id="3" name="stat-card"/>
          <p:cNvSpPr/>
          <p:nvPr/>
        </p:nvSpPr>
        <p:spPr>
          <a:xfrm>
            <a:off x="566928" y="1572768"/>
            <a:ext cx="3493008" cy="2286000"/>
          </a:xfrm>
          <a:prstGeom prst="rect">
            <a:avLst/>
          </a:prstGeom>
          <a:solidFill>
            <a:srgbClr val="F4F4F4"/>
          </a:solidFill>
          <a:ln w="12700">
            <a:solidFill>
              <a:srgbClr val="F4F4F4"/>
            </a:solidFill>
            <a:prstDash val="solid"/>
          </a:ln>
        </p:spPr>
      </p:sp>
      <p:sp>
        <p:nvSpPr>
          <p:cNvPr id="4" name="msg-square"/>
          <p:cNvSpPr/>
          <p:nvPr/>
        </p:nvSpPr>
        <p:spPr>
          <a:xfrm>
            <a:off x="877824" y="1901952"/>
            <a:ext cx="155448" cy="155448"/>
          </a:xfrm>
          <a:prstGeom prst="rect">
            <a:avLst/>
          </a:prstGeom>
          <a:solidFill>
            <a:srgbClr val="DA1E28"/>
          </a:solidFill>
          <a:ln w="6350">
            <a:solidFill>
              <a:srgbClr val="DA1E28"/>
            </a:solidFill>
            <a:prstDash val="solid"/>
          </a:ln>
        </p:spPr>
      </p:sp>
      <p:sp>
        <p:nvSpPr>
          <p:cNvPr id="5" name="Text 3"/>
          <p:cNvSpPr txBox="1"/>
          <p:nvPr/>
        </p:nvSpPr>
        <p:spPr>
          <a:xfrm>
            <a:off x="877824" y="2194560"/>
            <a:ext cx="2871216" cy="786384"/>
          </a:xfrm>
          <a:prstGeom prst="rect">
            <a:avLst/>
          </a:prstGeom>
          <a:noFill/>
          <a:ln/>
        </p:spPr>
        <p:txBody>
          <a:bodyPr wrap="square" lIns="0" tIns="0" rIns="0" bIns="0" rtlCol="0" anchor="ctr"/>
          <a:lstStyle/>
          <a:p>
            <a:pPr marL="0" indent="0">
              <a:buNone/>
            </a:pPr>
            <a:r>
              <a:rPr lang="en-US" sz="3400" b="1" kern="0" spc="-100" dirty="0">
                <a:solidFill>
                  <a:srgbClr val="161616"/>
                </a:solidFill>
              </a:rPr>
              <a:t>850 / 1000</a:t>
            </a:r>
            <a:endParaRPr lang="en-US" sz="3400" dirty="0"/>
          </a:p>
        </p:txBody>
      </p:sp>
      <p:sp>
        <p:nvSpPr>
          <p:cNvPr id="6" name="Text 4"/>
          <p:cNvSpPr txBox="1"/>
          <p:nvPr/>
        </p:nvSpPr>
        <p:spPr>
          <a:xfrm>
            <a:off x="877824" y="3035808"/>
            <a:ext cx="2871216" cy="310896"/>
          </a:xfrm>
          <a:prstGeom prst="rect">
            <a:avLst/>
          </a:prstGeom>
          <a:noFill/>
          <a:ln/>
        </p:spPr>
        <p:txBody>
          <a:bodyPr wrap="square" lIns="0" tIns="0" rIns="0" bIns="0" rtlCol="0" anchor="ctr"/>
          <a:lstStyle/>
          <a:p>
            <a:pPr marL="0" indent="0">
              <a:buNone/>
            </a:pPr>
            <a:r>
              <a:rPr lang="en-US" sz="1300" b="1" dirty="0">
                <a:solidFill>
                  <a:srgbClr val="161616"/>
                </a:solidFill>
              </a:rPr>
              <a:t>ACME.APPDATA.QUEUE</a:t>
            </a:r>
            <a:endParaRPr lang="en-US" sz="1300" dirty="0"/>
          </a:p>
        </p:txBody>
      </p:sp>
      <p:sp>
        <p:nvSpPr>
          <p:cNvPr id="7" name="Text 5"/>
          <p:cNvSpPr txBox="1"/>
          <p:nvPr/>
        </p:nvSpPr>
        <p:spPr>
          <a:xfrm>
            <a:off x="877824" y="3355848"/>
            <a:ext cx="2871216" cy="310896"/>
          </a:xfrm>
          <a:prstGeom prst="rect">
            <a:avLst/>
          </a:prstGeom>
          <a:noFill/>
          <a:ln/>
        </p:spPr>
        <p:txBody>
          <a:bodyPr wrap="square" lIns="0" tIns="0" rIns="0" bIns="0" rtlCol="0" anchor="ctr"/>
          <a:lstStyle/>
          <a:p>
            <a:pPr marL="0" indent="0">
              <a:buNone/>
            </a:pPr>
            <a:r>
              <a:rPr lang="en-US" sz="1200" dirty="0">
                <a:solidFill>
                  <a:srgbClr val="6F6F6F"/>
                </a:solidFill>
              </a:rPr>
              <a:t>85% full and climbing</a:t>
            </a:r>
            <a:endParaRPr lang="en-US" sz="1200" dirty="0"/>
          </a:p>
        </p:txBody>
      </p:sp>
      <p:sp>
        <p:nvSpPr>
          <p:cNvPr id="8" name="stat-card"/>
          <p:cNvSpPr/>
          <p:nvPr/>
        </p:nvSpPr>
        <p:spPr>
          <a:xfrm>
            <a:off x="4370832" y="1572768"/>
            <a:ext cx="3493008" cy="2286000"/>
          </a:xfrm>
          <a:prstGeom prst="rect">
            <a:avLst/>
          </a:prstGeom>
          <a:solidFill>
            <a:srgbClr val="F4F4F4"/>
          </a:solidFill>
          <a:ln w="12700">
            <a:solidFill>
              <a:srgbClr val="F4F4F4"/>
            </a:solidFill>
            <a:prstDash val="solid"/>
          </a:ln>
        </p:spPr>
      </p:sp>
      <p:sp>
        <p:nvSpPr>
          <p:cNvPr id="9" name="msg-square"/>
          <p:cNvSpPr/>
          <p:nvPr/>
        </p:nvSpPr>
        <p:spPr>
          <a:xfrm>
            <a:off x="4681728" y="1901952"/>
            <a:ext cx="155448" cy="155448"/>
          </a:xfrm>
          <a:prstGeom prst="rect">
            <a:avLst/>
          </a:prstGeom>
          <a:solidFill>
            <a:srgbClr val="F1C21B"/>
          </a:solidFill>
          <a:ln w="6350">
            <a:solidFill>
              <a:srgbClr val="F1C21B"/>
            </a:solidFill>
            <a:prstDash val="solid"/>
          </a:ln>
        </p:spPr>
      </p:sp>
      <p:sp>
        <p:nvSpPr>
          <p:cNvPr id="10" name="Text 8"/>
          <p:cNvSpPr txBox="1"/>
          <p:nvPr/>
        </p:nvSpPr>
        <p:spPr>
          <a:xfrm>
            <a:off x="4681728" y="2194560"/>
            <a:ext cx="2871216" cy="786384"/>
          </a:xfrm>
          <a:prstGeom prst="rect">
            <a:avLst/>
          </a:prstGeom>
          <a:noFill/>
          <a:ln/>
        </p:spPr>
        <p:txBody>
          <a:bodyPr wrap="square" lIns="0" tIns="0" rIns="0" bIns="0" rtlCol="0" anchor="ctr"/>
          <a:lstStyle/>
          <a:p>
            <a:pPr marL="0" indent="0">
              <a:buNone/>
            </a:pPr>
            <a:r>
              <a:rPr lang="en-US" sz="3400" b="1" kern="0" spc="-100" dirty="0">
                <a:solidFill>
                  <a:srgbClr val="161616"/>
                </a:solidFill>
              </a:rPr>
              <a:t>3600 / 4000</a:t>
            </a:r>
            <a:endParaRPr lang="en-US" sz="3400" dirty="0"/>
          </a:p>
        </p:txBody>
      </p:sp>
      <p:sp>
        <p:nvSpPr>
          <p:cNvPr id="11" name="Text 9"/>
          <p:cNvSpPr txBox="1"/>
          <p:nvPr/>
        </p:nvSpPr>
        <p:spPr>
          <a:xfrm>
            <a:off x="4681728" y="3035808"/>
            <a:ext cx="2871216" cy="310896"/>
          </a:xfrm>
          <a:prstGeom prst="rect">
            <a:avLst/>
          </a:prstGeom>
          <a:noFill/>
          <a:ln/>
        </p:spPr>
        <p:txBody>
          <a:bodyPr wrap="square" lIns="0" tIns="0" rIns="0" bIns="0" rtlCol="0" anchor="ctr"/>
          <a:lstStyle/>
          <a:p>
            <a:pPr marL="0" indent="0">
              <a:buNone/>
            </a:pPr>
            <a:r>
              <a:rPr lang="en-US" sz="1300" b="1" dirty="0">
                <a:solidFill>
                  <a:srgbClr val="161616"/>
                </a:solidFill>
              </a:rPr>
              <a:t>ACME.COMMERCE.QUEUE</a:t>
            </a:r>
            <a:endParaRPr lang="en-US" sz="1300" dirty="0"/>
          </a:p>
        </p:txBody>
      </p:sp>
      <p:sp>
        <p:nvSpPr>
          <p:cNvPr id="12" name="Text 10"/>
          <p:cNvSpPr txBox="1"/>
          <p:nvPr/>
        </p:nvSpPr>
        <p:spPr>
          <a:xfrm>
            <a:off x="4681728" y="3355848"/>
            <a:ext cx="2871216" cy="310896"/>
          </a:xfrm>
          <a:prstGeom prst="rect">
            <a:avLst/>
          </a:prstGeom>
          <a:noFill/>
          <a:ln/>
        </p:spPr>
        <p:txBody>
          <a:bodyPr wrap="square" lIns="0" tIns="0" rIns="0" bIns="0" rtlCol="0" anchor="ctr"/>
          <a:lstStyle/>
          <a:p>
            <a:pPr marL="0" indent="0">
              <a:buNone/>
            </a:pPr>
            <a:r>
              <a:rPr lang="en-US" sz="1200" dirty="0">
                <a:solidFill>
                  <a:srgbClr val="6F6F6F"/>
                </a:solidFill>
              </a:rPr>
              <a:t>last put: a week ago</a:t>
            </a:r>
            <a:endParaRPr lang="en-US" sz="1200" dirty="0"/>
          </a:p>
        </p:txBody>
      </p:sp>
      <p:sp>
        <p:nvSpPr>
          <p:cNvPr id="13" name="stat-card"/>
          <p:cNvSpPr/>
          <p:nvPr/>
        </p:nvSpPr>
        <p:spPr>
          <a:xfrm>
            <a:off x="8174736" y="1572768"/>
            <a:ext cx="3493008" cy="2286000"/>
          </a:xfrm>
          <a:prstGeom prst="rect">
            <a:avLst/>
          </a:prstGeom>
          <a:solidFill>
            <a:srgbClr val="F4F4F4"/>
          </a:solidFill>
          <a:ln w="12700">
            <a:solidFill>
              <a:srgbClr val="F4F4F4"/>
            </a:solidFill>
            <a:prstDash val="solid"/>
          </a:ln>
        </p:spPr>
      </p:sp>
      <p:sp>
        <p:nvSpPr>
          <p:cNvPr id="14" name="msg-square"/>
          <p:cNvSpPr/>
          <p:nvPr/>
        </p:nvSpPr>
        <p:spPr>
          <a:xfrm>
            <a:off x="8485632" y="1901952"/>
            <a:ext cx="155448" cy="155448"/>
          </a:xfrm>
          <a:prstGeom prst="rect">
            <a:avLst/>
          </a:prstGeom>
          <a:solidFill>
            <a:srgbClr val="DA1E28"/>
          </a:solidFill>
          <a:ln w="6350">
            <a:solidFill>
              <a:srgbClr val="DA1E28"/>
            </a:solidFill>
            <a:prstDash val="solid"/>
          </a:ln>
        </p:spPr>
      </p:sp>
      <p:sp>
        <p:nvSpPr>
          <p:cNvPr id="15" name="Text 13"/>
          <p:cNvSpPr txBox="1"/>
          <p:nvPr/>
        </p:nvSpPr>
        <p:spPr>
          <a:xfrm>
            <a:off x="8485632" y="2194560"/>
            <a:ext cx="2871216" cy="786384"/>
          </a:xfrm>
          <a:prstGeom prst="rect">
            <a:avLst/>
          </a:prstGeom>
          <a:noFill/>
          <a:ln/>
        </p:spPr>
        <p:txBody>
          <a:bodyPr wrap="square" lIns="0" tIns="0" rIns="0" bIns="0" rtlCol="0" anchor="ctr"/>
          <a:lstStyle/>
          <a:p>
            <a:pPr marL="0" indent="0">
              <a:buNone/>
            </a:pPr>
            <a:r>
              <a:rPr lang="en-US" sz="3400" b="1" kern="0" spc="-100" dirty="0">
                <a:solidFill>
                  <a:srgbClr val="161616"/>
                </a:solidFill>
              </a:rPr>
              <a:t>NONE</a:t>
            </a:r>
            <a:endParaRPr lang="en-US" sz="3400" dirty="0"/>
          </a:p>
        </p:txBody>
      </p:sp>
      <p:sp>
        <p:nvSpPr>
          <p:cNvPr id="16" name="Text 14"/>
          <p:cNvSpPr txBox="1"/>
          <p:nvPr/>
        </p:nvSpPr>
        <p:spPr>
          <a:xfrm>
            <a:off x="8485632" y="3035808"/>
            <a:ext cx="2871216" cy="310896"/>
          </a:xfrm>
          <a:prstGeom prst="rect">
            <a:avLst/>
          </a:prstGeom>
          <a:noFill/>
          <a:ln/>
        </p:spPr>
        <p:txBody>
          <a:bodyPr wrap="square" lIns="0" tIns="0" rIns="0" bIns="0" rtlCol="0" anchor="ctr"/>
          <a:lstStyle/>
          <a:p>
            <a:pPr marL="0" indent="0">
              <a:buNone/>
            </a:pPr>
            <a:r>
              <a:rPr lang="en-US" sz="1300" b="1" dirty="0">
                <a:solidFill>
                  <a:srgbClr val="161616"/>
                </a:solidFill>
              </a:rPr>
              <a:t>Connected user applications</a:t>
            </a:r>
            <a:endParaRPr lang="en-US" sz="1300" dirty="0"/>
          </a:p>
        </p:txBody>
      </p:sp>
      <p:sp>
        <p:nvSpPr>
          <p:cNvPr id="17" name="Text 15"/>
          <p:cNvSpPr txBox="1"/>
          <p:nvPr/>
        </p:nvSpPr>
        <p:spPr>
          <a:xfrm>
            <a:off x="8485632" y="3355848"/>
            <a:ext cx="2871216" cy="310896"/>
          </a:xfrm>
          <a:prstGeom prst="rect">
            <a:avLst/>
          </a:prstGeom>
          <a:noFill/>
          <a:ln/>
        </p:spPr>
        <p:txBody>
          <a:bodyPr wrap="square" lIns="0" tIns="0" rIns="0" bIns="0" rtlCol="0" anchor="ctr"/>
          <a:lstStyle/>
          <a:p>
            <a:pPr marL="0" indent="0">
              <a:buNone/>
            </a:pPr>
            <a:r>
              <a:rPr lang="en-US" sz="1200" dirty="0">
                <a:solidFill>
                  <a:srgbClr val="6F6F6F"/>
                </a:solidFill>
              </a:rPr>
              <a:t>nothing is draining either queue</a:t>
            </a:r>
            <a:endParaRPr lang="en-US" sz="1200" dirty="0"/>
          </a:p>
        </p:txBody>
      </p:sp>
      <p:sp>
        <p:nvSpPr>
          <p:cNvPr id="18" name="point"/>
          <p:cNvSpPr/>
          <p:nvPr/>
        </p:nvSpPr>
        <p:spPr>
          <a:xfrm>
            <a:off x="566928" y="4187952"/>
            <a:ext cx="11027664" cy="1298448"/>
          </a:xfrm>
          <a:prstGeom prst="rect">
            <a:avLst/>
          </a:prstGeom>
          <a:solidFill>
            <a:srgbClr val="EDF5FF"/>
          </a:solidFill>
          <a:ln w="12700">
            <a:solidFill>
              <a:srgbClr val="EDF5FF"/>
            </a:solidFill>
            <a:prstDash val="solid"/>
          </a:ln>
        </p:spPr>
      </p:sp>
      <p:sp>
        <p:nvSpPr>
          <p:cNvPr id="19" name="Text 17"/>
          <p:cNvSpPr txBox="1"/>
          <p:nvPr/>
        </p:nvSpPr>
        <p:spPr>
          <a:xfrm>
            <a:off x="950976" y="4425696"/>
            <a:ext cx="10241280" cy="411480"/>
          </a:xfrm>
          <a:prstGeom prst="rect">
            <a:avLst/>
          </a:prstGeom>
          <a:noFill/>
          <a:ln/>
        </p:spPr>
        <p:txBody>
          <a:bodyPr wrap="square" lIns="0" tIns="0" rIns="0" bIns="0" rtlCol="0" anchor="ctr"/>
          <a:lstStyle/>
          <a:p>
            <a:pPr marL="0" indent="0">
              <a:buNone/>
            </a:pPr>
            <a:r>
              <a:rPr lang="en-US" sz="2200" b="1" dirty="0">
                <a:solidFill>
                  <a:srgbClr val="0043CE"/>
                </a:solidFill>
              </a:rPr>
              <a:t>IBM MQ already knew all of this.</a:t>
            </a:r>
            <a:endParaRPr lang="en-US" sz="2200" dirty="0"/>
          </a:p>
        </p:txBody>
      </p:sp>
      <p:sp>
        <p:nvSpPr>
          <p:cNvPr id="20" name="Text 18"/>
          <p:cNvSpPr txBox="1"/>
          <p:nvPr/>
        </p:nvSpPr>
        <p:spPr>
          <a:xfrm>
            <a:off x="950976" y="4846320"/>
            <a:ext cx="10241280" cy="502920"/>
          </a:xfrm>
          <a:prstGeom prst="rect">
            <a:avLst/>
          </a:prstGeom>
          <a:noFill/>
          <a:ln/>
        </p:spPr>
        <p:txBody>
          <a:bodyPr wrap="square" lIns="0" tIns="0" rIns="0" bIns="0" rtlCol="0" anchor="ctr"/>
          <a:lstStyle/>
          <a:p>
            <a:pPr marL="0" indent="0">
              <a:lnSpc>
                <a:spcPts val="1900"/>
              </a:lnSpc>
              <a:buNone/>
            </a:pPr>
            <a:r>
              <a:rPr lang="en-US" sz="1400" dirty="0">
                <a:solidFill>
                  <a:srgbClr val="21272A"/>
                </a:solidFill>
              </a:rPr>
              <a:t>Every number on this slide came off the QMS1 dashboard. The gap is not visibility — it is that nothing turns what MQ already reports into something a person is handed.</a:t>
            </a:r>
            <a:endParaRPr lang="en-US" sz="1400" dirty="0"/>
          </a:p>
        </p:txBody>
      </p:sp>
      <p:sp>
        <p:nvSpPr>
          <p:cNvPr id="21" name="Text 19"/>
          <p:cNvSpPr txBox="1"/>
          <p:nvPr/>
        </p:nvSpPr>
        <p:spPr>
          <a:xfrm>
            <a:off x="566928" y="5724144"/>
            <a:ext cx="8229600" cy="274320"/>
          </a:xfrm>
          <a:prstGeom prst="rect">
            <a:avLst/>
          </a:prstGeom>
          <a:noFill/>
          <a:ln/>
        </p:spPr>
        <p:txBody>
          <a:bodyPr wrap="square" lIns="0" tIns="0" rIns="0" bIns="0" rtlCol="0" anchor="ctr"/>
          <a:lstStyle/>
          <a:p>
            <a:pPr marL="0" indent="0">
              <a:buNone/>
            </a:pPr>
            <a:r>
              <a:rPr lang="en-US" sz="1000" dirty="0">
                <a:solidFill>
                  <a:srgbClr val="A8A8A8"/>
                </a:solidFill>
              </a:rPr>
              <a:t>Source: IBM MQ Console, queue manager QMS1, 9 October 2026, 12:30 AM</a:t>
            </a:r>
            <a:endParaRPr lang="en-US" sz="1000" dirty="0"/>
          </a:p>
        </p:txBody>
      </p:sp>
      <p:sp>
        <p:nvSpPr>
          <p:cNvPr id="2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A8A8A8"/>
                </a:solidFill>
              </a:defRPr>
            </a:lvl1pPr>
          </a:lstStyle>
          <a:p>
            <a:pPr algn="r"/>
            <a:fld id="{F7021451-1387-4CA6-816F-3879F97B5CBC}" type="slidenum">
              <a:rPr lang="en-US" b="0"/>
              <a:t>3</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FFFFFF"/>
                </a:solidFill>
              </a:rPr>
              <a:t>One sweep, every queue</a:t>
            </a:r>
            <a:endParaRPr lang="en-US" sz="3200" dirty="0"/>
          </a:p>
        </p:txBody>
      </p:sp>
      <p:sp>
        <p:nvSpPr>
          <p:cNvPr id="3" name="code-block"/>
          <p:cNvSpPr/>
          <p:nvPr/>
        </p:nvSpPr>
        <p:spPr>
          <a:xfrm>
            <a:off x="566928" y="1481328"/>
            <a:ext cx="5532120" cy="1261872"/>
          </a:xfrm>
          <a:prstGeom prst="rect">
            <a:avLst/>
          </a:prstGeom>
          <a:solidFill>
            <a:srgbClr val="000000"/>
          </a:solidFill>
          <a:ln w="12700">
            <a:solidFill>
              <a:srgbClr val="000000"/>
            </a:solidFill>
            <a:prstDash val="solid"/>
          </a:ln>
        </p:spPr>
      </p:sp>
      <p:sp>
        <p:nvSpPr>
          <p:cNvPr id="4" name="Text 2"/>
          <p:cNvSpPr txBox="1"/>
          <p:nvPr/>
        </p:nvSpPr>
        <p:spPr>
          <a:xfrm>
            <a:off x="768096" y="1627632"/>
            <a:ext cx="5129784" cy="969264"/>
          </a:xfrm>
          <a:prstGeom prst="rect">
            <a:avLst/>
          </a:prstGeom>
          <a:noFill/>
          <a:ln/>
        </p:spPr>
        <p:txBody>
          <a:bodyPr wrap="square" lIns="0" tIns="0" rIns="0" bIns="0" rtlCol="0" anchor="t"/>
          <a:lstStyle/>
          <a:p>
            <a:pPr marL="0" indent="0">
              <a:lnSpc>
                <a:spcPts val="1668"/>
              </a:lnSpc>
              <a:buNone/>
            </a:pPr>
            <a:r>
              <a:rPr lang="en-US" sz="1150" dirty="0">
                <a:solidFill>
                  <a:srgbClr val="A6C8FF"/>
                </a:solidFill>
                <a:latin typeface="Courier New" pitchFamily="34" charset="0"/>
                <a:ea typeface="Courier New" pitchFamily="34" charset="-122"/>
                <a:cs typeface="Courier New" pitchFamily="34" charset="-120"/>
              </a:rPr>
              <a:t>echo "DISPLAY QSTATUS(*) TYPE(QUEUE) \</a:t>
            </a:r>
            <a:endParaRPr lang="en-US" sz="1150" dirty="0"/>
          </a:p>
          <a:p>
            <a:pPr marL="0" indent="0">
              <a:lnSpc>
                <a:spcPts val="1668"/>
              </a:lnSpc>
              <a:buNone/>
            </a:pPr>
            <a:r>
              <a:rPr lang="en-US" sz="1150" dirty="0">
                <a:solidFill>
                  <a:srgbClr val="A6C8FF"/>
                </a:solidFill>
                <a:latin typeface="Courier New" pitchFamily="34" charset="0"/>
                <a:ea typeface="Courier New" pitchFamily="34" charset="-122"/>
                <a:cs typeface="Courier New" pitchFamily="34" charset="-120"/>
              </a:rPr>
              <a:t>      CURDEPTH IPPROCS OPPROCS" \</a:t>
            </a:r>
            <a:endParaRPr lang="en-US" sz="1150" dirty="0"/>
          </a:p>
          <a:p>
            <a:pPr marL="0" indent="0">
              <a:lnSpc>
                <a:spcPts val="1668"/>
              </a:lnSpc>
              <a:buNone/>
            </a:pPr>
            <a:r>
              <a:rPr lang="en-US" sz="1150" dirty="0">
                <a:solidFill>
                  <a:srgbClr val="A6C8FF"/>
                </a:solidFill>
                <a:latin typeface="Courier New" pitchFamily="34" charset="0"/>
                <a:ea typeface="Courier New" pitchFamily="34" charset="-122"/>
                <a:cs typeface="Courier New" pitchFamily="34" charset="-120"/>
              </a:rPr>
              <a:t>  | runmqsc QMS1</a:t>
            </a:r>
            <a:endParaRPr lang="en-US" sz="1150" dirty="0"/>
          </a:p>
        </p:txBody>
      </p:sp>
      <p:sp>
        <p:nvSpPr>
          <p:cNvPr id="5" name="rule"/>
          <p:cNvSpPr/>
          <p:nvPr/>
        </p:nvSpPr>
        <p:spPr>
          <a:xfrm>
            <a:off x="566928" y="2944368"/>
            <a:ext cx="5532120" cy="1371600"/>
          </a:xfrm>
          <a:prstGeom prst="rect">
            <a:avLst/>
          </a:prstGeom>
          <a:solidFill>
            <a:srgbClr val="262626"/>
          </a:solidFill>
          <a:ln w="12700">
            <a:solidFill>
              <a:srgbClr val="262626"/>
            </a:solidFill>
            <a:prstDash val="solid"/>
          </a:ln>
        </p:spPr>
      </p:sp>
      <p:sp>
        <p:nvSpPr>
          <p:cNvPr id="6" name="Text 4"/>
          <p:cNvSpPr txBox="1"/>
          <p:nvPr/>
        </p:nvSpPr>
        <p:spPr>
          <a:xfrm>
            <a:off x="804672" y="3127248"/>
            <a:ext cx="2743200" cy="237744"/>
          </a:xfrm>
          <a:prstGeom prst="rect">
            <a:avLst/>
          </a:prstGeom>
          <a:noFill/>
          <a:ln/>
        </p:spPr>
        <p:txBody>
          <a:bodyPr wrap="square" lIns="0" tIns="0" rIns="0" bIns="0" rtlCol="0" anchor="ctr"/>
          <a:lstStyle/>
          <a:p>
            <a:pPr marL="0" indent="0">
              <a:buNone/>
            </a:pPr>
            <a:r>
              <a:rPr lang="en-US" sz="950" kern="0" spc="140" dirty="0">
                <a:solidFill>
                  <a:srgbClr val="0F62FE"/>
                </a:solidFill>
                <a:latin typeface="Courier New" pitchFamily="34" charset="0"/>
                <a:ea typeface="Courier New" pitchFamily="34" charset="-122"/>
                <a:cs typeface="Courier New" pitchFamily="34" charset="-120"/>
              </a:rPr>
              <a:t>THE RULE</a:t>
            </a:r>
            <a:endParaRPr lang="en-US" sz="950" dirty="0"/>
          </a:p>
        </p:txBody>
      </p:sp>
      <p:sp>
        <p:nvSpPr>
          <p:cNvPr id="7" name="Text 5"/>
          <p:cNvSpPr txBox="1"/>
          <p:nvPr/>
        </p:nvSpPr>
        <p:spPr>
          <a:xfrm>
            <a:off x="804672" y="3401568"/>
            <a:ext cx="5029200" cy="310896"/>
          </a:xfrm>
          <a:prstGeom prst="rect">
            <a:avLst/>
          </a:prstGeom>
          <a:noFill/>
          <a:ln/>
        </p:spPr>
        <p:txBody>
          <a:bodyPr wrap="square" lIns="0" tIns="0" rIns="0" bIns="0" rtlCol="0" anchor="ctr"/>
          <a:lstStyle/>
          <a:p>
            <a:pPr marL="0" indent="0">
              <a:buNone/>
            </a:pPr>
            <a:r>
              <a:rPr lang="en-US" sz="1700" b="1" dirty="0">
                <a:solidFill>
                  <a:srgbClr val="FFFFFF"/>
                </a:solidFill>
                <a:latin typeface="Courier New" pitchFamily="34" charset="0"/>
                <a:ea typeface="Courier New" pitchFamily="34" charset="-122"/>
                <a:cs typeface="Courier New" pitchFamily="34" charset="-120"/>
              </a:rPr>
              <a:t>CURDEPTH &gt; 0   AND   IPPROCS = 0</a:t>
            </a:r>
            <a:endParaRPr lang="en-US" sz="1700" dirty="0"/>
          </a:p>
        </p:txBody>
      </p:sp>
      <p:sp>
        <p:nvSpPr>
          <p:cNvPr id="8" name="Text 6"/>
          <p:cNvSpPr txBox="1"/>
          <p:nvPr/>
        </p:nvSpPr>
        <p:spPr>
          <a:xfrm>
            <a:off x="804672" y="3767328"/>
            <a:ext cx="5029200" cy="420624"/>
          </a:xfrm>
          <a:prstGeom prst="rect">
            <a:avLst/>
          </a:prstGeom>
          <a:noFill/>
          <a:ln/>
        </p:spPr>
        <p:txBody>
          <a:bodyPr wrap="square" lIns="0" tIns="0" rIns="0" bIns="0" rtlCol="0" anchor="ctr"/>
          <a:lstStyle/>
          <a:p>
            <a:pPr marL="0" indent="0">
              <a:lnSpc>
                <a:spcPts val="1700"/>
              </a:lnSpc>
              <a:buNone/>
            </a:pPr>
            <a:r>
              <a:rPr lang="en-US" sz="1250" dirty="0">
                <a:solidFill>
                  <a:srgbClr val="C6C6C6"/>
                </a:solidFill>
              </a:rPr>
              <a:t>Work is waiting, and no application has the queue open for input. Nothing can drain it.</a:t>
            </a:r>
            <a:endParaRPr lang="en-US" sz="1250" dirty="0"/>
          </a:p>
        </p:txBody>
      </p:sp>
      <p:sp>
        <p:nvSpPr>
          <p:cNvPr id="9" name="Text 7"/>
          <p:cNvSpPr txBox="1"/>
          <p:nvPr/>
        </p:nvSpPr>
        <p:spPr>
          <a:xfrm>
            <a:off x="6510528" y="1481328"/>
            <a:ext cx="5084064" cy="237744"/>
          </a:xfrm>
          <a:prstGeom prst="rect">
            <a:avLst/>
          </a:prstGeom>
          <a:noFill/>
          <a:ln/>
        </p:spPr>
        <p:txBody>
          <a:bodyPr wrap="square" lIns="0" tIns="0" rIns="0" bIns="0" rtlCol="0" anchor="ctr"/>
          <a:lstStyle/>
          <a:p>
            <a:pPr marL="0" indent="0">
              <a:buNone/>
            </a:pPr>
            <a:r>
              <a:rPr lang="en-US" sz="950" kern="0" spc="140" dirty="0">
                <a:solidFill>
                  <a:srgbClr val="8D8D8D"/>
                </a:solidFill>
                <a:latin typeface="Courier New" pitchFamily="34" charset="0"/>
                <a:ea typeface="Courier New" pitchFamily="34" charset="-122"/>
                <a:cs typeface="Courier New" pitchFamily="34" charset="-120"/>
              </a:rPr>
              <a:t>SCANNER OUTPUT  ·  QMS1</a:t>
            </a:r>
            <a:endParaRPr lang="en-US" sz="950" dirty="0"/>
          </a:p>
        </p:txBody>
      </p:sp>
      <p:sp>
        <p:nvSpPr>
          <p:cNvPr id="10" name="Text 8"/>
          <p:cNvSpPr txBox="1"/>
          <p:nvPr/>
        </p:nvSpPr>
        <p:spPr>
          <a:xfrm>
            <a:off x="6510528" y="1810512"/>
            <a:ext cx="2615184" cy="310896"/>
          </a:xfrm>
          <a:prstGeom prst="rect">
            <a:avLst/>
          </a:prstGeom>
          <a:noFill/>
          <a:ln/>
        </p:spPr>
        <p:txBody>
          <a:bodyPr wrap="square" lIns="0" tIns="0" rIns="0" bIns="0" rtlCol="0" anchor="ctr"/>
          <a:lstStyle/>
          <a:p>
            <a:pPr marL="0" indent="0">
              <a:buNone/>
            </a:pPr>
            <a:r>
              <a:rPr lang="en-US" sz="950" b="1" kern="0" spc="120" dirty="0">
                <a:solidFill>
                  <a:srgbClr val="8D8D8D"/>
                </a:solidFill>
                <a:latin typeface="Courier New" pitchFamily="34" charset="0"/>
                <a:ea typeface="Courier New" pitchFamily="34" charset="-122"/>
                <a:cs typeface="Courier New" pitchFamily="34" charset="-120"/>
              </a:rPr>
              <a:t>QUEUE</a:t>
            </a:r>
            <a:endParaRPr lang="en-US" sz="950" dirty="0"/>
          </a:p>
        </p:txBody>
      </p:sp>
      <p:sp>
        <p:nvSpPr>
          <p:cNvPr id="11" name="Text 9"/>
          <p:cNvSpPr txBox="1"/>
          <p:nvPr/>
        </p:nvSpPr>
        <p:spPr>
          <a:xfrm>
            <a:off x="9180576" y="1810512"/>
            <a:ext cx="731520" cy="310896"/>
          </a:xfrm>
          <a:prstGeom prst="rect">
            <a:avLst/>
          </a:prstGeom>
          <a:noFill/>
          <a:ln/>
        </p:spPr>
        <p:txBody>
          <a:bodyPr wrap="square" lIns="0" tIns="0" rIns="0" bIns="0" rtlCol="0" anchor="ctr"/>
          <a:lstStyle/>
          <a:p>
            <a:pPr marL="0" indent="0" algn="r">
              <a:buNone/>
            </a:pPr>
            <a:r>
              <a:rPr lang="en-US" sz="950" b="1" kern="0" spc="120" dirty="0">
                <a:solidFill>
                  <a:srgbClr val="8D8D8D"/>
                </a:solidFill>
                <a:latin typeface="Courier New" pitchFamily="34" charset="0"/>
                <a:ea typeface="Courier New" pitchFamily="34" charset="-122"/>
                <a:cs typeface="Courier New" pitchFamily="34" charset="-120"/>
              </a:rPr>
              <a:t>DEPTH</a:t>
            </a:r>
            <a:endParaRPr lang="en-US" sz="950" dirty="0"/>
          </a:p>
        </p:txBody>
      </p:sp>
      <p:sp>
        <p:nvSpPr>
          <p:cNvPr id="12" name="Text 10"/>
          <p:cNvSpPr txBox="1"/>
          <p:nvPr/>
        </p:nvSpPr>
        <p:spPr>
          <a:xfrm>
            <a:off x="9966960" y="1810512"/>
            <a:ext cx="731520" cy="310896"/>
          </a:xfrm>
          <a:prstGeom prst="rect">
            <a:avLst/>
          </a:prstGeom>
          <a:noFill/>
          <a:ln/>
        </p:spPr>
        <p:txBody>
          <a:bodyPr wrap="square" lIns="0" tIns="0" rIns="0" bIns="0" rtlCol="0" anchor="ctr"/>
          <a:lstStyle/>
          <a:p>
            <a:pPr marL="0" indent="0" algn="r">
              <a:buNone/>
            </a:pPr>
            <a:r>
              <a:rPr lang="en-US" sz="950" b="1" kern="0" spc="120" dirty="0">
                <a:solidFill>
                  <a:srgbClr val="8D8D8D"/>
                </a:solidFill>
                <a:latin typeface="Courier New" pitchFamily="34" charset="0"/>
                <a:ea typeface="Courier New" pitchFamily="34" charset="-122"/>
                <a:cs typeface="Courier New" pitchFamily="34" charset="-120"/>
              </a:rPr>
              <a:t>IPPROCS</a:t>
            </a:r>
            <a:endParaRPr lang="en-US" sz="950" dirty="0"/>
          </a:p>
        </p:txBody>
      </p:sp>
      <p:sp>
        <p:nvSpPr>
          <p:cNvPr id="13" name="row"/>
          <p:cNvSpPr/>
          <p:nvPr/>
        </p:nvSpPr>
        <p:spPr>
          <a:xfrm>
            <a:off x="6364224" y="2103120"/>
            <a:ext cx="5376672" cy="475488"/>
          </a:xfrm>
          <a:prstGeom prst="rect">
            <a:avLst/>
          </a:prstGeom>
          <a:solidFill>
            <a:srgbClr val="2D0709"/>
          </a:solidFill>
          <a:ln w="12700">
            <a:solidFill>
              <a:srgbClr val="2D0709"/>
            </a:solidFill>
            <a:prstDash val="solid"/>
          </a:ln>
        </p:spPr>
      </p:sp>
      <p:sp>
        <p:nvSpPr>
          <p:cNvPr id="14" name="Text 12"/>
          <p:cNvSpPr txBox="1"/>
          <p:nvPr/>
        </p:nvSpPr>
        <p:spPr>
          <a:xfrm>
            <a:off x="6510528" y="2176272"/>
            <a:ext cx="2615184" cy="310896"/>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ACME.APPDATA.QUEUE</a:t>
            </a:r>
            <a:endParaRPr lang="en-US" sz="1100" dirty="0"/>
          </a:p>
        </p:txBody>
      </p:sp>
      <p:sp>
        <p:nvSpPr>
          <p:cNvPr id="15" name="Text 13"/>
          <p:cNvSpPr txBox="1"/>
          <p:nvPr/>
        </p:nvSpPr>
        <p:spPr>
          <a:xfrm>
            <a:off x="9180576" y="2176272"/>
            <a:ext cx="731520" cy="310896"/>
          </a:xfrm>
          <a:prstGeom prst="rect">
            <a:avLst/>
          </a:prstGeom>
          <a:noFill/>
          <a:ln/>
        </p:spPr>
        <p:txBody>
          <a:bodyPr wrap="square" lIns="0" tIns="0" rIns="0" bIns="0" rtlCol="0" anchor="ctr"/>
          <a:lstStyle/>
          <a:p>
            <a:pPr marL="0" indent="0" algn="r">
              <a:buNone/>
            </a:pPr>
            <a:r>
              <a:rPr lang="en-US" sz="1100" dirty="0">
                <a:solidFill>
                  <a:srgbClr val="FFFFFF"/>
                </a:solidFill>
                <a:latin typeface="Courier New" pitchFamily="34" charset="0"/>
                <a:ea typeface="Courier New" pitchFamily="34" charset="-122"/>
                <a:cs typeface="Courier New" pitchFamily="34" charset="-120"/>
              </a:rPr>
              <a:t>850</a:t>
            </a:r>
            <a:endParaRPr lang="en-US" sz="1100" dirty="0"/>
          </a:p>
        </p:txBody>
      </p:sp>
      <p:sp>
        <p:nvSpPr>
          <p:cNvPr id="16" name="Text 14"/>
          <p:cNvSpPr txBox="1"/>
          <p:nvPr/>
        </p:nvSpPr>
        <p:spPr>
          <a:xfrm>
            <a:off x="9966960" y="2176272"/>
            <a:ext cx="731520" cy="310896"/>
          </a:xfrm>
          <a:prstGeom prst="rect">
            <a:avLst/>
          </a:prstGeom>
          <a:noFill/>
          <a:ln/>
        </p:spPr>
        <p:txBody>
          <a:bodyPr wrap="square" lIns="0" tIns="0" rIns="0" bIns="0" rtlCol="0" anchor="ctr"/>
          <a:lstStyle/>
          <a:p>
            <a:pPr marL="0" indent="0" algn="r">
              <a:buNone/>
            </a:pPr>
            <a:r>
              <a:rPr lang="en-US" sz="1100" dirty="0">
                <a:solidFill>
                  <a:srgbClr val="FFFFFF"/>
                </a:solidFill>
                <a:latin typeface="Courier New" pitchFamily="34" charset="0"/>
                <a:ea typeface="Courier New" pitchFamily="34" charset="-122"/>
                <a:cs typeface="Courier New" pitchFamily="34" charset="-120"/>
              </a:rPr>
              <a:t>0</a:t>
            </a:r>
            <a:endParaRPr lang="en-US" sz="1100" dirty="0"/>
          </a:p>
        </p:txBody>
      </p:sp>
      <p:sp>
        <p:nvSpPr>
          <p:cNvPr id="17" name="chip"/>
          <p:cNvSpPr/>
          <p:nvPr/>
        </p:nvSpPr>
        <p:spPr>
          <a:xfrm>
            <a:off x="10826496" y="2203704"/>
            <a:ext cx="768096" cy="256032"/>
          </a:xfrm>
          <a:prstGeom prst="rect">
            <a:avLst/>
          </a:prstGeom>
          <a:solidFill>
            <a:srgbClr val="DA1E28"/>
          </a:solidFill>
          <a:ln w="12700">
            <a:solidFill>
              <a:srgbClr val="DA1E28"/>
            </a:solidFill>
            <a:prstDash val="solid"/>
          </a:ln>
        </p:spPr>
      </p:sp>
      <p:sp>
        <p:nvSpPr>
          <p:cNvPr id="18" name="Text 16"/>
          <p:cNvSpPr txBox="1"/>
          <p:nvPr/>
        </p:nvSpPr>
        <p:spPr>
          <a:xfrm>
            <a:off x="10826496" y="2203704"/>
            <a:ext cx="768096" cy="256032"/>
          </a:xfrm>
          <a:prstGeom prst="rect">
            <a:avLst/>
          </a:prstGeom>
          <a:noFill/>
          <a:ln/>
        </p:spPr>
        <p:txBody>
          <a:bodyPr wrap="square" lIns="0" tIns="0" rIns="0" bIns="0" rtlCol="0" anchor="ctr"/>
          <a:lstStyle/>
          <a:p>
            <a:pPr marL="0" indent="0" algn="ctr">
              <a:buNone/>
            </a:pPr>
            <a:r>
              <a:rPr lang="en-US" sz="850" b="1" kern="0" spc="80" dirty="0">
                <a:solidFill>
                  <a:srgbClr val="FFFFFF"/>
                </a:solidFill>
              </a:rPr>
              <a:t>TICKET</a:t>
            </a:r>
            <a:endParaRPr lang="en-US" sz="850" dirty="0"/>
          </a:p>
        </p:txBody>
      </p:sp>
      <p:sp>
        <p:nvSpPr>
          <p:cNvPr id="19" name="row"/>
          <p:cNvSpPr/>
          <p:nvPr/>
        </p:nvSpPr>
        <p:spPr>
          <a:xfrm>
            <a:off x="6364224" y="2651760"/>
            <a:ext cx="5376672" cy="475488"/>
          </a:xfrm>
          <a:prstGeom prst="rect">
            <a:avLst/>
          </a:prstGeom>
          <a:solidFill>
            <a:srgbClr val="2D0709"/>
          </a:solidFill>
          <a:ln w="12700">
            <a:solidFill>
              <a:srgbClr val="2D0709"/>
            </a:solidFill>
            <a:prstDash val="solid"/>
          </a:ln>
        </p:spPr>
      </p:sp>
      <p:sp>
        <p:nvSpPr>
          <p:cNvPr id="20" name="Text 18"/>
          <p:cNvSpPr txBox="1"/>
          <p:nvPr/>
        </p:nvSpPr>
        <p:spPr>
          <a:xfrm>
            <a:off x="6510528" y="2724912"/>
            <a:ext cx="2615184" cy="310896"/>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ACME.COMMERCE.QUEUE</a:t>
            </a:r>
            <a:endParaRPr lang="en-US" sz="1100" dirty="0"/>
          </a:p>
        </p:txBody>
      </p:sp>
      <p:sp>
        <p:nvSpPr>
          <p:cNvPr id="21" name="Text 19"/>
          <p:cNvSpPr txBox="1"/>
          <p:nvPr/>
        </p:nvSpPr>
        <p:spPr>
          <a:xfrm>
            <a:off x="9180576" y="2724912"/>
            <a:ext cx="731520" cy="310896"/>
          </a:xfrm>
          <a:prstGeom prst="rect">
            <a:avLst/>
          </a:prstGeom>
          <a:noFill/>
          <a:ln/>
        </p:spPr>
        <p:txBody>
          <a:bodyPr wrap="square" lIns="0" tIns="0" rIns="0" bIns="0" rtlCol="0" anchor="ctr"/>
          <a:lstStyle/>
          <a:p>
            <a:pPr marL="0" indent="0" algn="r">
              <a:buNone/>
            </a:pPr>
            <a:r>
              <a:rPr lang="en-US" sz="1100" dirty="0">
                <a:solidFill>
                  <a:srgbClr val="FFFFFF"/>
                </a:solidFill>
                <a:latin typeface="Courier New" pitchFamily="34" charset="0"/>
                <a:ea typeface="Courier New" pitchFamily="34" charset="-122"/>
                <a:cs typeface="Courier New" pitchFamily="34" charset="-120"/>
              </a:rPr>
              <a:t>3600</a:t>
            </a:r>
            <a:endParaRPr lang="en-US" sz="1100" dirty="0"/>
          </a:p>
        </p:txBody>
      </p:sp>
      <p:sp>
        <p:nvSpPr>
          <p:cNvPr id="22" name="Text 20"/>
          <p:cNvSpPr txBox="1"/>
          <p:nvPr/>
        </p:nvSpPr>
        <p:spPr>
          <a:xfrm>
            <a:off x="9966960" y="2724912"/>
            <a:ext cx="731520" cy="310896"/>
          </a:xfrm>
          <a:prstGeom prst="rect">
            <a:avLst/>
          </a:prstGeom>
          <a:noFill/>
          <a:ln/>
        </p:spPr>
        <p:txBody>
          <a:bodyPr wrap="square" lIns="0" tIns="0" rIns="0" bIns="0" rtlCol="0" anchor="ctr"/>
          <a:lstStyle/>
          <a:p>
            <a:pPr marL="0" indent="0" algn="r">
              <a:buNone/>
            </a:pPr>
            <a:r>
              <a:rPr lang="en-US" sz="1100" dirty="0">
                <a:solidFill>
                  <a:srgbClr val="FFFFFF"/>
                </a:solidFill>
                <a:latin typeface="Courier New" pitchFamily="34" charset="0"/>
                <a:ea typeface="Courier New" pitchFamily="34" charset="-122"/>
                <a:cs typeface="Courier New" pitchFamily="34" charset="-120"/>
              </a:rPr>
              <a:t>0</a:t>
            </a:r>
            <a:endParaRPr lang="en-US" sz="1100" dirty="0"/>
          </a:p>
        </p:txBody>
      </p:sp>
      <p:sp>
        <p:nvSpPr>
          <p:cNvPr id="23" name="chip"/>
          <p:cNvSpPr/>
          <p:nvPr/>
        </p:nvSpPr>
        <p:spPr>
          <a:xfrm>
            <a:off x="10826496" y="2752344"/>
            <a:ext cx="768096" cy="256032"/>
          </a:xfrm>
          <a:prstGeom prst="rect">
            <a:avLst/>
          </a:prstGeom>
          <a:solidFill>
            <a:srgbClr val="DA1E28"/>
          </a:solidFill>
          <a:ln w="12700">
            <a:solidFill>
              <a:srgbClr val="DA1E28"/>
            </a:solidFill>
            <a:prstDash val="solid"/>
          </a:ln>
        </p:spPr>
      </p:sp>
      <p:sp>
        <p:nvSpPr>
          <p:cNvPr id="24" name="Text 22"/>
          <p:cNvSpPr txBox="1"/>
          <p:nvPr/>
        </p:nvSpPr>
        <p:spPr>
          <a:xfrm>
            <a:off x="10826496" y="2752344"/>
            <a:ext cx="768096" cy="256032"/>
          </a:xfrm>
          <a:prstGeom prst="rect">
            <a:avLst/>
          </a:prstGeom>
          <a:noFill/>
          <a:ln/>
        </p:spPr>
        <p:txBody>
          <a:bodyPr wrap="square" lIns="0" tIns="0" rIns="0" bIns="0" rtlCol="0" anchor="ctr"/>
          <a:lstStyle/>
          <a:p>
            <a:pPr marL="0" indent="0" algn="ctr">
              <a:buNone/>
            </a:pPr>
            <a:r>
              <a:rPr lang="en-US" sz="850" b="1" kern="0" spc="80" dirty="0">
                <a:solidFill>
                  <a:srgbClr val="FFFFFF"/>
                </a:solidFill>
              </a:rPr>
              <a:t>TICKET</a:t>
            </a:r>
            <a:endParaRPr lang="en-US" sz="850" dirty="0"/>
          </a:p>
        </p:txBody>
      </p:sp>
      <p:sp>
        <p:nvSpPr>
          <p:cNvPr id="25" name="row"/>
          <p:cNvSpPr/>
          <p:nvPr/>
        </p:nvSpPr>
        <p:spPr>
          <a:xfrm>
            <a:off x="6364224" y="3200400"/>
            <a:ext cx="5376672" cy="475488"/>
          </a:xfrm>
          <a:prstGeom prst="rect">
            <a:avLst/>
          </a:prstGeom>
          <a:solidFill>
            <a:srgbClr val="1C1C1C"/>
          </a:solidFill>
          <a:ln w="12700">
            <a:solidFill>
              <a:srgbClr val="1C1C1C"/>
            </a:solidFill>
            <a:prstDash val="solid"/>
          </a:ln>
        </p:spPr>
      </p:sp>
      <p:sp>
        <p:nvSpPr>
          <p:cNvPr id="26" name="Text 24"/>
          <p:cNvSpPr txBox="1"/>
          <p:nvPr/>
        </p:nvSpPr>
        <p:spPr>
          <a:xfrm>
            <a:off x="6510528" y="3273552"/>
            <a:ext cx="2615184" cy="310896"/>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SYSTEM.DEFAULT.LOCAL.QUEUE</a:t>
            </a:r>
            <a:endParaRPr lang="en-US" sz="1100" dirty="0"/>
          </a:p>
        </p:txBody>
      </p:sp>
      <p:sp>
        <p:nvSpPr>
          <p:cNvPr id="27" name="Text 25"/>
          <p:cNvSpPr txBox="1"/>
          <p:nvPr/>
        </p:nvSpPr>
        <p:spPr>
          <a:xfrm>
            <a:off x="9180576" y="3273552"/>
            <a:ext cx="731520" cy="310896"/>
          </a:xfrm>
          <a:prstGeom prst="rect">
            <a:avLst/>
          </a:prstGeom>
          <a:noFill/>
          <a:ln/>
        </p:spPr>
        <p:txBody>
          <a:bodyPr wrap="square" lIns="0" tIns="0" rIns="0" bIns="0" rtlCol="0" anchor="ctr"/>
          <a:lstStyle/>
          <a:p>
            <a:pPr marL="0" indent="0" algn="r">
              <a:buNone/>
            </a:pPr>
            <a:r>
              <a:rPr lang="en-US" sz="1100" dirty="0">
                <a:solidFill>
                  <a:srgbClr val="FFFFFF"/>
                </a:solidFill>
                <a:latin typeface="Courier New" pitchFamily="34" charset="0"/>
                <a:ea typeface="Courier New" pitchFamily="34" charset="-122"/>
                <a:cs typeface="Courier New" pitchFamily="34" charset="-120"/>
              </a:rPr>
              <a:t>0</a:t>
            </a:r>
            <a:endParaRPr lang="en-US" sz="1100" dirty="0"/>
          </a:p>
        </p:txBody>
      </p:sp>
      <p:sp>
        <p:nvSpPr>
          <p:cNvPr id="28" name="Text 26"/>
          <p:cNvSpPr txBox="1"/>
          <p:nvPr/>
        </p:nvSpPr>
        <p:spPr>
          <a:xfrm>
            <a:off x="9966960" y="3273552"/>
            <a:ext cx="731520" cy="310896"/>
          </a:xfrm>
          <a:prstGeom prst="rect">
            <a:avLst/>
          </a:prstGeom>
          <a:noFill/>
          <a:ln/>
        </p:spPr>
        <p:txBody>
          <a:bodyPr wrap="square" lIns="0" tIns="0" rIns="0" bIns="0" rtlCol="0" anchor="ctr"/>
          <a:lstStyle/>
          <a:p>
            <a:pPr marL="0" indent="0" algn="r">
              <a:buNone/>
            </a:pPr>
            <a:r>
              <a:rPr lang="en-US" sz="1100" dirty="0">
                <a:solidFill>
                  <a:srgbClr val="FFFFFF"/>
                </a:solidFill>
                <a:latin typeface="Courier New" pitchFamily="34" charset="0"/>
                <a:ea typeface="Courier New" pitchFamily="34" charset="-122"/>
                <a:cs typeface="Courier New" pitchFamily="34" charset="-120"/>
              </a:rPr>
              <a:t>0</a:t>
            </a:r>
            <a:endParaRPr lang="en-US" sz="1100" dirty="0"/>
          </a:p>
        </p:txBody>
      </p:sp>
      <p:sp>
        <p:nvSpPr>
          <p:cNvPr id="29" name="Text 27"/>
          <p:cNvSpPr txBox="1"/>
          <p:nvPr/>
        </p:nvSpPr>
        <p:spPr>
          <a:xfrm>
            <a:off x="10826496" y="3273552"/>
            <a:ext cx="768096" cy="310896"/>
          </a:xfrm>
          <a:prstGeom prst="rect">
            <a:avLst/>
          </a:prstGeom>
          <a:noFill/>
          <a:ln/>
        </p:spPr>
        <p:txBody>
          <a:bodyPr wrap="square" lIns="0" tIns="0" rIns="0" bIns="0" rtlCol="0" anchor="ctr"/>
          <a:lstStyle/>
          <a:p>
            <a:pPr marL="0" indent="0" algn="ctr">
              <a:buNone/>
            </a:pPr>
            <a:r>
              <a:rPr lang="en-US" sz="1000" dirty="0">
                <a:solidFill>
                  <a:srgbClr val="6F6F6F"/>
                </a:solidFill>
                <a:latin typeface="Courier New" pitchFamily="34" charset="0"/>
                <a:ea typeface="Courier New" pitchFamily="34" charset="-122"/>
                <a:cs typeface="Courier New" pitchFamily="34" charset="-120"/>
              </a:rPr>
              <a:t>ok</a:t>
            </a:r>
            <a:endParaRPr lang="en-US" sz="1000" dirty="0"/>
          </a:p>
        </p:txBody>
      </p:sp>
      <p:sp>
        <p:nvSpPr>
          <p:cNvPr id="30" name="finding"/>
          <p:cNvSpPr/>
          <p:nvPr/>
        </p:nvSpPr>
        <p:spPr>
          <a:xfrm>
            <a:off x="6364224" y="3767328"/>
            <a:ext cx="5376672" cy="804672"/>
          </a:xfrm>
          <a:prstGeom prst="rect">
            <a:avLst/>
          </a:prstGeom>
          <a:solidFill>
            <a:srgbClr val="262626"/>
          </a:solidFill>
          <a:ln w="12700">
            <a:solidFill>
              <a:srgbClr val="262626"/>
            </a:solidFill>
            <a:prstDash val="solid"/>
          </a:ln>
        </p:spPr>
      </p:sp>
      <p:sp>
        <p:nvSpPr>
          <p:cNvPr id="31" name="Text 29"/>
          <p:cNvSpPr txBox="1"/>
          <p:nvPr/>
        </p:nvSpPr>
        <p:spPr>
          <a:xfrm>
            <a:off x="6601968" y="3931920"/>
            <a:ext cx="5010912" cy="512064"/>
          </a:xfrm>
          <a:prstGeom prst="rect">
            <a:avLst/>
          </a:prstGeom>
          <a:noFill/>
          <a:ln/>
        </p:spPr>
        <p:txBody>
          <a:bodyPr wrap="square" lIns="0" tIns="0" rIns="0" bIns="0" rtlCol="0" anchor="ctr"/>
          <a:lstStyle/>
          <a:p>
            <a:pPr marL="0" indent="0">
              <a:lnSpc>
                <a:spcPts val="1800"/>
              </a:lnSpc>
              <a:buNone/>
            </a:pPr>
            <a:r>
              <a:rPr lang="en-US" sz="1300" b="1" dirty="0">
                <a:solidFill>
                  <a:srgbClr val="FFFFFF"/>
                </a:solidFill>
              </a:rPr>
              <a:t>Two tickets, not one. </a:t>
            </a:r>
            <a:r>
              <a:rPr lang="en-US" sz="1300" dirty="0">
                <a:solidFill>
                  <a:srgbClr val="C6C6C6"/>
                </a:solidFill>
              </a:rPr>
              <a:t>The sweep found a queue we had not broken on purpose — stuck since last week.</a:t>
            </a:r>
            <a:endParaRPr lang="en-US" sz="1300" dirty="0"/>
          </a:p>
        </p:txBody>
      </p:sp>
      <p:sp>
        <p:nvSpPr>
          <p:cNvPr id="32" name="where"/>
          <p:cNvSpPr/>
          <p:nvPr/>
        </p:nvSpPr>
        <p:spPr>
          <a:xfrm>
            <a:off x="566928" y="4535424"/>
            <a:ext cx="5532120" cy="1188720"/>
          </a:xfrm>
          <a:prstGeom prst="rect">
            <a:avLst/>
          </a:prstGeom>
          <a:solidFill>
            <a:srgbClr val="262626"/>
          </a:solidFill>
          <a:ln w="12700">
            <a:solidFill>
              <a:srgbClr val="262626"/>
            </a:solidFill>
            <a:prstDash val="solid"/>
          </a:ln>
        </p:spPr>
      </p:sp>
      <p:sp>
        <p:nvSpPr>
          <p:cNvPr id="33" name="Text 31"/>
          <p:cNvSpPr txBox="1"/>
          <p:nvPr/>
        </p:nvSpPr>
        <p:spPr>
          <a:xfrm>
            <a:off x="804672" y="4718304"/>
            <a:ext cx="2743200" cy="237744"/>
          </a:xfrm>
          <a:prstGeom prst="rect">
            <a:avLst/>
          </a:prstGeom>
          <a:noFill/>
          <a:ln/>
        </p:spPr>
        <p:txBody>
          <a:bodyPr wrap="square" lIns="0" tIns="0" rIns="0" bIns="0" rtlCol="0" anchor="ctr"/>
          <a:lstStyle/>
          <a:p>
            <a:pPr marL="0" indent="0">
              <a:buNone/>
            </a:pPr>
            <a:r>
              <a:rPr lang="en-US" sz="950" kern="0" spc="140" dirty="0">
                <a:solidFill>
                  <a:srgbClr val="0F62FE"/>
                </a:solidFill>
                <a:latin typeface="Courier New" pitchFamily="34" charset="0"/>
                <a:ea typeface="Courier New" pitchFamily="34" charset="-122"/>
                <a:cs typeface="Courier New" pitchFamily="34" charset="-120"/>
              </a:rPr>
              <a:t>WHERE IT RUNS</a:t>
            </a:r>
            <a:endParaRPr lang="en-US" sz="950" dirty="0"/>
          </a:p>
        </p:txBody>
      </p:sp>
      <p:sp>
        <p:nvSpPr>
          <p:cNvPr id="34" name="Text 32"/>
          <p:cNvSpPr txBox="1"/>
          <p:nvPr/>
        </p:nvSpPr>
        <p:spPr>
          <a:xfrm>
            <a:off x="804672" y="4992624"/>
            <a:ext cx="5029200" cy="603504"/>
          </a:xfrm>
          <a:prstGeom prst="rect">
            <a:avLst/>
          </a:prstGeom>
          <a:noFill/>
          <a:ln/>
        </p:spPr>
        <p:txBody>
          <a:bodyPr wrap="square" lIns="0" tIns="0" rIns="0" bIns="0" rtlCol="0" anchor="ctr"/>
          <a:lstStyle/>
          <a:p>
            <a:pPr marL="0" indent="0">
              <a:lnSpc>
                <a:spcPts val="1700"/>
              </a:lnSpc>
              <a:buNone/>
            </a:pPr>
            <a:r>
              <a:rPr lang="en-US" sz="1250" dirty="0">
                <a:solidFill>
                  <a:srgbClr val="C6C6C6"/>
                </a:solidFill>
              </a:rPr>
              <a:t>One MQSC call per queue manager, on a schedule. The MQ Agent covers up to twenty queue managers; the sweep covers the same estate in one pass.</a:t>
            </a:r>
            <a:endParaRPr lang="en-US" sz="1250" dirty="0"/>
          </a:p>
        </p:txBody>
      </p:sp>
      <p:sp>
        <p:nvSpPr>
          <p:cNvPr id="35" name="Text 33"/>
          <p:cNvSpPr txBox="1"/>
          <p:nvPr/>
        </p:nvSpPr>
        <p:spPr>
          <a:xfrm>
            <a:off x="566928" y="5907024"/>
            <a:ext cx="9144000" cy="256032"/>
          </a:xfrm>
          <a:prstGeom prst="rect">
            <a:avLst/>
          </a:prstGeom>
          <a:noFill/>
          <a:ln/>
        </p:spPr>
        <p:txBody>
          <a:bodyPr wrap="square" lIns="0" tIns="0" rIns="0" bIns="0" rtlCol="0" anchor="ctr"/>
          <a:lstStyle/>
          <a:p>
            <a:pPr marL="0" indent="0">
              <a:buNone/>
            </a:pPr>
            <a:r>
              <a:rPr lang="en-US" sz="1000" dirty="0">
                <a:solidFill>
                  <a:srgbClr val="6F6F6F"/>
                </a:solidFill>
              </a:rPr>
              <a:t>Depths are live from QMS1.  No connected user applications — IBM MQ Console, Overview.</a:t>
            </a:r>
            <a:endParaRPr lang="en-US" sz="1000" dirty="0"/>
          </a:p>
        </p:txBody>
      </p:sp>
      <p:sp>
        <p:nvSpPr>
          <p:cNvPr id="36"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6F6F6F"/>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161616"/>
                </a:solidFill>
              </a:rPr>
              <a:t>The enhancement is one line</a:t>
            </a:r>
            <a:endParaRPr lang="en-US" sz="3200" dirty="0"/>
          </a:p>
        </p:txBody>
      </p:sp>
      <p:sp>
        <p:nvSpPr>
          <p:cNvPr id="3" name="ticket-raw"/>
          <p:cNvSpPr/>
          <p:nvPr/>
        </p:nvSpPr>
        <p:spPr>
          <a:xfrm>
            <a:off x="566928" y="1536192"/>
            <a:ext cx="5358384" cy="3255264"/>
          </a:xfrm>
          <a:prstGeom prst="rect">
            <a:avLst/>
          </a:prstGeom>
          <a:solidFill>
            <a:srgbClr val="F4F4F4"/>
          </a:solidFill>
          <a:ln w="12700">
            <a:solidFill>
              <a:srgbClr val="F4F4F4"/>
            </a:solidFill>
            <a:prstDash val="solid"/>
          </a:ln>
        </p:spPr>
      </p:sp>
      <p:sp>
        <p:nvSpPr>
          <p:cNvPr id="4" name="Text 2"/>
          <p:cNvSpPr txBox="1"/>
          <p:nvPr/>
        </p:nvSpPr>
        <p:spPr>
          <a:xfrm>
            <a:off x="841248" y="1737360"/>
            <a:ext cx="3657600" cy="237744"/>
          </a:xfrm>
          <a:prstGeom prst="rect">
            <a:avLst/>
          </a:prstGeom>
          <a:noFill/>
          <a:ln/>
        </p:spPr>
        <p:txBody>
          <a:bodyPr wrap="square" lIns="0" tIns="0" rIns="0" bIns="0" rtlCol="0" anchor="ctr"/>
          <a:lstStyle/>
          <a:p>
            <a:pPr marL="0" indent="0">
              <a:buNone/>
            </a:pPr>
            <a:r>
              <a:rPr lang="en-US" sz="950" kern="0" spc="140" dirty="0">
                <a:solidFill>
                  <a:srgbClr val="6F6F6F"/>
                </a:solidFill>
                <a:latin typeface="Courier New" pitchFamily="34" charset="0"/>
                <a:ea typeface="Courier New" pitchFamily="34" charset="-122"/>
                <a:cs typeface="Courier New" pitchFamily="34" charset="-120"/>
              </a:rPr>
              <a:t>TICKET AS RAISED</a:t>
            </a:r>
            <a:endParaRPr lang="en-US" sz="950" dirty="0"/>
          </a:p>
        </p:txBody>
      </p:sp>
      <p:sp>
        <p:nvSpPr>
          <p:cNvPr id="5" name="Text 3"/>
          <p:cNvSpPr txBox="1"/>
          <p:nvPr/>
        </p:nvSpPr>
        <p:spPr>
          <a:xfrm>
            <a:off x="841248" y="2084832"/>
            <a:ext cx="4809744" cy="2103120"/>
          </a:xfrm>
          <a:prstGeom prst="rect">
            <a:avLst/>
          </a:prstGeom>
          <a:noFill/>
          <a:ln/>
        </p:spPr>
        <p:txBody>
          <a:bodyPr wrap="square" lIns="0" tIns="0" rIns="0" bIns="0" rtlCol="0" anchor="t"/>
          <a:lstStyle/>
          <a:p>
            <a:pPr marL="0" indent="0">
              <a:lnSpc>
                <a:spcPts val="2100"/>
              </a:lnSpc>
              <a:buNone/>
            </a:pPr>
            <a:r>
              <a:rPr lang="en-US" sz="1250" dirty="0">
                <a:solidFill>
                  <a:srgbClr val="8D8D8D"/>
                </a:solidFill>
                <a:latin typeface="Courier New" pitchFamily="34" charset="0"/>
                <a:ea typeface="Courier New" pitchFamily="34" charset="-122"/>
                <a:cs typeface="Courier New" pitchFamily="34" charset="-120"/>
              </a:rPr>
              <a:t>ID        </a:t>
            </a:r>
            <a:r>
              <a:rPr lang="en-US" sz="1250" dirty="0">
                <a:solidFill>
                  <a:srgbClr val="161616"/>
                </a:solidFill>
                <a:latin typeface="Courier New" pitchFamily="34" charset="0"/>
                <a:ea typeface="Courier New" pitchFamily="34" charset="-122"/>
                <a:cs typeface="Courier New" pitchFamily="34" charset="-120"/>
              </a:rPr>
              <a:t>INC-0042
</a:t>
            </a:r>
            <a:r>
              <a:rPr lang="en-US" sz="1250" dirty="0">
                <a:solidFill>
                  <a:srgbClr val="8D8D8D"/>
                </a:solidFill>
                <a:latin typeface="Courier New" pitchFamily="34" charset="0"/>
                <a:ea typeface="Courier New" pitchFamily="34" charset="-122"/>
                <a:cs typeface="Courier New" pitchFamily="34" charset="-120"/>
              </a:rPr>
              <a:t>SOURCE    </a:t>
            </a:r>
            <a:r>
              <a:rPr lang="en-US" sz="1250" dirty="0">
                <a:solidFill>
                  <a:srgbClr val="161616"/>
                </a:solidFill>
                <a:latin typeface="Courier New" pitchFamily="34" charset="0"/>
                <a:ea typeface="Courier New" pitchFamily="34" charset="-122"/>
                <a:cs typeface="Courier New" pitchFamily="34" charset="-120"/>
              </a:rPr>
              <a:t>qstatus sweep
</a:t>
            </a:r>
            <a:r>
              <a:rPr lang="en-US" sz="1250" dirty="0">
                <a:solidFill>
                  <a:srgbClr val="8D8D8D"/>
                </a:solidFill>
                <a:latin typeface="Courier New" pitchFamily="34" charset="0"/>
                <a:ea typeface="Courier New" pitchFamily="34" charset="-122"/>
                <a:cs typeface="Courier New" pitchFamily="34" charset="-120"/>
              </a:rPr>
              <a:t>QMGR      </a:t>
            </a:r>
            <a:r>
              <a:rPr lang="en-US" sz="1250" dirty="0">
                <a:solidFill>
                  <a:srgbClr val="161616"/>
                </a:solidFill>
                <a:latin typeface="Courier New" pitchFamily="34" charset="0"/>
                <a:ea typeface="Courier New" pitchFamily="34" charset="-122"/>
                <a:cs typeface="Courier New" pitchFamily="34" charset="-120"/>
              </a:rPr>
              <a:t>QMS1
</a:t>
            </a:r>
            <a:r>
              <a:rPr lang="en-US" sz="1250" dirty="0">
                <a:solidFill>
                  <a:srgbClr val="8D8D8D"/>
                </a:solidFill>
                <a:latin typeface="Courier New" pitchFamily="34" charset="0"/>
                <a:ea typeface="Courier New" pitchFamily="34" charset="-122"/>
                <a:cs typeface="Courier New" pitchFamily="34" charset="-120"/>
              </a:rPr>
              <a:t>QUEUE     </a:t>
            </a:r>
            <a:r>
              <a:rPr lang="en-US" sz="1250" dirty="0">
                <a:solidFill>
                  <a:srgbClr val="161616"/>
                </a:solidFill>
                <a:latin typeface="Courier New" pitchFamily="34" charset="0"/>
                <a:ea typeface="Courier New" pitchFamily="34" charset="-122"/>
                <a:cs typeface="Courier New" pitchFamily="34" charset="-120"/>
              </a:rPr>
              <a:t>ACME.APPDATA.QUEUE
</a:t>
            </a:r>
            <a:r>
              <a:rPr lang="en-US" sz="1250" dirty="0">
                <a:solidFill>
                  <a:srgbClr val="8D8D8D"/>
                </a:solidFill>
                <a:latin typeface="Courier New" pitchFamily="34" charset="0"/>
                <a:ea typeface="Courier New" pitchFamily="34" charset="-122"/>
                <a:cs typeface="Courier New" pitchFamily="34" charset="-120"/>
              </a:rPr>
              <a:t>CURDEPTH  </a:t>
            </a:r>
            <a:r>
              <a:rPr lang="en-US" sz="1250" dirty="0">
                <a:solidFill>
                  <a:srgbClr val="161616"/>
                </a:solidFill>
                <a:latin typeface="Courier New" pitchFamily="34" charset="0"/>
                <a:ea typeface="Courier New" pitchFamily="34" charset="-122"/>
                <a:cs typeface="Courier New" pitchFamily="34" charset="-120"/>
              </a:rPr>
              <a:t>850
</a:t>
            </a:r>
            <a:r>
              <a:rPr lang="en-US" sz="1250" dirty="0">
                <a:solidFill>
                  <a:srgbClr val="8D8D8D"/>
                </a:solidFill>
                <a:latin typeface="Courier New" pitchFamily="34" charset="0"/>
                <a:ea typeface="Courier New" pitchFamily="34" charset="-122"/>
                <a:cs typeface="Courier New" pitchFamily="34" charset="-120"/>
              </a:rPr>
              <a:t>IPPROCS   </a:t>
            </a:r>
            <a:r>
              <a:rPr lang="en-US" sz="1250" dirty="0">
                <a:solidFill>
                  <a:srgbClr val="161616"/>
                </a:solidFill>
                <a:latin typeface="Courier New" pitchFamily="34" charset="0"/>
                <a:ea typeface="Courier New" pitchFamily="34" charset="-122"/>
                <a:cs typeface="Courier New" pitchFamily="34" charset="-120"/>
              </a:rPr>
              <a:t>0
</a:t>
            </a:r>
            <a:r>
              <a:rPr lang="en-US" sz="1250" dirty="0">
                <a:solidFill>
                  <a:srgbClr val="8D8D8D"/>
                </a:solidFill>
                <a:latin typeface="Courier New" pitchFamily="34" charset="0"/>
                <a:ea typeface="Courier New" pitchFamily="34" charset="-122"/>
                <a:cs typeface="Courier New" pitchFamily="34" charset="-120"/>
              </a:rPr>
              <a:t>SEVERITY  </a:t>
            </a:r>
            <a:r>
              <a:rPr lang="en-US" sz="1250" dirty="0">
                <a:solidFill>
                  <a:srgbClr val="161616"/>
                </a:solidFill>
                <a:latin typeface="Courier New" pitchFamily="34" charset="0"/>
                <a:ea typeface="Courier New" pitchFamily="34" charset="-122"/>
                <a:cs typeface="Courier New" pitchFamily="34" charset="-120"/>
              </a:rPr>
              <a:t>High</a:t>
            </a:r>
            <a:endParaRPr lang="en-US" sz="1250" dirty="0"/>
          </a:p>
        </p:txBody>
      </p:sp>
      <p:sp>
        <p:nvSpPr>
          <p:cNvPr id="6" name="Text 4"/>
          <p:cNvSpPr txBox="1"/>
          <p:nvPr/>
        </p:nvSpPr>
        <p:spPr>
          <a:xfrm>
            <a:off x="841248" y="4315968"/>
            <a:ext cx="4809744" cy="274320"/>
          </a:xfrm>
          <a:prstGeom prst="rect">
            <a:avLst/>
          </a:prstGeom>
          <a:noFill/>
          <a:ln/>
        </p:spPr>
        <p:txBody>
          <a:bodyPr wrap="square" lIns="0" tIns="0" rIns="0" bIns="0" rtlCol="0" anchor="ctr"/>
          <a:lstStyle/>
          <a:p>
            <a:pPr marL="0" indent="0">
              <a:buNone/>
            </a:pPr>
            <a:r>
              <a:rPr lang="en-US" sz="1200" i="1" dirty="0">
                <a:solidFill>
                  <a:srgbClr val="6F6F6F"/>
                </a:solidFill>
              </a:rPr>
              <a:t>Accurate, and useless to an agent.</a:t>
            </a:r>
            <a:endParaRPr lang="en-US" sz="1200" dirty="0"/>
          </a:p>
        </p:txBody>
      </p:sp>
      <p:sp>
        <p:nvSpPr>
          <p:cNvPr id="7" name="arrow"/>
          <p:cNvSpPr/>
          <p:nvPr/>
        </p:nvSpPr>
        <p:spPr>
          <a:xfrm>
            <a:off x="5971032" y="3163824"/>
            <a:ext cx="219456" cy="0"/>
          </a:xfrm>
          <a:prstGeom prst="line">
            <a:avLst/>
          </a:prstGeom>
          <a:noFill/>
          <a:ln w="31750">
            <a:solidFill>
              <a:srgbClr val="161616"/>
            </a:solidFill>
            <a:prstDash val="solid"/>
            <a:tailEnd type="triangle"/>
          </a:ln>
        </p:spPr>
      </p:sp>
      <p:sp>
        <p:nvSpPr>
          <p:cNvPr id="8" name="ticket-enhanced"/>
          <p:cNvSpPr/>
          <p:nvPr/>
        </p:nvSpPr>
        <p:spPr>
          <a:xfrm>
            <a:off x="6236208" y="1536192"/>
            <a:ext cx="5358384" cy="3255264"/>
          </a:xfrm>
          <a:prstGeom prst="rect">
            <a:avLst/>
          </a:prstGeom>
          <a:solidFill>
            <a:srgbClr val="EDF5FF"/>
          </a:solidFill>
          <a:ln w="19050">
            <a:solidFill>
              <a:srgbClr val="0F62FE"/>
            </a:solidFill>
            <a:prstDash val="solid"/>
          </a:ln>
        </p:spPr>
      </p:sp>
      <p:sp>
        <p:nvSpPr>
          <p:cNvPr id="9" name="Text 7"/>
          <p:cNvSpPr txBox="1"/>
          <p:nvPr/>
        </p:nvSpPr>
        <p:spPr>
          <a:xfrm>
            <a:off x="6510528" y="1737360"/>
            <a:ext cx="3657600" cy="237744"/>
          </a:xfrm>
          <a:prstGeom prst="rect">
            <a:avLst/>
          </a:prstGeom>
          <a:noFill/>
          <a:ln/>
        </p:spPr>
        <p:txBody>
          <a:bodyPr wrap="square" lIns="0" tIns="0" rIns="0" bIns="0" rtlCol="0" anchor="ctr"/>
          <a:lstStyle/>
          <a:p>
            <a:pPr marL="0" indent="0">
              <a:buNone/>
            </a:pPr>
            <a:r>
              <a:rPr lang="en-US" sz="950" kern="0" spc="140" dirty="0">
                <a:solidFill>
                  <a:srgbClr val="0043CE"/>
                </a:solidFill>
                <a:latin typeface="Courier New" pitchFamily="34" charset="0"/>
                <a:ea typeface="Courier New" pitchFamily="34" charset="-122"/>
                <a:cs typeface="Courier New" pitchFamily="34" charset="-120"/>
              </a:rPr>
              <a:t>AFTER THE ENHANCER</a:t>
            </a:r>
            <a:endParaRPr lang="en-US" sz="950" dirty="0"/>
          </a:p>
        </p:txBody>
      </p:sp>
      <p:sp>
        <p:nvSpPr>
          <p:cNvPr id="10" name="Text 8"/>
          <p:cNvSpPr txBox="1"/>
          <p:nvPr/>
        </p:nvSpPr>
        <p:spPr>
          <a:xfrm>
            <a:off x="6510528" y="2084832"/>
            <a:ext cx="4809744" cy="1225296"/>
          </a:xfrm>
          <a:prstGeom prst="rect">
            <a:avLst/>
          </a:prstGeom>
          <a:noFill/>
          <a:ln/>
        </p:spPr>
        <p:txBody>
          <a:bodyPr wrap="square" lIns="0" tIns="0" rIns="0" bIns="0" rtlCol="0" anchor="t"/>
          <a:lstStyle/>
          <a:p>
            <a:pPr marL="0" indent="0">
              <a:lnSpc>
                <a:spcPts val="2100"/>
              </a:lnSpc>
              <a:buNone/>
            </a:pPr>
            <a:r>
              <a:rPr lang="en-US" sz="1250" dirty="0">
                <a:solidFill>
                  <a:srgbClr val="8D8D8D"/>
                </a:solidFill>
                <a:latin typeface="Courier New" pitchFamily="34" charset="0"/>
                <a:ea typeface="Courier New" pitchFamily="34" charset="-122"/>
                <a:cs typeface="Courier New" pitchFamily="34" charset="-120"/>
              </a:rPr>
              <a:t>ID        </a:t>
            </a:r>
            <a:r>
              <a:rPr lang="en-US" sz="1250" dirty="0">
                <a:solidFill>
                  <a:srgbClr val="4D5358"/>
                </a:solidFill>
                <a:latin typeface="Courier New" pitchFamily="34" charset="0"/>
                <a:ea typeface="Courier New" pitchFamily="34" charset="-122"/>
                <a:cs typeface="Courier New" pitchFamily="34" charset="-120"/>
              </a:rPr>
              <a:t>INC-0042
</a:t>
            </a:r>
            <a:r>
              <a:rPr lang="en-US" sz="1250" dirty="0">
                <a:solidFill>
                  <a:srgbClr val="8D8D8D"/>
                </a:solidFill>
                <a:latin typeface="Courier New" pitchFamily="34" charset="0"/>
                <a:ea typeface="Courier New" pitchFamily="34" charset="-122"/>
                <a:cs typeface="Courier New" pitchFamily="34" charset="-120"/>
              </a:rPr>
              <a:t>QMGR      </a:t>
            </a:r>
            <a:r>
              <a:rPr lang="en-US" sz="1250" dirty="0">
                <a:solidFill>
                  <a:srgbClr val="4D5358"/>
                </a:solidFill>
                <a:latin typeface="Courier New" pitchFamily="34" charset="0"/>
                <a:ea typeface="Courier New" pitchFamily="34" charset="-122"/>
                <a:cs typeface="Courier New" pitchFamily="34" charset="-120"/>
              </a:rPr>
              <a:t>QMS1
</a:t>
            </a:r>
            <a:r>
              <a:rPr lang="en-US" sz="1250" dirty="0">
                <a:solidFill>
                  <a:srgbClr val="8D8D8D"/>
                </a:solidFill>
                <a:latin typeface="Courier New" pitchFamily="34" charset="0"/>
                <a:ea typeface="Courier New" pitchFamily="34" charset="-122"/>
                <a:cs typeface="Courier New" pitchFamily="34" charset="-120"/>
              </a:rPr>
              <a:t>QUEUE     </a:t>
            </a:r>
            <a:r>
              <a:rPr lang="en-US" sz="1250" dirty="0">
                <a:solidFill>
                  <a:srgbClr val="4D5358"/>
                </a:solidFill>
                <a:latin typeface="Courier New" pitchFamily="34" charset="0"/>
                <a:ea typeface="Courier New" pitchFamily="34" charset="-122"/>
                <a:cs typeface="Courier New" pitchFamily="34" charset="-120"/>
              </a:rPr>
              <a:t>ACME.APPDATA.QUEUE
</a:t>
            </a:r>
            <a:r>
              <a:rPr lang="en-US" sz="1250" dirty="0">
                <a:solidFill>
                  <a:srgbClr val="8D8D8D"/>
                </a:solidFill>
                <a:latin typeface="Courier New" pitchFamily="34" charset="0"/>
                <a:ea typeface="Courier New" pitchFamily="34" charset="-122"/>
                <a:cs typeface="Courier New" pitchFamily="34" charset="-120"/>
              </a:rPr>
              <a:t>CURDEPTH  </a:t>
            </a:r>
            <a:r>
              <a:rPr lang="en-US" sz="1250" dirty="0">
                <a:solidFill>
                  <a:srgbClr val="4D5358"/>
                </a:solidFill>
                <a:latin typeface="Courier New" pitchFamily="34" charset="0"/>
                <a:ea typeface="Courier New" pitchFamily="34" charset="-122"/>
                <a:cs typeface="Courier New" pitchFamily="34" charset="-120"/>
              </a:rPr>
              <a:t>850
</a:t>
            </a:r>
            <a:endParaRPr lang="en-US" sz="1250" dirty="0"/>
          </a:p>
        </p:txBody>
      </p:sp>
      <p:sp>
        <p:nvSpPr>
          <p:cNvPr id="11" name="code-block"/>
          <p:cNvSpPr/>
          <p:nvPr/>
        </p:nvSpPr>
        <p:spPr>
          <a:xfrm>
            <a:off x="6510528" y="3291840"/>
            <a:ext cx="4809744" cy="950976"/>
          </a:xfrm>
          <a:prstGeom prst="rect">
            <a:avLst/>
          </a:prstGeom>
          <a:solidFill>
            <a:srgbClr val="262626"/>
          </a:solidFill>
          <a:ln w="12700">
            <a:solidFill>
              <a:srgbClr val="262626"/>
            </a:solidFill>
            <a:prstDash val="solid"/>
          </a:ln>
        </p:spPr>
      </p:sp>
      <p:sp>
        <p:nvSpPr>
          <p:cNvPr id="12" name="Text 10"/>
          <p:cNvSpPr txBox="1"/>
          <p:nvPr/>
        </p:nvSpPr>
        <p:spPr>
          <a:xfrm>
            <a:off x="6711696" y="3438144"/>
            <a:ext cx="4407408" cy="658368"/>
          </a:xfrm>
          <a:prstGeom prst="rect">
            <a:avLst/>
          </a:prstGeom>
          <a:noFill/>
          <a:ln/>
        </p:spPr>
        <p:txBody>
          <a:bodyPr wrap="square" lIns="0" tIns="0" rIns="0" bIns="0" rtlCol="0" anchor="t"/>
          <a:lstStyle/>
          <a:p>
            <a:pPr marL="0" indent="0">
              <a:lnSpc>
                <a:spcPts val="1740"/>
              </a:lnSpc>
              <a:buNone/>
            </a:pPr>
            <a:r>
              <a:rPr lang="en-US" sz="1200" dirty="0">
                <a:solidFill>
                  <a:srgbClr val="78A9FF"/>
                </a:solidFill>
                <a:latin typeface="Courier New" pitchFamily="34" charset="0"/>
                <a:ea typeface="Courier New" pitchFamily="34" charset="-122"/>
                <a:cs typeface="Courier New" pitchFamily="34" charset="-120"/>
              </a:rPr>
              <a:t>INSTRUCTION
</a:t>
            </a:r>
            <a:r>
              <a:rPr lang="en-US" sz="1200" b="1" dirty="0">
                <a:solidFill>
                  <a:srgbClr val="FFFFFF"/>
                </a:solidFill>
                <a:latin typeface="Courier New" pitchFamily="34" charset="0"/>
                <a:ea typeface="Courier New" pitchFamily="34" charset="-122"/>
                <a:cs typeface="Courier New" pitchFamily="34" charset="-120"/>
              </a:rPr>
              <a:t>Diagnose Q ACME.APPDATA.QUEUE</a:t>
            </a:r>
            <a:endParaRPr lang="en-US" sz="1200" dirty="0"/>
          </a:p>
          <a:p>
            <a:pPr marL="0" indent="0">
              <a:lnSpc>
                <a:spcPts val="1740"/>
              </a:lnSpc>
              <a:buNone/>
            </a:pPr>
            <a:r>
              <a:rPr lang="en-US" sz="1200" b="1" dirty="0">
                <a:solidFill>
                  <a:srgbClr val="FFFFFF"/>
                </a:solidFill>
                <a:latin typeface="Courier New" pitchFamily="34" charset="0"/>
                <a:ea typeface="Courier New" pitchFamily="34" charset="-122"/>
                <a:cs typeface="Courier New" pitchFamily="34" charset="-120"/>
              </a:rPr>
              <a:t>on Q Manager QMS1</a:t>
            </a:r>
            <a:endParaRPr lang="en-US" sz="1200" dirty="0"/>
          </a:p>
        </p:txBody>
      </p:sp>
      <p:sp>
        <p:nvSpPr>
          <p:cNvPr id="13" name="Text 11"/>
          <p:cNvSpPr txBox="1"/>
          <p:nvPr/>
        </p:nvSpPr>
        <p:spPr>
          <a:xfrm>
            <a:off x="6510528" y="4315968"/>
            <a:ext cx="4809744" cy="274320"/>
          </a:xfrm>
          <a:prstGeom prst="rect">
            <a:avLst/>
          </a:prstGeom>
          <a:noFill/>
          <a:ln/>
        </p:spPr>
        <p:txBody>
          <a:bodyPr wrap="square" lIns="0" tIns="0" rIns="0" bIns="0" rtlCol="0" anchor="ctr"/>
          <a:lstStyle/>
          <a:p>
            <a:pPr marL="0" indent="0">
              <a:buNone/>
            </a:pPr>
            <a:r>
              <a:rPr lang="en-US" sz="1200" i="1" dirty="0">
                <a:solidFill>
                  <a:srgbClr val="0043CE"/>
                </a:solidFill>
              </a:rPr>
              <a:t>Two field substitutions. That is the whole enhancer.</a:t>
            </a:r>
            <a:endParaRPr lang="en-US" sz="1200" dirty="0"/>
          </a:p>
        </p:txBody>
      </p:sp>
      <p:sp>
        <p:nvSpPr>
          <p:cNvPr id="14" name="template"/>
          <p:cNvSpPr/>
          <p:nvPr/>
        </p:nvSpPr>
        <p:spPr>
          <a:xfrm>
            <a:off x="566928" y="5029200"/>
            <a:ext cx="11027664" cy="786384"/>
          </a:xfrm>
          <a:prstGeom prst="rect">
            <a:avLst/>
          </a:prstGeom>
          <a:solidFill>
            <a:srgbClr val="F4F4F4"/>
          </a:solidFill>
          <a:ln w="12700">
            <a:solidFill>
              <a:srgbClr val="F4F4F4"/>
            </a:solidFill>
            <a:prstDash val="solid"/>
          </a:ln>
        </p:spPr>
      </p:sp>
      <p:sp>
        <p:nvSpPr>
          <p:cNvPr id="15" name="Text 13"/>
          <p:cNvSpPr txBox="1"/>
          <p:nvPr/>
        </p:nvSpPr>
        <p:spPr>
          <a:xfrm>
            <a:off x="841248" y="5029200"/>
            <a:ext cx="10479024" cy="786384"/>
          </a:xfrm>
          <a:prstGeom prst="rect">
            <a:avLst/>
          </a:prstGeom>
          <a:noFill/>
          <a:ln/>
        </p:spPr>
        <p:txBody>
          <a:bodyPr wrap="square" lIns="0" tIns="0" rIns="0" bIns="0" rtlCol="0" anchor="ctr"/>
          <a:lstStyle/>
          <a:p>
            <a:pPr marL="0" indent="0">
              <a:buNone/>
            </a:pPr>
            <a:r>
              <a:rPr lang="en-US" sz="1400" dirty="0">
                <a:solidFill>
                  <a:srgbClr val="6F6F6F"/>
                </a:solidFill>
                <a:latin typeface="Arial" pitchFamily="34" charset="0"/>
                <a:ea typeface="Arial" pitchFamily="34" charset="-122"/>
                <a:cs typeface="Arial" pitchFamily="34" charset="-120"/>
              </a:rPr>
              <a:t>Template:   </a:t>
            </a:r>
            <a:r>
              <a:rPr lang="en-US" sz="1400" dirty="0">
                <a:solidFill>
                  <a:srgbClr val="161616"/>
                </a:solidFill>
                <a:latin typeface="Courier New" pitchFamily="34" charset="0"/>
                <a:ea typeface="Courier New" pitchFamily="34" charset="-122"/>
                <a:cs typeface="Courier New" pitchFamily="34" charset="-120"/>
              </a:rPr>
              <a:t>Diagnose Q </a:t>
            </a:r>
            <a:r>
              <a:rPr lang="en-US" sz="1400" b="1" dirty="0">
                <a:solidFill>
                  <a:srgbClr val="0F62FE"/>
                </a:solidFill>
                <a:latin typeface="Courier New" pitchFamily="34" charset="0"/>
                <a:ea typeface="Courier New" pitchFamily="34" charset="-122"/>
                <a:cs typeface="Courier New" pitchFamily="34" charset="-120"/>
              </a:rPr>
              <a:t>&lt;queue from ticket&gt;</a:t>
            </a:r>
            <a:r>
              <a:rPr lang="en-US" sz="1400" dirty="0">
                <a:solidFill>
                  <a:srgbClr val="161616"/>
                </a:solidFill>
                <a:latin typeface="Courier New" pitchFamily="34" charset="0"/>
                <a:ea typeface="Courier New" pitchFamily="34" charset="-122"/>
                <a:cs typeface="Courier New" pitchFamily="34" charset="-120"/>
              </a:rPr>
              <a:t> on Q Manager </a:t>
            </a:r>
            <a:r>
              <a:rPr lang="en-US" sz="1400" b="1" dirty="0">
                <a:solidFill>
                  <a:srgbClr val="0F62FE"/>
                </a:solidFill>
                <a:latin typeface="Courier New" pitchFamily="34" charset="0"/>
                <a:ea typeface="Courier New" pitchFamily="34" charset="-122"/>
                <a:cs typeface="Courier New" pitchFamily="34" charset="-120"/>
              </a:rPr>
              <a:t>&lt;queue manager from ticket&gt;</a:t>
            </a:r>
            <a:endParaRPr lang="en-US" sz="1400" dirty="0"/>
          </a:p>
        </p:txBody>
      </p:sp>
      <p:sp>
        <p:nvSpPr>
          <p:cNvPr id="2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A8A8A8"/>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FFFFFF"/>
                </a:solidFill>
              </a:rPr>
              <a:t>The answer</a:t>
            </a:r>
            <a:endParaRPr lang="en-US" sz="3200" dirty="0"/>
          </a:p>
        </p:txBody>
      </p:sp>
      <p:sp>
        <p:nvSpPr>
          <p:cNvPr id="3" name="chip"/>
          <p:cNvSpPr/>
          <p:nvPr/>
        </p:nvSpPr>
        <p:spPr>
          <a:xfrm>
            <a:off x="3291840" y="502920"/>
            <a:ext cx="1371600" cy="310896"/>
          </a:xfrm>
          <a:prstGeom prst="rect">
            <a:avLst/>
          </a:prstGeom>
          <a:solidFill>
            <a:srgbClr val="DA1E28"/>
          </a:solidFill>
          <a:ln w="12700">
            <a:solidFill>
              <a:srgbClr val="DA1E28"/>
            </a:solidFill>
            <a:prstDash val="solid"/>
          </a:ln>
        </p:spPr>
      </p:sp>
      <p:sp>
        <p:nvSpPr>
          <p:cNvPr id="4" name="Text 2"/>
          <p:cNvSpPr txBox="1"/>
          <p:nvPr/>
        </p:nvSpPr>
        <p:spPr>
          <a:xfrm>
            <a:off x="3291840" y="502920"/>
            <a:ext cx="1371600" cy="310896"/>
          </a:xfrm>
          <a:prstGeom prst="rect">
            <a:avLst/>
          </a:prstGeom>
          <a:noFill/>
          <a:ln/>
        </p:spPr>
        <p:txBody>
          <a:bodyPr wrap="square" lIns="0" tIns="0" rIns="0" bIns="0" rtlCol="0" anchor="ctr"/>
          <a:lstStyle/>
          <a:p>
            <a:pPr marL="0" indent="0" algn="ctr">
              <a:buNone/>
            </a:pPr>
            <a:r>
              <a:rPr lang="en-US" sz="900" b="1" kern="0" spc="80" dirty="0">
                <a:solidFill>
                  <a:srgbClr val="FFFFFF"/>
                </a:solidFill>
              </a:rPr>
              <a:t>SEVERITY HIGH</a:t>
            </a:r>
            <a:endParaRPr lang="en-US" sz="900" dirty="0"/>
          </a:p>
        </p:txBody>
      </p:sp>
      <p:sp>
        <p:nvSpPr>
          <p:cNvPr id="5" name="Text 3"/>
          <p:cNvSpPr txBox="1"/>
          <p:nvPr/>
        </p:nvSpPr>
        <p:spPr>
          <a:xfrm>
            <a:off x="566928" y="1389888"/>
            <a:ext cx="2743200" cy="219456"/>
          </a:xfrm>
          <a:prstGeom prst="rect">
            <a:avLst/>
          </a:prstGeom>
          <a:noFill/>
          <a:ln/>
        </p:spPr>
        <p:txBody>
          <a:bodyPr wrap="square" lIns="0" tIns="0" rIns="0" bIns="0" rtlCol="0" anchor="ctr"/>
          <a:lstStyle/>
          <a:p>
            <a:pPr marL="0" indent="0">
              <a:buNone/>
            </a:pPr>
            <a:r>
              <a:rPr lang="en-US" sz="950" kern="0" spc="140" dirty="0">
                <a:solidFill>
                  <a:srgbClr val="DA1E28"/>
                </a:solidFill>
                <a:latin typeface="Courier New" pitchFamily="34" charset="0"/>
                <a:ea typeface="Courier New" pitchFamily="34" charset="-122"/>
                <a:cs typeface="Courier New" pitchFamily="34" charset="-120"/>
              </a:rPr>
              <a:t>PRIMARY ISSUE</a:t>
            </a:r>
            <a:endParaRPr lang="en-US" sz="950" dirty="0"/>
          </a:p>
        </p:txBody>
      </p:sp>
      <p:sp>
        <p:nvSpPr>
          <p:cNvPr id="6" name="Text 4"/>
          <p:cNvSpPr txBox="1"/>
          <p:nvPr/>
        </p:nvSpPr>
        <p:spPr>
          <a:xfrm>
            <a:off x="566928" y="1645920"/>
            <a:ext cx="6492240" cy="603504"/>
          </a:xfrm>
          <a:prstGeom prst="rect">
            <a:avLst/>
          </a:prstGeom>
          <a:noFill/>
          <a:ln/>
        </p:spPr>
        <p:txBody>
          <a:bodyPr wrap="square" lIns="0" tIns="0" rIns="0" bIns="0" rtlCol="0" anchor="ctr"/>
          <a:lstStyle/>
          <a:p>
            <a:pPr marL="0" indent="0">
              <a:lnSpc>
                <a:spcPts val="2400"/>
              </a:lnSpc>
              <a:buNone/>
            </a:pPr>
            <a:r>
              <a:rPr lang="en-US" sz="1700" b="1" dirty="0">
                <a:solidFill>
                  <a:srgbClr val="FFFFFF"/>
                </a:solidFill>
              </a:rPr>
              <a:t>The queue is GET-DISABLED, so applications cannot retrieve messages. This is why the depth is growing.</a:t>
            </a:r>
            <a:endParaRPr lang="en-US" sz="1700" dirty="0"/>
          </a:p>
        </p:txBody>
      </p:sp>
      <p:sp>
        <p:nvSpPr>
          <p:cNvPr id="7" name="Text 5"/>
          <p:cNvSpPr txBox="1"/>
          <p:nvPr/>
        </p:nvSpPr>
        <p:spPr>
          <a:xfrm>
            <a:off x="566928" y="2395728"/>
            <a:ext cx="2743200" cy="219456"/>
          </a:xfrm>
          <a:prstGeom prst="rect">
            <a:avLst/>
          </a:prstGeom>
          <a:noFill/>
          <a:ln/>
        </p:spPr>
        <p:txBody>
          <a:bodyPr wrap="square" lIns="0" tIns="0" rIns="0" bIns="0" rtlCol="0" anchor="ctr"/>
          <a:lstStyle/>
          <a:p>
            <a:pPr marL="0" indent="0">
              <a:buNone/>
            </a:pPr>
            <a:r>
              <a:rPr lang="en-US" sz="950" kern="0" spc="140" dirty="0">
                <a:solidFill>
                  <a:srgbClr val="0F62FE"/>
                </a:solidFill>
                <a:latin typeface="Courier New" pitchFamily="34" charset="0"/>
                <a:ea typeface="Courier New" pitchFamily="34" charset="-122"/>
                <a:cs typeface="Courier New" pitchFamily="34" charset="-120"/>
              </a:rPr>
              <a:t>CURRENT METRICS</a:t>
            </a:r>
            <a:endParaRPr lang="en-US" sz="950" dirty="0"/>
          </a:p>
        </p:txBody>
      </p:sp>
      <p:sp>
        <p:nvSpPr>
          <p:cNvPr id="8" name="meter-track"/>
          <p:cNvSpPr/>
          <p:nvPr/>
        </p:nvSpPr>
        <p:spPr>
          <a:xfrm>
            <a:off x="566928" y="2706624"/>
            <a:ext cx="6492240" cy="182880"/>
          </a:xfrm>
          <a:prstGeom prst="rect">
            <a:avLst/>
          </a:prstGeom>
          <a:solidFill>
            <a:srgbClr val="393939"/>
          </a:solidFill>
          <a:ln w="12700">
            <a:solidFill>
              <a:srgbClr val="393939"/>
            </a:solidFill>
            <a:prstDash val="solid"/>
          </a:ln>
        </p:spPr>
      </p:sp>
      <p:sp>
        <p:nvSpPr>
          <p:cNvPr id="9" name="meter-fill"/>
          <p:cNvSpPr/>
          <p:nvPr/>
        </p:nvSpPr>
        <p:spPr>
          <a:xfrm>
            <a:off x="566928" y="2706624"/>
            <a:ext cx="5518404" cy="182880"/>
          </a:xfrm>
          <a:prstGeom prst="rect">
            <a:avLst/>
          </a:prstGeom>
          <a:solidFill>
            <a:srgbClr val="DA1E28"/>
          </a:solidFill>
          <a:ln w="12700">
            <a:solidFill>
              <a:srgbClr val="DA1E28"/>
            </a:solidFill>
            <a:prstDash val="solid"/>
          </a:ln>
        </p:spPr>
      </p:sp>
      <p:sp>
        <p:nvSpPr>
          <p:cNvPr id="10" name="Text 8"/>
          <p:cNvSpPr txBox="1"/>
          <p:nvPr/>
        </p:nvSpPr>
        <p:spPr>
          <a:xfrm>
            <a:off x="566928" y="2944368"/>
            <a:ext cx="6492240" cy="256032"/>
          </a:xfrm>
          <a:prstGeom prst="rect">
            <a:avLst/>
          </a:prstGeom>
          <a:noFill/>
          <a:ln/>
        </p:spPr>
        <p:txBody>
          <a:bodyPr wrap="square" lIns="0" tIns="0" rIns="0" bIns="0" rtlCol="0" anchor="ctr"/>
          <a:lstStyle/>
          <a:p>
            <a:pPr marL="0" indent="0">
              <a:buNone/>
            </a:pPr>
            <a:r>
              <a:rPr lang="en-US" sz="1150" dirty="0">
                <a:solidFill>
                  <a:srgbClr val="FFFFFF"/>
                </a:solidFill>
                <a:latin typeface="Courier New" pitchFamily="34" charset="0"/>
                <a:ea typeface="Courier New" pitchFamily="34" charset="-122"/>
                <a:cs typeface="Courier New" pitchFamily="34" charset="-120"/>
              </a:rPr>
              <a:t>CURDEPTH 850   /   MAXDEPTH 1000</a:t>
            </a:r>
            <a:r>
              <a:rPr lang="en-US" sz="1150" b="1" dirty="0">
                <a:solidFill>
                  <a:srgbClr val="FF8389"/>
                </a:solidFill>
                <a:latin typeface="Courier New" pitchFamily="34" charset="0"/>
                <a:ea typeface="Courier New" pitchFamily="34" charset="-122"/>
                <a:cs typeface="Courier New" pitchFamily="34" charset="-120"/>
              </a:rPr>
              <a:t>   85% full</a:t>
            </a:r>
            <a:endParaRPr lang="en-US" sz="1150" dirty="0"/>
          </a:p>
        </p:txBody>
      </p:sp>
      <p:sp>
        <p:nvSpPr>
          <p:cNvPr id="11" name="Text 9"/>
          <p:cNvSpPr txBox="1"/>
          <p:nvPr/>
        </p:nvSpPr>
        <p:spPr>
          <a:xfrm>
            <a:off x="566928" y="3218688"/>
            <a:ext cx="6492240" cy="256032"/>
          </a:xfrm>
          <a:prstGeom prst="rect">
            <a:avLst/>
          </a:prstGeom>
          <a:noFill/>
          <a:ln/>
        </p:spPr>
        <p:txBody>
          <a:bodyPr wrap="square" lIns="0" tIns="0" rIns="0" bIns="0" rtlCol="0" anchor="ctr"/>
          <a:lstStyle/>
          <a:p>
            <a:pPr marL="0" indent="0">
              <a:buNone/>
            </a:pPr>
            <a:r>
              <a:rPr lang="en-US" sz="1150" dirty="0">
                <a:solidFill>
                  <a:srgbClr val="C6C6C6"/>
                </a:solidFill>
                <a:latin typeface="Courier New" pitchFamily="34" charset="0"/>
                <a:ea typeface="Courier New" pitchFamily="34" charset="-122"/>
                <a:cs typeface="Courier New" pitchFamily="34" charset="-120"/>
              </a:rPr>
              <a:t>UNCOM 0</a:t>
            </a:r>
            <a:r>
              <a:rPr lang="en-US" sz="1150" dirty="0">
                <a:solidFill>
                  <a:srgbClr val="6F6F6F"/>
                </a:solidFill>
                <a:latin typeface="Courier New" pitchFamily="34" charset="0"/>
                <a:ea typeface="Courier New" pitchFamily="34" charset="-122"/>
                <a:cs typeface="Courier New" pitchFamily="34" charset="-120"/>
              </a:rPr>
              <a:t>  no in-flight transactions        </a:t>
            </a:r>
            <a:r>
              <a:rPr lang="en-US" sz="1150" dirty="0">
                <a:solidFill>
                  <a:srgbClr val="F1C21B"/>
                </a:solidFill>
                <a:latin typeface="Courier New" pitchFamily="34" charset="0"/>
                <a:ea typeface="Courier New" pitchFamily="34" charset="-122"/>
                <a:cs typeface="Courier New" pitchFamily="34" charset="-120"/>
              </a:rPr>
              <a:t>MONQ off</a:t>
            </a:r>
            <a:r>
              <a:rPr lang="en-US" sz="1150" dirty="0">
                <a:solidFill>
                  <a:srgbClr val="6F6F6F"/>
                </a:solidFill>
                <a:latin typeface="Courier New" pitchFamily="34" charset="0"/>
                <a:ea typeface="Courier New" pitchFamily="34" charset="-122"/>
                <a:cs typeface="Courier New" pitchFamily="34" charset="-120"/>
              </a:rPr>
              <a:t>  no put/get timestamps</a:t>
            </a:r>
            <a:endParaRPr lang="en-US" sz="1150" dirty="0"/>
          </a:p>
        </p:txBody>
      </p:sp>
      <p:sp>
        <p:nvSpPr>
          <p:cNvPr id="12" name="ruled-out"/>
          <p:cNvSpPr/>
          <p:nvPr/>
        </p:nvSpPr>
        <p:spPr>
          <a:xfrm>
            <a:off x="566928" y="3602736"/>
            <a:ext cx="6492240" cy="585216"/>
          </a:xfrm>
          <a:prstGeom prst="rect">
            <a:avLst/>
          </a:prstGeom>
          <a:solidFill>
            <a:srgbClr val="262626"/>
          </a:solidFill>
          <a:ln w="12700">
            <a:solidFill>
              <a:srgbClr val="262626"/>
            </a:solidFill>
            <a:prstDash val="solid"/>
          </a:ln>
        </p:spPr>
      </p:sp>
      <p:sp>
        <p:nvSpPr>
          <p:cNvPr id="13" name="Text 11"/>
          <p:cNvSpPr txBox="1"/>
          <p:nvPr/>
        </p:nvSpPr>
        <p:spPr>
          <a:xfrm>
            <a:off x="786384" y="3602736"/>
            <a:ext cx="6053328" cy="585216"/>
          </a:xfrm>
          <a:prstGeom prst="rect">
            <a:avLst/>
          </a:prstGeom>
          <a:noFill/>
          <a:ln/>
        </p:spPr>
        <p:txBody>
          <a:bodyPr wrap="square" lIns="0" tIns="0" rIns="0" bIns="0" rtlCol="0" anchor="ctr"/>
          <a:lstStyle/>
          <a:p>
            <a:pPr marL="0" indent="0">
              <a:buNone/>
            </a:pPr>
            <a:r>
              <a:rPr lang="en-US" sz="1200" b="1" dirty="0">
                <a:solidFill>
                  <a:srgbClr val="24A148"/>
                </a:solidFill>
              </a:rPr>
              <a:t>Ruled out:  </a:t>
            </a:r>
            <a:r>
              <a:rPr lang="en-US" sz="1200" dirty="0">
                <a:solidFill>
                  <a:srgbClr val="C6C6C6"/>
                </a:solidFill>
              </a:rPr>
              <a:t>high uncommitted counts, trigger issues, dead-letter routing</a:t>
            </a:r>
            <a:endParaRPr lang="en-US" sz="1200" dirty="0"/>
          </a:p>
        </p:txBody>
      </p:sp>
      <p:sp>
        <p:nvSpPr>
          <p:cNvPr id="14" name="Text 12"/>
          <p:cNvSpPr txBox="1"/>
          <p:nvPr/>
        </p:nvSpPr>
        <p:spPr>
          <a:xfrm>
            <a:off x="566928" y="4352544"/>
            <a:ext cx="3108960" cy="219456"/>
          </a:xfrm>
          <a:prstGeom prst="rect">
            <a:avLst/>
          </a:prstGeom>
          <a:noFill/>
          <a:ln/>
        </p:spPr>
        <p:txBody>
          <a:bodyPr wrap="square" lIns="0" tIns="0" rIns="0" bIns="0" rtlCol="0" anchor="ctr"/>
          <a:lstStyle/>
          <a:p>
            <a:pPr marL="0" indent="0">
              <a:buNone/>
            </a:pPr>
            <a:r>
              <a:rPr lang="en-US" sz="950" kern="0" spc="140" dirty="0">
                <a:solidFill>
                  <a:srgbClr val="24A148"/>
                </a:solidFill>
                <a:latin typeface="Courier New" pitchFamily="34" charset="0"/>
                <a:ea typeface="Courier New" pitchFamily="34" charset="-122"/>
                <a:cs typeface="Courier New" pitchFamily="34" charset="-120"/>
              </a:rPr>
              <a:t>RECOMMENDED ACTIONS</a:t>
            </a:r>
            <a:endParaRPr lang="en-US" sz="950" dirty="0"/>
          </a:p>
        </p:txBody>
      </p:sp>
      <p:sp>
        <p:nvSpPr>
          <p:cNvPr id="15" name="code-block"/>
          <p:cNvSpPr/>
          <p:nvPr/>
        </p:nvSpPr>
        <p:spPr>
          <a:xfrm>
            <a:off x="566928" y="4626864"/>
            <a:ext cx="6492240" cy="530352"/>
          </a:xfrm>
          <a:prstGeom prst="rect">
            <a:avLst/>
          </a:prstGeom>
          <a:solidFill>
            <a:srgbClr val="000000"/>
          </a:solidFill>
          <a:ln w="12700">
            <a:solidFill>
              <a:srgbClr val="000000"/>
            </a:solidFill>
            <a:prstDash val="solid"/>
          </a:ln>
        </p:spPr>
      </p:sp>
      <p:sp>
        <p:nvSpPr>
          <p:cNvPr id="16" name="Text 14"/>
          <p:cNvSpPr txBox="1"/>
          <p:nvPr/>
        </p:nvSpPr>
        <p:spPr>
          <a:xfrm>
            <a:off x="768096" y="4773168"/>
            <a:ext cx="6089904" cy="237744"/>
          </a:xfrm>
          <a:prstGeom prst="rect">
            <a:avLst/>
          </a:prstGeom>
          <a:noFill/>
          <a:ln/>
        </p:spPr>
        <p:txBody>
          <a:bodyPr wrap="square" lIns="0" tIns="0" rIns="0" bIns="0" rtlCol="0" anchor="t"/>
          <a:lstStyle/>
          <a:p>
            <a:pPr marL="0" indent="0">
              <a:lnSpc>
                <a:spcPts val="1740"/>
              </a:lnSpc>
              <a:buNone/>
            </a:pPr>
            <a:r>
              <a:rPr lang="en-US" sz="1200" dirty="0">
                <a:solidFill>
                  <a:srgbClr val="42BE65"/>
                </a:solidFill>
                <a:latin typeface="Courier New" pitchFamily="34" charset="0"/>
                <a:ea typeface="Courier New" pitchFamily="34" charset="-122"/>
                <a:cs typeface="Courier New" pitchFamily="34" charset="-120"/>
              </a:rPr>
              <a:t>ALTER QLOCAL('ACME.APPDATA.QUEUE') GET(ENABLED)</a:t>
            </a:r>
            <a:endParaRPr lang="en-US" sz="1200" dirty="0"/>
          </a:p>
        </p:txBody>
      </p:sp>
      <p:sp>
        <p:nvSpPr>
          <p:cNvPr id="17" name="Text 15"/>
          <p:cNvSpPr txBox="1"/>
          <p:nvPr/>
        </p:nvSpPr>
        <p:spPr>
          <a:xfrm>
            <a:off x="566928" y="5285232"/>
            <a:ext cx="6492240" cy="420624"/>
          </a:xfrm>
          <a:prstGeom prst="rect">
            <a:avLst/>
          </a:prstGeom>
          <a:noFill/>
          <a:ln/>
        </p:spPr>
        <p:txBody>
          <a:bodyPr wrap="square" lIns="0" tIns="0" rIns="0" bIns="0" rtlCol="0" anchor="ctr"/>
          <a:lstStyle/>
          <a:p>
            <a:pPr marL="0" indent="0">
              <a:lnSpc>
                <a:spcPts val="1700"/>
              </a:lnSpc>
              <a:buNone/>
            </a:pPr>
            <a:r>
              <a:rPr lang="en-US" sz="1200" dirty="0">
                <a:solidFill>
                  <a:srgbClr val="C6C6C6"/>
                </a:solidFill>
              </a:rPr>
              <a:t>Then: investigate why GET was disabled — recent config changes, deployments, or operational procedures.</a:t>
            </a:r>
            <a:endParaRPr lang="en-US" sz="1200" dirty="0"/>
          </a:p>
        </p:txBody>
      </p:sp>
      <p:sp>
        <p:nvSpPr>
          <p:cNvPr id="18" name="Text 16"/>
          <p:cNvSpPr txBox="1"/>
          <p:nvPr/>
        </p:nvSpPr>
        <p:spPr>
          <a:xfrm>
            <a:off x="566928" y="5907024"/>
            <a:ext cx="6766560" cy="256032"/>
          </a:xfrm>
          <a:prstGeom prst="rect">
            <a:avLst/>
          </a:prstGeom>
          <a:noFill/>
          <a:ln/>
        </p:spPr>
        <p:txBody>
          <a:bodyPr wrap="square" lIns="0" tIns="0" rIns="0" bIns="0" rtlCol="0" anchor="ctr"/>
          <a:lstStyle/>
          <a:p>
            <a:pPr marL="0" indent="0">
              <a:buNone/>
            </a:pPr>
            <a:r>
              <a:rPr lang="en-US" sz="1000" dirty="0">
                <a:solidFill>
                  <a:srgbClr val="6F6F6F"/>
                </a:solidFill>
              </a:rPr>
              <a:t>Decomposed from the live reply. The unedited transcript is in the appendix.</a:t>
            </a:r>
            <a:endParaRPr lang="en-US" sz="1000" dirty="0"/>
          </a:p>
        </p:txBody>
      </p:sp>
      <p:pic>
        <p:nvPicPr>
          <p:cNvPr id="19" name="Image 0" descr="/tmp/claude-1000/-mnt-c-users-ajaro-claude-mq-ai-agent/c53c6715-f279-413a-824c-5ac25e45cef0/scratchpad/agent-panel.png"/>
          <p:cNvPicPr>
            <a:picLocks noChangeAspect="1"/>
          </p:cNvPicPr>
          <p:nvPr/>
        </p:nvPicPr>
        <p:blipFill>
          <a:blip r:embed="rId3"/>
          <a:stretch>
            <a:fillRect/>
          </a:stretch>
        </p:blipFill>
        <p:spPr>
          <a:xfrm>
            <a:off x="7370064" y="1188720"/>
            <a:ext cx="1993392" cy="4334256"/>
          </a:xfrm>
          <a:prstGeom prst="rect">
            <a:avLst/>
          </a:prstGeom>
        </p:spPr>
      </p:pic>
      <p:sp>
        <p:nvSpPr>
          <p:cNvPr id="20" name="shot-frame"/>
          <p:cNvSpPr/>
          <p:nvPr/>
        </p:nvSpPr>
        <p:spPr>
          <a:xfrm>
            <a:off x="7370064" y="1188720"/>
            <a:ext cx="1993392" cy="4334256"/>
          </a:xfrm>
          <a:prstGeom prst="rect">
            <a:avLst/>
          </a:prstGeom>
          <a:solidFill>
            <a:srgbClr val="FFFFFF">
              <a:alpha val="0"/>
            </a:srgbClr>
          </a:solidFill>
          <a:ln w="12700">
            <a:solidFill>
              <a:srgbClr val="525252"/>
            </a:solidFill>
            <a:prstDash val="solid"/>
          </a:ln>
        </p:spPr>
      </p:sp>
      <p:sp>
        <p:nvSpPr>
          <p:cNvPr id="21" name="Text 18"/>
          <p:cNvSpPr txBox="1"/>
          <p:nvPr/>
        </p:nvSpPr>
        <p:spPr>
          <a:xfrm>
            <a:off x="7370064" y="5596128"/>
            <a:ext cx="1993392" cy="237744"/>
          </a:xfrm>
          <a:prstGeom prst="rect">
            <a:avLst/>
          </a:prstGeom>
          <a:noFill/>
          <a:ln/>
        </p:spPr>
        <p:txBody>
          <a:bodyPr wrap="square" lIns="0" tIns="0" rIns="0" bIns="0" rtlCol="0" anchor="ctr"/>
          <a:lstStyle/>
          <a:p>
            <a:pPr marL="0" indent="0" algn="ctr">
              <a:buNone/>
            </a:pPr>
            <a:r>
              <a:rPr lang="en-US" sz="950" dirty="0">
                <a:solidFill>
                  <a:srgbClr val="6F6F6F"/>
                </a:solidFill>
              </a:rPr>
              <a:t>as it appeared</a:t>
            </a:r>
            <a:endParaRPr lang="en-US" sz="950" dirty="0"/>
          </a:p>
        </p:txBody>
      </p:sp>
      <p:sp>
        <p:nvSpPr>
          <p:cNvPr id="22" name="takeaway"/>
          <p:cNvSpPr/>
          <p:nvPr/>
        </p:nvSpPr>
        <p:spPr>
          <a:xfrm>
            <a:off x="9692640" y="1188720"/>
            <a:ext cx="1901952" cy="4334256"/>
          </a:xfrm>
          <a:prstGeom prst="rect">
            <a:avLst/>
          </a:prstGeom>
          <a:solidFill>
            <a:srgbClr val="262626"/>
          </a:solidFill>
          <a:ln w="12700">
            <a:solidFill>
              <a:srgbClr val="262626"/>
            </a:solidFill>
            <a:prstDash val="solid"/>
          </a:ln>
        </p:spPr>
      </p:sp>
      <p:sp>
        <p:nvSpPr>
          <p:cNvPr id="23" name="agent-mark"/>
          <p:cNvSpPr/>
          <p:nvPr/>
        </p:nvSpPr>
        <p:spPr>
          <a:xfrm>
            <a:off x="9930384" y="1444752"/>
            <a:ext cx="457200" cy="457200"/>
          </a:xfrm>
          <a:prstGeom prst="rect">
            <a:avLst/>
          </a:prstGeom>
          <a:solidFill>
            <a:srgbClr val="161616"/>
          </a:solidFill>
          <a:ln w="15875">
            <a:solidFill>
              <a:srgbClr val="FFFFFF"/>
            </a:solidFill>
            <a:prstDash val="solid"/>
          </a:ln>
        </p:spPr>
      </p:sp>
      <p:sp>
        <p:nvSpPr>
          <p:cNvPr id="24" name="Text 21"/>
          <p:cNvSpPr txBox="1"/>
          <p:nvPr/>
        </p:nvSpPr>
        <p:spPr>
          <a:xfrm>
            <a:off x="9930384" y="1444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rPr>
              <a:t>AI</a:t>
            </a:r>
            <a:endParaRPr lang="en-US" sz="1500" dirty="0"/>
          </a:p>
        </p:txBody>
      </p:sp>
      <p:sp>
        <p:nvSpPr>
          <p:cNvPr id="25" name="Text 22"/>
          <p:cNvSpPr txBox="1"/>
          <p:nvPr/>
        </p:nvSpPr>
        <p:spPr>
          <a:xfrm>
            <a:off x="9930384" y="2066544"/>
            <a:ext cx="1463040" cy="365760"/>
          </a:xfrm>
          <a:prstGeom prst="rect">
            <a:avLst/>
          </a:prstGeom>
          <a:noFill/>
          <a:ln/>
        </p:spPr>
        <p:txBody>
          <a:bodyPr wrap="square" lIns="0" tIns="0" rIns="0" bIns="0" rtlCol="0" anchor="ctr"/>
          <a:lstStyle/>
          <a:p>
            <a:pPr marL="0" indent="0">
              <a:buNone/>
            </a:pPr>
            <a:r>
              <a:rPr lang="en-US" sz="2100" b="1" dirty="0">
                <a:solidFill>
                  <a:srgbClr val="FFFFFF"/>
                </a:solidFill>
              </a:rPr>
              <a:t>20 seconds</a:t>
            </a:r>
            <a:endParaRPr lang="en-US" sz="2100" dirty="0"/>
          </a:p>
        </p:txBody>
      </p:sp>
      <p:sp>
        <p:nvSpPr>
          <p:cNvPr id="26" name="Text 23"/>
          <p:cNvSpPr txBox="1"/>
          <p:nvPr/>
        </p:nvSpPr>
        <p:spPr>
          <a:xfrm>
            <a:off x="9930384" y="2505456"/>
            <a:ext cx="1463040" cy="1188720"/>
          </a:xfrm>
          <a:prstGeom prst="rect">
            <a:avLst/>
          </a:prstGeom>
          <a:noFill/>
          <a:ln/>
        </p:spPr>
        <p:txBody>
          <a:bodyPr wrap="square" lIns="0" tIns="0" rIns="0" bIns="0" rtlCol="0" anchor="ctr"/>
          <a:lstStyle/>
          <a:p>
            <a:pPr marL="0" indent="0">
              <a:lnSpc>
                <a:spcPts val="1700"/>
              </a:lnSpc>
              <a:buNone/>
            </a:pPr>
            <a:r>
              <a:rPr lang="en-US" sz="1200" dirty="0">
                <a:solidFill>
                  <a:srgbClr val="C6C6C6"/>
                </a:solidFill>
              </a:rPr>
              <a:t>from the enhanced ticket to a named root cause and the exact command that fixes it.</a:t>
            </a:r>
            <a:endParaRPr lang="en-US" sz="1200" dirty="0"/>
          </a:p>
        </p:txBody>
      </p:sp>
      <p:sp>
        <p:nvSpPr>
          <p:cNvPr id="27" name="Text 24"/>
          <p:cNvSpPr txBox="1"/>
          <p:nvPr/>
        </p:nvSpPr>
        <p:spPr>
          <a:xfrm>
            <a:off x="9930384" y="3803904"/>
            <a:ext cx="1463040" cy="786384"/>
          </a:xfrm>
          <a:prstGeom prst="rect">
            <a:avLst/>
          </a:prstGeom>
          <a:noFill/>
          <a:ln/>
        </p:spPr>
        <p:txBody>
          <a:bodyPr wrap="square" lIns="0" tIns="0" rIns="0" bIns="0" rtlCol="0" anchor="ctr"/>
          <a:lstStyle/>
          <a:p>
            <a:pPr marL="0" indent="0">
              <a:lnSpc>
                <a:spcPts val="1700"/>
              </a:lnSpc>
              <a:buNone/>
            </a:pPr>
            <a:r>
              <a:rPr lang="en-US" sz="1200" dirty="0">
                <a:solidFill>
                  <a:srgbClr val="C6C6C6"/>
                </a:solidFill>
              </a:rPr>
              <a:t>Three other causes ruled out without being asked.</a:t>
            </a:r>
            <a:endParaRPr lang="en-US" sz="1200" dirty="0"/>
          </a:p>
        </p:txBody>
      </p:sp>
      <p:sp>
        <p:nvSpPr>
          <p:cNvPr id="28" name="Text 25"/>
          <p:cNvSpPr txBox="1"/>
          <p:nvPr/>
        </p:nvSpPr>
        <p:spPr>
          <a:xfrm>
            <a:off x="9930384" y="4736592"/>
            <a:ext cx="1463040" cy="603504"/>
          </a:xfrm>
          <a:prstGeom prst="rect">
            <a:avLst/>
          </a:prstGeom>
          <a:noFill/>
          <a:ln/>
        </p:spPr>
        <p:txBody>
          <a:bodyPr wrap="square" lIns="0" tIns="0" rIns="0" bIns="0" rtlCol="0" anchor="ctr"/>
          <a:lstStyle/>
          <a:p>
            <a:pPr marL="0" indent="0">
              <a:lnSpc>
                <a:spcPts val="1600"/>
              </a:lnSpc>
              <a:buNone/>
            </a:pPr>
            <a:r>
              <a:rPr lang="en-US" sz="1150" i="1" dirty="0">
                <a:solidFill>
                  <a:srgbClr val="78A9FF"/>
                </a:solidFill>
              </a:rPr>
              <a:t>Nobody ran a single MQSC command.</a:t>
            </a:r>
            <a:endParaRPr lang="en-US" sz="1150" dirty="0"/>
          </a:p>
        </p:txBody>
      </p:sp>
      <p:sp>
        <p:nvSpPr>
          <p:cNvPr id="29"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6F6F6F"/>
                </a:solidFill>
              </a:defRPr>
            </a:lvl1pPr>
          </a:lstStyle>
          <a:p>
            <a:pPr algn="r"/>
            <a:fld id="{F7021451-1387-4CA6-816F-3879F97B5CBC}" type="slidenum">
              <a:rPr lang="en-US" b="0"/>
              <a:t>8</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161616"/>
                </a:solidFill>
              </a:rPr>
              <a:t>The agent recommends, people still decide</a:t>
            </a:r>
            <a:endParaRPr lang="en-US" sz="3200" dirty="0"/>
          </a:p>
        </p:txBody>
      </p:sp>
      <p:sp>
        <p:nvSpPr>
          <p:cNvPr id="3" name="phase"/>
          <p:cNvSpPr/>
          <p:nvPr/>
        </p:nvSpPr>
        <p:spPr>
          <a:xfrm>
            <a:off x="566928" y="1554480"/>
            <a:ext cx="3493008" cy="2834640"/>
          </a:xfrm>
          <a:prstGeom prst="rect">
            <a:avLst/>
          </a:prstGeom>
          <a:solidFill>
            <a:srgbClr val="FFF1F1"/>
          </a:solidFill>
          <a:ln w="12700">
            <a:solidFill>
              <a:srgbClr val="FFF1F1"/>
            </a:solidFill>
            <a:prstDash val="solid"/>
          </a:ln>
        </p:spPr>
      </p:sp>
      <p:sp>
        <p:nvSpPr>
          <p:cNvPr id="4" name="Text 2"/>
          <p:cNvSpPr txBox="1"/>
          <p:nvPr/>
        </p:nvSpPr>
        <p:spPr>
          <a:xfrm>
            <a:off x="841248" y="1810512"/>
            <a:ext cx="1828800" cy="237744"/>
          </a:xfrm>
          <a:prstGeom prst="rect">
            <a:avLst/>
          </a:prstGeom>
          <a:noFill/>
          <a:ln/>
        </p:spPr>
        <p:txBody>
          <a:bodyPr wrap="square" lIns="0" tIns="0" rIns="0" bIns="0" rtlCol="0" anchor="ctr"/>
          <a:lstStyle/>
          <a:p>
            <a:pPr marL="0" indent="0">
              <a:buNone/>
            </a:pPr>
            <a:r>
              <a:rPr lang="en-US" sz="950" kern="0" spc="140" dirty="0">
                <a:solidFill>
                  <a:srgbClr val="DA1E28"/>
                </a:solidFill>
                <a:latin typeface="Courier New" pitchFamily="34" charset="0"/>
                <a:ea typeface="Courier New" pitchFamily="34" charset="-122"/>
                <a:cs typeface="Courier New" pitchFamily="34" charset="-120"/>
              </a:rPr>
              <a:t>BEFORE</a:t>
            </a:r>
            <a:endParaRPr lang="en-US" sz="950" dirty="0"/>
          </a:p>
        </p:txBody>
      </p:sp>
      <p:sp>
        <p:nvSpPr>
          <p:cNvPr id="5" name="Text 3"/>
          <p:cNvSpPr txBox="1"/>
          <p:nvPr/>
        </p:nvSpPr>
        <p:spPr>
          <a:xfrm>
            <a:off x="841248" y="2121408"/>
            <a:ext cx="2944368" cy="749808"/>
          </a:xfrm>
          <a:prstGeom prst="rect">
            <a:avLst/>
          </a:prstGeom>
          <a:noFill/>
          <a:ln/>
        </p:spPr>
        <p:txBody>
          <a:bodyPr wrap="square" lIns="0" tIns="0" rIns="0" bIns="0" rtlCol="0" anchor="ctr"/>
          <a:lstStyle/>
          <a:p>
            <a:pPr marL="0" indent="0">
              <a:lnSpc>
                <a:spcPts val="2300"/>
              </a:lnSpc>
              <a:buNone/>
            </a:pPr>
            <a:r>
              <a:rPr lang="en-US" sz="1800" b="1" dirty="0">
                <a:solidFill>
                  <a:srgbClr val="A2191F"/>
                </a:solidFill>
              </a:rPr>
              <a:t>Someone notices</a:t>
            </a:r>
            <a:endParaRPr lang="en-US" sz="1800" dirty="0"/>
          </a:p>
        </p:txBody>
      </p:sp>
      <p:sp>
        <p:nvSpPr>
          <p:cNvPr id="6" name="Text 4"/>
          <p:cNvSpPr txBox="1"/>
          <p:nvPr/>
        </p:nvSpPr>
        <p:spPr>
          <a:xfrm>
            <a:off x="841248" y="2944368"/>
            <a:ext cx="2944368" cy="1280160"/>
          </a:xfrm>
          <a:prstGeom prst="rect">
            <a:avLst/>
          </a:prstGeom>
          <a:noFill/>
          <a:ln/>
        </p:spPr>
        <p:txBody>
          <a:bodyPr wrap="square" lIns="0" tIns="0" rIns="0" bIns="0" rtlCol="0" anchor="ctr"/>
          <a:lstStyle/>
          <a:p>
            <a:pPr marL="0" indent="0">
              <a:lnSpc>
                <a:spcPts val="1750"/>
              </a:lnSpc>
              <a:buNone/>
            </a:pPr>
            <a:r>
              <a:rPr lang="en-US" sz="1200" dirty="0">
                <a:solidFill>
                  <a:srgbClr val="393939"/>
                </a:solidFill>
              </a:rPr>
              <a:t>A consumer team complains, or a depth alert fires. An administrator opens the console, finds the queue, reads QSTATUS, then goes looking through recent changes for why GET is off.</a:t>
            </a:r>
            <a:endParaRPr lang="en-US" sz="1200" dirty="0"/>
          </a:p>
        </p:txBody>
      </p:sp>
      <p:sp>
        <p:nvSpPr>
          <p:cNvPr id="7" name="arrow"/>
          <p:cNvSpPr/>
          <p:nvPr/>
        </p:nvSpPr>
        <p:spPr>
          <a:xfrm>
            <a:off x="4105656" y="2971800"/>
            <a:ext cx="219456" cy="0"/>
          </a:xfrm>
          <a:prstGeom prst="line">
            <a:avLst/>
          </a:prstGeom>
          <a:noFill/>
          <a:ln w="22225">
            <a:solidFill>
              <a:srgbClr val="8D8D8D"/>
            </a:solidFill>
            <a:prstDash val="solid"/>
            <a:tailEnd type="triangle"/>
          </a:ln>
        </p:spPr>
      </p:sp>
      <p:sp>
        <p:nvSpPr>
          <p:cNvPr id="8" name="phase"/>
          <p:cNvSpPr/>
          <p:nvPr/>
        </p:nvSpPr>
        <p:spPr>
          <a:xfrm>
            <a:off x="4370832" y="1554480"/>
            <a:ext cx="3493008" cy="2834640"/>
          </a:xfrm>
          <a:prstGeom prst="rect">
            <a:avLst/>
          </a:prstGeom>
          <a:solidFill>
            <a:srgbClr val="EDF5FF"/>
          </a:solidFill>
          <a:ln w="12700">
            <a:solidFill>
              <a:srgbClr val="EDF5FF"/>
            </a:solidFill>
            <a:prstDash val="solid"/>
          </a:ln>
        </p:spPr>
      </p:sp>
      <p:sp>
        <p:nvSpPr>
          <p:cNvPr id="9" name="Text 7"/>
          <p:cNvSpPr txBox="1"/>
          <p:nvPr/>
        </p:nvSpPr>
        <p:spPr>
          <a:xfrm>
            <a:off x="4645152" y="1810512"/>
            <a:ext cx="1828800" cy="237744"/>
          </a:xfrm>
          <a:prstGeom prst="rect">
            <a:avLst/>
          </a:prstGeom>
          <a:noFill/>
          <a:ln/>
        </p:spPr>
        <p:txBody>
          <a:bodyPr wrap="square" lIns="0" tIns="0" rIns="0" bIns="0" rtlCol="0" anchor="ctr"/>
          <a:lstStyle/>
          <a:p>
            <a:pPr marL="0" indent="0">
              <a:buNone/>
            </a:pPr>
            <a:r>
              <a:rPr lang="en-US" sz="950" kern="0" spc="140" dirty="0">
                <a:solidFill>
                  <a:srgbClr val="0F62FE"/>
                </a:solidFill>
                <a:latin typeface="Courier New" pitchFamily="34" charset="0"/>
                <a:ea typeface="Courier New" pitchFamily="34" charset="-122"/>
                <a:cs typeface="Courier New" pitchFamily="34" charset="-120"/>
              </a:rPr>
              <a:t>NOW</a:t>
            </a:r>
            <a:endParaRPr lang="en-US" sz="950" dirty="0"/>
          </a:p>
        </p:txBody>
      </p:sp>
      <p:sp>
        <p:nvSpPr>
          <p:cNvPr id="10" name="Text 8"/>
          <p:cNvSpPr txBox="1"/>
          <p:nvPr/>
        </p:nvSpPr>
        <p:spPr>
          <a:xfrm>
            <a:off x="4645152" y="2121408"/>
            <a:ext cx="2944368" cy="749808"/>
          </a:xfrm>
          <a:prstGeom prst="rect">
            <a:avLst/>
          </a:prstGeom>
          <a:noFill/>
          <a:ln/>
        </p:spPr>
        <p:txBody>
          <a:bodyPr wrap="square" lIns="0" tIns="0" rIns="0" bIns="0" rtlCol="0" anchor="ctr"/>
          <a:lstStyle/>
          <a:p>
            <a:pPr marL="0" indent="0">
              <a:lnSpc>
                <a:spcPts val="2300"/>
              </a:lnSpc>
              <a:buNone/>
            </a:pPr>
            <a:r>
              <a:rPr lang="en-US" sz="1800" b="1" dirty="0">
                <a:solidFill>
                  <a:srgbClr val="0043CE"/>
                </a:solidFill>
              </a:rPr>
              <a:t>The ticket arrives explaining itself</a:t>
            </a:r>
            <a:endParaRPr lang="en-US" sz="1800" dirty="0"/>
          </a:p>
        </p:txBody>
      </p:sp>
      <p:sp>
        <p:nvSpPr>
          <p:cNvPr id="11" name="Text 9"/>
          <p:cNvSpPr txBox="1"/>
          <p:nvPr/>
        </p:nvSpPr>
        <p:spPr>
          <a:xfrm>
            <a:off x="4645152" y="2944368"/>
            <a:ext cx="2944368" cy="1280160"/>
          </a:xfrm>
          <a:prstGeom prst="rect">
            <a:avLst/>
          </a:prstGeom>
          <a:noFill/>
          <a:ln/>
        </p:spPr>
        <p:txBody>
          <a:bodyPr wrap="square" lIns="0" tIns="0" rIns="0" bIns="0" rtlCol="0" anchor="ctr"/>
          <a:lstStyle/>
          <a:p>
            <a:pPr marL="0" indent="0">
              <a:lnSpc>
                <a:spcPts val="1750"/>
              </a:lnSpc>
              <a:buNone/>
            </a:pPr>
            <a:r>
              <a:rPr lang="en-US" sz="1200" dirty="0">
                <a:solidFill>
                  <a:srgbClr val="393939"/>
                </a:solidFill>
              </a:rPr>
              <a:t>The sweep finds every stuck queue, raises a ticket per queue, and the enhancer adds one instruction. The agent answers with the cause and the command.</a:t>
            </a:r>
            <a:endParaRPr lang="en-US" sz="1200" dirty="0"/>
          </a:p>
        </p:txBody>
      </p:sp>
      <p:sp>
        <p:nvSpPr>
          <p:cNvPr id="12" name="arrow"/>
          <p:cNvSpPr/>
          <p:nvPr/>
        </p:nvSpPr>
        <p:spPr>
          <a:xfrm>
            <a:off x="7909560" y="2971800"/>
            <a:ext cx="219456" cy="0"/>
          </a:xfrm>
          <a:prstGeom prst="line">
            <a:avLst/>
          </a:prstGeom>
          <a:noFill/>
          <a:ln w="22225">
            <a:solidFill>
              <a:srgbClr val="8D8D8D"/>
            </a:solidFill>
            <a:prstDash val="solid"/>
            <a:tailEnd type="triangle"/>
          </a:ln>
        </p:spPr>
      </p:sp>
      <p:sp>
        <p:nvSpPr>
          <p:cNvPr id="13" name="phase"/>
          <p:cNvSpPr/>
          <p:nvPr/>
        </p:nvSpPr>
        <p:spPr>
          <a:xfrm>
            <a:off x="8174736" y="1554480"/>
            <a:ext cx="3493008" cy="2834640"/>
          </a:xfrm>
          <a:prstGeom prst="rect">
            <a:avLst/>
          </a:prstGeom>
          <a:solidFill>
            <a:srgbClr val="F6F2FF"/>
          </a:solidFill>
          <a:ln w="12700">
            <a:solidFill>
              <a:srgbClr val="F6F2FF"/>
            </a:solidFill>
            <a:prstDash val="solid"/>
          </a:ln>
        </p:spPr>
      </p:sp>
      <p:sp>
        <p:nvSpPr>
          <p:cNvPr id="14" name="Text 12"/>
          <p:cNvSpPr txBox="1"/>
          <p:nvPr/>
        </p:nvSpPr>
        <p:spPr>
          <a:xfrm>
            <a:off x="8449056" y="1810512"/>
            <a:ext cx="1828800" cy="237744"/>
          </a:xfrm>
          <a:prstGeom prst="rect">
            <a:avLst/>
          </a:prstGeom>
          <a:noFill/>
          <a:ln/>
        </p:spPr>
        <p:txBody>
          <a:bodyPr wrap="square" lIns="0" tIns="0" rIns="0" bIns="0" rtlCol="0" anchor="ctr"/>
          <a:lstStyle/>
          <a:p>
            <a:pPr marL="0" indent="0">
              <a:buNone/>
            </a:pPr>
            <a:r>
              <a:rPr lang="en-US" sz="950" kern="0" spc="140" dirty="0">
                <a:solidFill>
                  <a:srgbClr val="8A3FFC"/>
                </a:solidFill>
                <a:latin typeface="Courier New" pitchFamily="34" charset="0"/>
                <a:ea typeface="Courier New" pitchFamily="34" charset="-122"/>
                <a:cs typeface="Courier New" pitchFamily="34" charset="-120"/>
              </a:rPr>
              <a:t>NEXT</a:t>
            </a:r>
            <a:endParaRPr lang="en-US" sz="950" dirty="0"/>
          </a:p>
        </p:txBody>
      </p:sp>
      <p:sp>
        <p:nvSpPr>
          <p:cNvPr id="15" name="Text 13"/>
          <p:cNvSpPr txBox="1"/>
          <p:nvPr/>
        </p:nvSpPr>
        <p:spPr>
          <a:xfrm>
            <a:off x="8449056" y="2121408"/>
            <a:ext cx="2944368" cy="749808"/>
          </a:xfrm>
          <a:prstGeom prst="rect">
            <a:avLst/>
          </a:prstGeom>
          <a:noFill/>
          <a:ln/>
        </p:spPr>
        <p:txBody>
          <a:bodyPr wrap="square" lIns="0" tIns="0" rIns="0" bIns="0" rtlCol="0" anchor="ctr"/>
          <a:lstStyle/>
          <a:p>
            <a:pPr marL="0" indent="0">
              <a:lnSpc>
                <a:spcPts val="2300"/>
              </a:lnSpc>
              <a:buNone/>
            </a:pPr>
            <a:r>
              <a:rPr lang="en-US" sz="1800" b="1" dirty="0">
                <a:solidFill>
                  <a:srgbClr val="491D8B"/>
                </a:solidFill>
              </a:rPr>
              <a:t>The agent takes the ticket directly</a:t>
            </a:r>
            <a:endParaRPr lang="en-US" sz="1800" dirty="0"/>
          </a:p>
        </p:txBody>
      </p:sp>
      <p:sp>
        <p:nvSpPr>
          <p:cNvPr id="16" name="Text 14"/>
          <p:cNvSpPr txBox="1"/>
          <p:nvPr/>
        </p:nvSpPr>
        <p:spPr>
          <a:xfrm>
            <a:off x="8449056" y="2944368"/>
            <a:ext cx="2944368" cy="1280160"/>
          </a:xfrm>
          <a:prstGeom prst="rect">
            <a:avLst/>
          </a:prstGeom>
          <a:noFill/>
          <a:ln/>
        </p:spPr>
        <p:txBody>
          <a:bodyPr wrap="square" lIns="0" tIns="0" rIns="0" bIns="0" rtlCol="0" anchor="ctr"/>
          <a:lstStyle/>
          <a:p>
            <a:pPr marL="0" indent="0">
              <a:lnSpc>
                <a:spcPts val="1750"/>
              </a:lnSpc>
              <a:buNone/>
            </a:pPr>
            <a:r>
              <a:rPr lang="en-US" sz="1200" dirty="0">
                <a:solidFill>
                  <a:srgbClr val="393939"/>
                </a:solidFill>
              </a:rPr>
              <a:t>This version makes the ticket easy to enhance. The next version of the agent can consume that enhanced ticket itself, with remediation behind an approval step.</a:t>
            </a:r>
            <a:endParaRPr lang="en-US" sz="1200" dirty="0"/>
          </a:p>
        </p:txBody>
      </p:sp>
      <p:sp>
        <p:nvSpPr>
          <p:cNvPr id="17" name="closing-point"/>
          <p:cNvSpPr/>
          <p:nvPr/>
        </p:nvSpPr>
        <p:spPr>
          <a:xfrm>
            <a:off x="566928" y="4718304"/>
            <a:ext cx="11027664" cy="1097280"/>
          </a:xfrm>
          <a:prstGeom prst="rect">
            <a:avLst/>
          </a:prstGeom>
          <a:solidFill>
            <a:srgbClr val="161616"/>
          </a:solidFill>
          <a:ln w="12700">
            <a:solidFill>
              <a:srgbClr val="161616"/>
            </a:solidFill>
            <a:prstDash val="solid"/>
          </a:ln>
        </p:spPr>
      </p:sp>
      <p:sp>
        <p:nvSpPr>
          <p:cNvPr id="18" name="Text 16"/>
          <p:cNvSpPr txBox="1"/>
          <p:nvPr/>
        </p:nvSpPr>
        <p:spPr>
          <a:xfrm>
            <a:off x="950976" y="4919472"/>
            <a:ext cx="4937760" cy="329184"/>
          </a:xfrm>
          <a:prstGeom prst="rect">
            <a:avLst/>
          </a:prstGeom>
          <a:noFill/>
          <a:ln/>
        </p:spPr>
        <p:txBody>
          <a:bodyPr wrap="square" lIns="0" tIns="0" rIns="0" bIns="0" rtlCol="0" anchor="ctr"/>
          <a:lstStyle/>
          <a:p>
            <a:pPr marL="0" indent="0">
              <a:buNone/>
            </a:pPr>
            <a:r>
              <a:rPr lang="en-US" sz="1800" b="1" dirty="0">
                <a:solidFill>
                  <a:srgbClr val="FFFFFF"/>
                </a:solidFill>
              </a:rPr>
              <a:t>The fix was always one command.</a:t>
            </a:r>
            <a:endParaRPr lang="en-US" sz="1800" dirty="0"/>
          </a:p>
        </p:txBody>
      </p:sp>
      <p:sp>
        <p:nvSpPr>
          <p:cNvPr id="19" name="Text 17"/>
          <p:cNvSpPr txBox="1"/>
          <p:nvPr/>
        </p:nvSpPr>
        <p:spPr>
          <a:xfrm>
            <a:off x="950976" y="5285232"/>
            <a:ext cx="4937760" cy="292608"/>
          </a:xfrm>
          <a:prstGeom prst="rect">
            <a:avLst/>
          </a:prstGeom>
          <a:noFill/>
          <a:ln/>
        </p:spPr>
        <p:txBody>
          <a:bodyPr wrap="square" lIns="0" tIns="0" rIns="0" bIns="0" rtlCol="0" anchor="ctr"/>
          <a:lstStyle/>
          <a:p>
            <a:pPr marL="0" indent="0">
              <a:buNone/>
            </a:pPr>
            <a:r>
              <a:rPr lang="en-US" sz="1300" dirty="0">
                <a:solidFill>
                  <a:srgbClr val="C6C6C6"/>
                </a:solidFill>
              </a:rPr>
              <a:t>Everything we built exists to get a person to it faster.</a:t>
            </a:r>
            <a:endParaRPr lang="en-US" sz="1300" dirty="0"/>
          </a:p>
        </p:txBody>
      </p:sp>
      <p:sp>
        <p:nvSpPr>
          <p:cNvPr id="20" name="code-block"/>
          <p:cNvSpPr/>
          <p:nvPr/>
        </p:nvSpPr>
        <p:spPr>
          <a:xfrm>
            <a:off x="6272784" y="4974336"/>
            <a:ext cx="5084064" cy="566928"/>
          </a:xfrm>
          <a:prstGeom prst="rect">
            <a:avLst/>
          </a:prstGeom>
          <a:solidFill>
            <a:srgbClr val="000000"/>
          </a:solidFill>
          <a:ln w="12700">
            <a:solidFill>
              <a:srgbClr val="000000"/>
            </a:solidFill>
            <a:prstDash val="solid"/>
          </a:ln>
        </p:spPr>
      </p:sp>
      <p:sp>
        <p:nvSpPr>
          <p:cNvPr id="21" name="Text 19"/>
          <p:cNvSpPr txBox="1"/>
          <p:nvPr/>
        </p:nvSpPr>
        <p:spPr>
          <a:xfrm>
            <a:off x="6473952" y="5120640"/>
            <a:ext cx="4681728" cy="274320"/>
          </a:xfrm>
          <a:prstGeom prst="rect">
            <a:avLst/>
          </a:prstGeom>
          <a:noFill/>
          <a:ln/>
        </p:spPr>
        <p:txBody>
          <a:bodyPr wrap="square" lIns="0" tIns="0" rIns="0" bIns="0" rtlCol="0" anchor="t"/>
          <a:lstStyle/>
          <a:p>
            <a:pPr marL="0" indent="0">
              <a:lnSpc>
                <a:spcPts val="1813"/>
              </a:lnSpc>
              <a:buNone/>
            </a:pPr>
            <a:r>
              <a:rPr lang="en-US" sz="1250" dirty="0">
                <a:solidFill>
                  <a:srgbClr val="42BE65"/>
                </a:solidFill>
                <a:latin typeface="Courier New" pitchFamily="34" charset="0"/>
                <a:ea typeface="Courier New" pitchFamily="34" charset="-122"/>
                <a:cs typeface="Courier New" pitchFamily="34" charset="-120"/>
              </a:rPr>
              <a:t>ALTER QLOCAL('ACME.APPDATA.QUEUE') GET(ENABLED)</a:t>
            </a:r>
            <a:endParaRPr lang="en-US" sz="1250" dirty="0"/>
          </a:p>
        </p:txBody>
      </p:sp>
      <p:sp>
        <p:nvSpPr>
          <p:cNvPr id="2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A8A8A8"/>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1325880"/>
            <a:ext cx="8229600" cy="274320"/>
          </a:xfrm>
          <a:prstGeom prst="rect">
            <a:avLst/>
          </a:prstGeom>
          <a:noFill/>
          <a:ln/>
        </p:spPr>
        <p:txBody>
          <a:bodyPr wrap="square" rtlCol="0"/>
          <a:lstStyle/>
          <a:p>
            <a:pPr marL="0" indent="0" algn="l">
              <a:buNone/>
            </a:pPr>
            <a:r>
              <a:rPr lang="en-US" sz="1300" kern="0" spc="160" dirty="0">
                <a:solidFill>
                  <a:srgbClr val="0F62FE"/>
                </a:solidFill>
                <a:latin typeface="Courier New" pitchFamily="34" charset="0"/>
                <a:ea typeface="Courier New" pitchFamily="34" charset="-122"/>
                <a:cs typeface="Courier New" pitchFamily="34" charset="-120"/>
              </a:rPr>
              <a:t>QMS1  ·  ACME.APPDATA.QUEUE  ·  DIAGNOSED</a:t>
            </a:r>
            <a:endParaRPr lang="en-US" sz="1300" dirty="0"/>
          </a:p>
        </p:txBody>
      </p:sp>
      <p:sp>
        <p:nvSpPr>
          <p:cNvPr id="3" name="Text 0"/>
          <p:cNvSpPr>
            <a:spLocks noGrp="1"/>
          </p:cNvSpPr>
          <p:nvPr>
            <p:ph type="title" idx="101" hasCustomPrompt="1"/>
          </p:nvPr>
        </p:nvSpPr>
        <p:spPr>
          <a:xfrm>
            <a:off x="566928" y="1737360"/>
            <a:ext cx="5943600" cy="1737360"/>
          </a:xfrm>
          <a:prstGeom prst="rect">
            <a:avLst/>
          </a:prstGeom>
          <a:noFill/>
          <a:ln/>
        </p:spPr>
        <p:txBody>
          <a:bodyPr wrap="square" rtlCol="0" anchor="t"/>
          <a:lstStyle/>
          <a:p>
            <a:pPr marL="0" indent="0" algn="l">
              <a:buNone/>
            </a:pPr>
            <a:r>
              <a:rPr lang="en-US" sz="5400" b="1" kern="0" spc="-80" dirty="0">
                <a:solidFill>
                  <a:srgbClr val="FFFFFF"/>
                </a:solidFill>
              </a:rPr>
              <a:t>Thank you</a:t>
            </a:r>
            <a:endParaRPr lang="en-US" sz="5400" dirty="0"/>
          </a:p>
        </p:txBody>
      </p:sp>
      <p:sp>
        <p:nvSpPr>
          <p:cNvPr id="4" name="Text 0"/>
          <p:cNvSpPr>
            <a:spLocks noGrp="1"/>
          </p:cNvSpPr>
          <p:nvPr>
            <p:ph type="body" idx="102" hasCustomPrompt="1"/>
          </p:nvPr>
        </p:nvSpPr>
        <p:spPr>
          <a:xfrm>
            <a:off x="566928" y="3493008"/>
            <a:ext cx="5943600" cy="1344168"/>
          </a:xfrm>
          <a:prstGeom prst="rect">
            <a:avLst/>
          </a:prstGeom>
          <a:noFill/>
          <a:ln/>
        </p:spPr>
        <p:txBody>
          <a:bodyPr wrap="square" rtlCol="0"/>
          <a:lstStyle/>
          <a:p>
            <a:pPr marL="0" indent="0" algn="l">
              <a:buNone/>
            </a:pPr>
            <a:r>
              <a:rPr lang="en-US" sz="2100" dirty="0">
                <a:solidFill>
                  <a:srgbClr val="C6C6C6"/>
                </a:solidFill>
              </a:rPr>
              <a:t>Questions</a:t>
            </a:r>
            <a:r>
              <a:rPr lang="en-US" dirty="0"/>
              <a:t>?</a:t>
            </a:r>
            <a:br>
              <a:rPr lang="en-US" dirty="0"/>
            </a:br>
            <a:r>
              <a:rPr lang="en-US" dirty="0"/>
              <a:t>During questions, I’ll run a recreation of the Qs</a:t>
            </a:r>
            <a:br>
              <a:rPr lang="en-US" dirty="0"/>
            </a:br>
            <a:r>
              <a:rPr lang="en-US" dirty="0"/>
              <a:t>And re-ask the MQ AI agent for a diagnosis</a:t>
            </a:r>
            <a:br>
              <a:rPr lang="en-US" dirty="0"/>
            </a:br>
            <a:endParaRPr lang="en-US" sz="2100" dirty="0"/>
          </a:p>
        </p:txBody>
      </p:sp>
      <p:sp>
        <p:nvSpPr>
          <p:cNvPr id="5" name="Text 0"/>
          <p:cNvSpPr>
            <a:spLocks noGrp="1"/>
          </p:cNvSpPr>
          <p:nvPr>
            <p:ph type="body" idx="103" hasCustomPrompt="1"/>
          </p:nvPr>
        </p:nvSpPr>
        <p:spPr>
          <a:xfrm>
            <a:off x="566928" y="5715000"/>
            <a:ext cx="8595360" cy="411480"/>
          </a:xfrm>
          <a:prstGeom prst="rect">
            <a:avLst/>
          </a:prstGeom>
          <a:noFill/>
          <a:ln/>
        </p:spPr>
        <p:txBody>
          <a:bodyPr wrap="square" rtlCol="0"/>
          <a:lstStyle/>
          <a:p>
            <a:pPr marL="0" indent="0" algn="l">
              <a:buNone/>
            </a:pPr>
            <a:r>
              <a:rPr lang="en-US" sz="1400" kern="0" spc="60" dirty="0">
                <a:solidFill>
                  <a:srgbClr val="6F6F6F"/>
                </a:solidFill>
              </a:rPr>
              <a:t>A.J. Aronoff   ·   IBM AngelHack   ·   October 2026</a:t>
            </a:r>
            <a:endParaRPr lang="en-US" sz="1400" dirty="0"/>
          </a:p>
        </p:txBody>
      </p:sp>
      <p:sp>
        <p:nvSpPr>
          <p:cNvPr id="6" name="Text 4"/>
          <p:cNvSpPr txBox="1"/>
          <p:nvPr/>
        </p:nvSpPr>
        <p:spPr>
          <a:xfrm>
            <a:off x="7223760" y="1828800"/>
            <a:ext cx="2743200" cy="237744"/>
          </a:xfrm>
          <a:prstGeom prst="rect">
            <a:avLst/>
          </a:prstGeom>
          <a:noFill/>
          <a:ln/>
        </p:spPr>
        <p:txBody>
          <a:bodyPr wrap="square" lIns="0" tIns="0" rIns="0" bIns="0" rtlCol="0" anchor="ctr"/>
          <a:lstStyle/>
          <a:p>
            <a:pPr marL="0" indent="0">
              <a:buNone/>
            </a:pPr>
            <a:r>
              <a:rPr lang="en-US" sz="950" kern="0" spc="140" dirty="0">
                <a:solidFill>
                  <a:srgbClr val="0F62FE"/>
                </a:solidFill>
                <a:latin typeface="Courier New" pitchFamily="34" charset="0"/>
                <a:ea typeface="Courier New" pitchFamily="34" charset="-122"/>
                <a:cs typeface="Courier New" pitchFamily="34" charset="-120"/>
              </a:rPr>
              <a:t>WHAT IS NEXT</a:t>
            </a:r>
            <a:endParaRPr lang="en-US" sz="950" dirty="0"/>
          </a:p>
        </p:txBody>
      </p:sp>
      <p:sp>
        <p:nvSpPr>
          <p:cNvPr id="7" name="msg-square"/>
          <p:cNvSpPr/>
          <p:nvPr/>
        </p:nvSpPr>
        <p:spPr>
          <a:xfrm>
            <a:off x="7223760" y="2340864"/>
            <a:ext cx="137160" cy="137160"/>
          </a:xfrm>
          <a:prstGeom prst="rect">
            <a:avLst/>
          </a:prstGeom>
          <a:solidFill>
            <a:srgbClr val="0F62FE"/>
          </a:solidFill>
          <a:ln w="6350">
            <a:solidFill>
              <a:srgbClr val="0F62FE"/>
            </a:solidFill>
            <a:prstDash val="solid"/>
          </a:ln>
        </p:spPr>
      </p:sp>
      <p:sp>
        <p:nvSpPr>
          <p:cNvPr id="8" name="Text 6"/>
          <p:cNvSpPr txBox="1"/>
          <p:nvPr/>
        </p:nvSpPr>
        <p:spPr>
          <a:xfrm>
            <a:off x="7516368" y="2176272"/>
            <a:ext cx="3931920" cy="548640"/>
          </a:xfrm>
          <a:prstGeom prst="rect">
            <a:avLst/>
          </a:prstGeom>
          <a:noFill/>
          <a:ln/>
        </p:spPr>
        <p:txBody>
          <a:bodyPr wrap="square" lIns="0" tIns="0" rIns="0" bIns="0" rtlCol="0" anchor="ctr"/>
          <a:lstStyle/>
          <a:p>
            <a:pPr marL="0" indent="0">
              <a:lnSpc>
                <a:spcPts val="1900"/>
              </a:lnSpc>
              <a:buNone/>
            </a:pPr>
            <a:r>
              <a:rPr lang="en-US" sz="1350" dirty="0">
                <a:solidFill>
                  <a:srgbClr val="C6C6C6"/>
                </a:solidFill>
              </a:rPr>
              <a:t>Depth-trend detection, to catch the slow consumer</a:t>
            </a:r>
            <a:endParaRPr lang="en-US" sz="1350" dirty="0"/>
          </a:p>
        </p:txBody>
      </p:sp>
      <p:sp>
        <p:nvSpPr>
          <p:cNvPr id="9" name="msg-square"/>
          <p:cNvSpPr/>
          <p:nvPr/>
        </p:nvSpPr>
        <p:spPr>
          <a:xfrm>
            <a:off x="7223760" y="3127248"/>
            <a:ext cx="137160" cy="137160"/>
          </a:xfrm>
          <a:prstGeom prst="rect">
            <a:avLst/>
          </a:prstGeom>
          <a:solidFill>
            <a:srgbClr val="0F62FE"/>
          </a:solidFill>
          <a:ln w="6350">
            <a:solidFill>
              <a:srgbClr val="0F62FE"/>
            </a:solidFill>
            <a:prstDash val="solid"/>
          </a:ln>
        </p:spPr>
      </p:sp>
      <p:sp>
        <p:nvSpPr>
          <p:cNvPr id="10" name="Text 8"/>
          <p:cNvSpPr txBox="1"/>
          <p:nvPr/>
        </p:nvSpPr>
        <p:spPr>
          <a:xfrm>
            <a:off x="7516368" y="2962656"/>
            <a:ext cx="3931920" cy="548640"/>
          </a:xfrm>
          <a:prstGeom prst="rect">
            <a:avLst/>
          </a:prstGeom>
          <a:noFill/>
          <a:ln/>
        </p:spPr>
        <p:txBody>
          <a:bodyPr wrap="square" lIns="0" tIns="0" rIns="0" bIns="0" rtlCol="0" anchor="ctr"/>
          <a:lstStyle/>
          <a:p>
            <a:pPr marL="0" indent="0">
              <a:lnSpc>
                <a:spcPts val="1900"/>
              </a:lnSpc>
              <a:buNone/>
            </a:pPr>
            <a:r>
              <a:rPr lang="en-US" sz="1350" dirty="0">
                <a:solidFill>
                  <a:srgbClr val="C6C6C6"/>
                </a:solidFill>
              </a:rPr>
              <a:t>The agent consumes the enhanced ticket directly</a:t>
            </a:r>
            <a:endParaRPr lang="en-US" sz="1350" dirty="0"/>
          </a:p>
        </p:txBody>
      </p:sp>
      <p:sp>
        <p:nvSpPr>
          <p:cNvPr id="11" name="msg-square"/>
          <p:cNvSpPr/>
          <p:nvPr/>
        </p:nvSpPr>
        <p:spPr>
          <a:xfrm>
            <a:off x="7223760" y="3913632"/>
            <a:ext cx="137160" cy="137160"/>
          </a:xfrm>
          <a:prstGeom prst="rect">
            <a:avLst/>
          </a:prstGeom>
          <a:solidFill>
            <a:srgbClr val="0F62FE"/>
          </a:solidFill>
          <a:ln w="6350">
            <a:solidFill>
              <a:srgbClr val="0F62FE"/>
            </a:solidFill>
            <a:prstDash val="solid"/>
          </a:ln>
        </p:spPr>
      </p:sp>
      <p:sp>
        <p:nvSpPr>
          <p:cNvPr id="12" name="Text 10"/>
          <p:cNvSpPr txBox="1"/>
          <p:nvPr/>
        </p:nvSpPr>
        <p:spPr>
          <a:xfrm>
            <a:off x="7516368" y="3749040"/>
            <a:ext cx="3931920" cy="548640"/>
          </a:xfrm>
          <a:prstGeom prst="rect">
            <a:avLst/>
          </a:prstGeom>
          <a:noFill/>
          <a:ln/>
        </p:spPr>
        <p:txBody>
          <a:bodyPr wrap="square" lIns="0" tIns="0" rIns="0" bIns="0" rtlCol="0" anchor="ctr"/>
          <a:lstStyle/>
          <a:p>
            <a:pPr marL="0" indent="0">
              <a:lnSpc>
                <a:spcPts val="1900"/>
              </a:lnSpc>
              <a:buNone/>
            </a:pPr>
            <a:r>
              <a:rPr lang="en-US" sz="1350" dirty="0">
                <a:solidFill>
                  <a:srgbClr val="C6C6C6"/>
                </a:solidFill>
              </a:rPr>
              <a:t>Remediation behind an approval step</a:t>
            </a:r>
            <a:endParaRPr lang="en-US" sz="1350" dirty="0"/>
          </a:p>
        </p:txBody>
      </p:sp>
      <p:sp>
        <p:nvSpPr>
          <p:cNvPr id="13" name="msg-square"/>
          <p:cNvSpPr/>
          <p:nvPr/>
        </p:nvSpPr>
        <p:spPr>
          <a:xfrm>
            <a:off x="7223760" y="4846320"/>
            <a:ext cx="155448" cy="155448"/>
          </a:xfrm>
          <a:prstGeom prst="rect">
            <a:avLst/>
          </a:prstGeom>
          <a:solidFill>
            <a:srgbClr val="161616"/>
          </a:solidFill>
          <a:ln w="9525">
            <a:solidFill>
              <a:srgbClr val="393939"/>
            </a:solidFill>
            <a:prstDash val="solid"/>
          </a:ln>
        </p:spPr>
      </p:sp>
      <p:sp>
        <p:nvSpPr>
          <p:cNvPr id="14" name="msg-square"/>
          <p:cNvSpPr/>
          <p:nvPr/>
        </p:nvSpPr>
        <p:spPr>
          <a:xfrm>
            <a:off x="7447788" y="4846320"/>
            <a:ext cx="155448" cy="155448"/>
          </a:xfrm>
          <a:prstGeom prst="rect">
            <a:avLst/>
          </a:prstGeom>
          <a:solidFill>
            <a:srgbClr val="161616"/>
          </a:solidFill>
          <a:ln w="9525">
            <a:solidFill>
              <a:srgbClr val="393939"/>
            </a:solidFill>
            <a:prstDash val="solid"/>
          </a:ln>
        </p:spPr>
      </p:sp>
      <p:sp>
        <p:nvSpPr>
          <p:cNvPr id="15" name="msg-square"/>
          <p:cNvSpPr/>
          <p:nvPr/>
        </p:nvSpPr>
        <p:spPr>
          <a:xfrm>
            <a:off x="7671816" y="4846320"/>
            <a:ext cx="155448" cy="155448"/>
          </a:xfrm>
          <a:prstGeom prst="rect">
            <a:avLst/>
          </a:prstGeom>
          <a:solidFill>
            <a:srgbClr val="161616"/>
          </a:solidFill>
          <a:ln w="9525">
            <a:solidFill>
              <a:srgbClr val="393939"/>
            </a:solidFill>
            <a:prstDash val="solid"/>
          </a:ln>
        </p:spPr>
      </p:sp>
      <p:sp>
        <p:nvSpPr>
          <p:cNvPr id="16" name="msg-square"/>
          <p:cNvSpPr/>
          <p:nvPr/>
        </p:nvSpPr>
        <p:spPr>
          <a:xfrm>
            <a:off x="7895844" y="4846320"/>
            <a:ext cx="155448" cy="155448"/>
          </a:xfrm>
          <a:prstGeom prst="rect">
            <a:avLst/>
          </a:prstGeom>
          <a:solidFill>
            <a:srgbClr val="161616"/>
          </a:solidFill>
          <a:ln w="9525">
            <a:solidFill>
              <a:srgbClr val="393939"/>
            </a:solidFill>
            <a:prstDash val="solid"/>
          </a:ln>
        </p:spPr>
      </p:sp>
      <p:sp>
        <p:nvSpPr>
          <p:cNvPr id="17" name="msg-square"/>
          <p:cNvSpPr/>
          <p:nvPr/>
        </p:nvSpPr>
        <p:spPr>
          <a:xfrm>
            <a:off x="8119872" y="4846320"/>
            <a:ext cx="155448" cy="155448"/>
          </a:xfrm>
          <a:prstGeom prst="rect">
            <a:avLst/>
          </a:prstGeom>
          <a:solidFill>
            <a:srgbClr val="161616"/>
          </a:solidFill>
          <a:ln w="9525">
            <a:solidFill>
              <a:srgbClr val="393939"/>
            </a:solidFill>
            <a:prstDash val="solid"/>
          </a:ln>
        </p:spPr>
      </p:sp>
      <p:sp>
        <p:nvSpPr>
          <p:cNvPr id="18" name="msg-square"/>
          <p:cNvSpPr/>
          <p:nvPr/>
        </p:nvSpPr>
        <p:spPr>
          <a:xfrm>
            <a:off x="8343900" y="4846320"/>
            <a:ext cx="155448" cy="155448"/>
          </a:xfrm>
          <a:prstGeom prst="rect">
            <a:avLst/>
          </a:prstGeom>
          <a:solidFill>
            <a:srgbClr val="161616"/>
          </a:solidFill>
          <a:ln w="9525">
            <a:solidFill>
              <a:srgbClr val="393939"/>
            </a:solidFill>
            <a:prstDash val="solid"/>
          </a:ln>
        </p:spPr>
      </p:sp>
      <p:sp>
        <p:nvSpPr>
          <p:cNvPr id="19" name="msg-square"/>
          <p:cNvSpPr/>
          <p:nvPr/>
        </p:nvSpPr>
        <p:spPr>
          <a:xfrm>
            <a:off x="8567928" y="4846320"/>
            <a:ext cx="155448" cy="155448"/>
          </a:xfrm>
          <a:prstGeom prst="rect">
            <a:avLst/>
          </a:prstGeom>
          <a:solidFill>
            <a:srgbClr val="161616"/>
          </a:solidFill>
          <a:ln w="9525">
            <a:solidFill>
              <a:srgbClr val="393939"/>
            </a:solidFill>
            <a:prstDash val="solid"/>
          </a:ln>
        </p:spPr>
      </p:sp>
      <p:sp>
        <p:nvSpPr>
          <p:cNvPr id="20" name="msg-square"/>
          <p:cNvSpPr/>
          <p:nvPr/>
        </p:nvSpPr>
        <p:spPr>
          <a:xfrm>
            <a:off x="8791956" y="4846320"/>
            <a:ext cx="155448" cy="155448"/>
          </a:xfrm>
          <a:prstGeom prst="rect">
            <a:avLst/>
          </a:prstGeom>
          <a:solidFill>
            <a:srgbClr val="161616"/>
          </a:solidFill>
          <a:ln w="9525">
            <a:solidFill>
              <a:srgbClr val="393939"/>
            </a:solidFill>
            <a:prstDash val="solid"/>
          </a:ln>
        </p:spPr>
      </p:sp>
      <p:sp>
        <p:nvSpPr>
          <p:cNvPr id="21" name="msg-square"/>
          <p:cNvSpPr/>
          <p:nvPr/>
        </p:nvSpPr>
        <p:spPr>
          <a:xfrm>
            <a:off x="9015984" y="4846320"/>
            <a:ext cx="155448" cy="155448"/>
          </a:xfrm>
          <a:prstGeom prst="rect">
            <a:avLst/>
          </a:prstGeom>
          <a:solidFill>
            <a:srgbClr val="161616"/>
          </a:solidFill>
          <a:ln w="9525">
            <a:solidFill>
              <a:srgbClr val="393939"/>
            </a:solidFill>
            <a:prstDash val="solid"/>
          </a:ln>
        </p:spPr>
      </p:sp>
      <p:sp>
        <p:nvSpPr>
          <p:cNvPr id="22" name="msg-square"/>
          <p:cNvSpPr/>
          <p:nvPr/>
        </p:nvSpPr>
        <p:spPr>
          <a:xfrm>
            <a:off x="9240012" y="4846320"/>
            <a:ext cx="155448" cy="155448"/>
          </a:xfrm>
          <a:prstGeom prst="rect">
            <a:avLst/>
          </a:prstGeom>
          <a:solidFill>
            <a:srgbClr val="161616"/>
          </a:solidFill>
          <a:ln w="9525">
            <a:solidFill>
              <a:srgbClr val="393939"/>
            </a:solidFill>
            <a:prstDash val="solid"/>
          </a:ln>
        </p:spPr>
      </p:sp>
      <p:sp>
        <p:nvSpPr>
          <p:cNvPr id="23" name="msg-square"/>
          <p:cNvSpPr/>
          <p:nvPr/>
        </p:nvSpPr>
        <p:spPr>
          <a:xfrm>
            <a:off x="9464040" y="4846320"/>
            <a:ext cx="155448" cy="155448"/>
          </a:xfrm>
          <a:prstGeom prst="rect">
            <a:avLst/>
          </a:prstGeom>
          <a:solidFill>
            <a:srgbClr val="161616"/>
          </a:solidFill>
          <a:ln w="9525">
            <a:solidFill>
              <a:srgbClr val="393939"/>
            </a:solidFill>
            <a:prstDash val="solid"/>
          </a:ln>
        </p:spPr>
      </p:sp>
      <p:sp>
        <p:nvSpPr>
          <p:cNvPr id="24" name="msg-square"/>
          <p:cNvSpPr/>
          <p:nvPr/>
        </p:nvSpPr>
        <p:spPr>
          <a:xfrm>
            <a:off x="9688068" y="4846320"/>
            <a:ext cx="155448" cy="155448"/>
          </a:xfrm>
          <a:prstGeom prst="rect">
            <a:avLst/>
          </a:prstGeom>
          <a:solidFill>
            <a:srgbClr val="161616"/>
          </a:solidFill>
          <a:ln w="9525">
            <a:solidFill>
              <a:srgbClr val="393939"/>
            </a:solidFill>
            <a:prstDash val="solid"/>
          </a:ln>
        </p:spPr>
      </p:sp>
      <p:sp>
        <p:nvSpPr>
          <p:cNvPr id="25" name="msg-square"/>
          <p:cNvSpPr/>
          <p:nvPr/>
        </p:nvSpPr>
        <p:spPr>
          <a:xfrm>
            <a:off x="9912096" y="4846320"/>
            <a:ext cx="155448" cy="155448"/>
          </a:xfrm>
          <a:prstGeom prst="rect">
            <a:avLst/>
          </a:prstGeom>
          <a:solidFill>
            <a:srgbClr val="161616"/>
          </a:solidFill>
          <a:ln w="9525">
            <a:solidFill>
              <a:srgbClr val="393939"/>
            </a:solidFill>
            <a:prstDash val="solid"/>
          </a:ln>
        </p:spPr>
      </p:sp>
      <p:sp>
        <p:nvSpPr>
          <p:cNvPr id="26" name="msg-square"/>
          <p:cNvSpPr/>
          <p:nvPr/>
        </p:nvSpPr>
        <p:spPr>
          <a:xfrm>
            <a:off x="10136124" y="4846320"/>
            <a:ext cx="155448" cy="155448"/>
          </a:xfrm>
          <a:prstGeom prst="rect">
            <a:avLst/>
          </a:prstGeom>
          <a:solidFill>
            <a:srgbClr val="161616"/>
          </a:solidFill>
          <a:ln w="9525">
            <a:solidFill>
              <a:srgbClr val="393939"/>
            </a:solidFill>
            <a:prstDash val="solid"/>
          </a:ln>
        </p:spPr>
      </p:sp>
      <p:sp>
        <p:nvSpPr>
          <p:cNvPr id="27" name="msg-square"/>
          <p:cNvSpPr/>
          <p:nvPr/>
        </p:nvSpPr>
        <p:spPr>
          <a:xfrm>
            <a:off x="10360152" y="4846320"/>
            <a:ext cx="155448" cy="155448"/>
          </a:xfrm>
          <a:prstGeom prst="rect">
            <a:avLst/>
          </a:prstGeom>
          <a:solidFill>
            <a:srgbClr val="161616"/>
          </a:solidFill>
          <a:ln w="9525">
            <a:solidFill>
              <a:srgbClr val="393939"/>
            </a:solidFill>
            <a:prstDash val="solid"/>
          </a:ln>
        </p:spPr>
      </p:sp>
      <p:sp>
        <p:nvSpPr>
          <p:cNvPr id="28" name="msg-square"/>
          <p:cNvSpPr/>
          <p:nvPr/>
        </p:nvSpPr>
        <p:spPr>
          <a:xfrm>
            <a:off x="10584180" y="4846320"/>
            <a:ext cx="155448" cy="155448"/>
          </a:xfrm>
          <a:prstGeom prst="rect">
            <a:avLst/>
          </a:prstGeom>
          <a:solidFill>
            <a:srgbClr val="161616"/>
          </a:solidFill>
          <a:ln w="9525">
            <a:solidFill>
              <a:srgbClr val="393939"/>
            </a:solidFill>
            <a:prstDash val="solid"/>
          </a:ln>
        </p:spPr>
      </p:sp>
      <p:sp>
        <p:nvSpPr>
          <p:cNvPr id="29" name="msg-square"/>
          <p:cNvSpPr/>
          <p:nvPr/>
        </p:nvSpPr>
        <p:spPr>
          <a:xfrm>
            <a:off x="10808208" y="4846320"/>
            <a:ext cx="155448" cy="155448"/>
          </a:xfrm>
          <a:prstGeom prst="rect">
            <a:avLst/>
          </a:prstGeom>
          <a:solidFill>
            <a:srgbClr val="161616"/>
          </a:solidFill>
          <a:ln w="9525">
            <a:solidFill>
              <a:srgbClr val="393939"/>
            </a:solidFill>
            <a:prstDash val="solid"/>
          </a:ln>
        </p:spPr>
      </p:sp>
      <p:sp>
        <p:nvSpPr>
          <p:cNvPr id="30" name="msg-square"/>
          <p:cNvSpPr/>
          <p:nvPr/>
        </p:nvSpPr>
        <p:spPr>
          <a:xfrm>
            <a:off x="11032236" y="4846320"/>
            <a:ext cx="155448" cy="155448"/>
          </a:xfrm>
          <a:prstGeom prst="rect">
            <a:avLst/>
          </a:prstGeom>
          <a:solidFill>
            <a:srgbClr val="161616"/>
          </a:solidFill>
          <a:ln w="9525">
            <a:solidFill>
              <a:srgbClr val="393939"/>
            </a:solidFill>
            <a:prstDash val="solid"/>
          </a:ln>
        </p:spPr>
      </p:sp>
      <p:sp>
        <p:nvSpPr>
          <p:cNvPr id="31" name="msg-square"/>
          <p:cNvSpPr/>
          <p:nvPr/>
        </p:nvSpPr>
        <p:spPr>
          <a:xfrm>
            <a:off x="11256264" y="4846320"/>
            <a:ext cx="155448" cy="155448"/>
          </a:xfrm>
          <a:prstGeom prst="rect">
            <a:avLst/>
          </a:prstGeom>
          <a:solidFill>
            <a:srgbClr val="161616"/>
          </a:solidFill>
          <a:ln w="9525">
            <a:solidFill>
              <a:srgbClr val="393939"/>
            </a:solidFill>
            <a:prstDash val="solid"/>
          </a:ln>
        </p:spPr>
      </p:sp>
      <p:sp>
        <p:nvSpPr>
          <p:cNvPr id="32" name="msg-square"/>
          <p:cNvSpPr/>
          <p:nvPr/>
        </p:nvSpPr>
        <p:spPr>
          <a:xfrm>
            <a:off x="11480292" y="4846320"/>
            <a:ext cx="155448" cy="155448"/>
          </a:xfrm>
          <a:prstGeom prst="rect">
            <a:avLst/>
          </a:prstGeom>
          <a:solidFill>
            <a:srgbClr val="161616"/>
          </a:solidFill>
          <a:ln w="9525">
            <a:solidFill>
              <a:srgbClr val="393939"/>
            </a:solidFill>
            <a:prstDash val="solid"/>
          </a:ln>
        </p:spPr>
      </p:sp>
      <p:sp>
        <p:nvSpPr>
          <p:cNvPr id="33" name="msg-square"/>
          <p:cNvSpPr/>
          <p:nvPr/>
        </p:nvSpPr>
        <p:spPr>
          <a:xfrm>
            <a:off x="7223760" y="5070348"/>
            <a:ext cx="155448" cy="155448"/>
          </a:xfrm>
          <a:prstGeom prst="rect">
            <a:avLst/>
          </a:prstGeom>
          <a:solidFill>
            <a:srgbClr val="161616"/>
          </a:solidFill>
          <a:ln w="9525">
            <a:solidFill>
              <a:srgbClr val="393939"/>
            </a:solidFill>
            <a:prstDash val="solid"/>
          </a:ln>
        </p:spPr>
      </p:sp>
      <p:sp>
        <p:nvSpPr>
          <p:cNvPr id="34" name="msg-square"/>
          <p:cNvSpPr/>
          <p:nvPr/>
        </p:nvSpPr>
        <p:spPr>
          <a:xfrm>
            <a:off x="7447788" y="5070348"/>
            <a:ext cx="155448" cy="155448"/>
          </a:xfrm>
          <a:prstGeom prst="rect">
            <a:avLst/>
          </a:prstGeom>
          <a:solidFill>
            <a:srgbClr val="161616"/>
          </a:solidFill>
          <a:ln w="9525">
            <a:solidFill>
              <a:srgbClr val="393939"/>
            </a:solidFill>
            <a:prstDash val="solid"/>
          </a:ln>
        </p:spPr>
      </p:sp>
      <p:sp>
        <p:nvSpPr>
          <p:cNvPr id="35" name="msg-square"/>
          <p:cNvSpPr/>
          <p:nvPr/>
        </p:nvSpPr>
        <p:spPr>
          <a:xfrm>
            <a:off x="7671816" y="5070348"/>
            <a:ext cx="155448" cy="155448"/>
          </a:xfrm>
          <a:prstGeom prst="rect">
            <a:avLst/>
          </a:prstGeom>
          <a:solidFill>
            <a:srgbClr val="161616"/>
          </a:solidFill>
          <a:ln w="9525">
            <a:solidFill>
              <a:srgbClr val="393939"/>
            </a:solidFill>
            <a:prstDash val="solid"/>
          </a:ln>
        </p:spPr>
      </p:sp>
      <p:sp>
        <p:nvSpPr>
          <p:cNvPr id="36" name="msg-square"/>
          <p:cNvSpPr/>
          <p:nvPr/>
        </p:nvSpPr>
        <p:spPr>
          <a:xfrm>
            <a:off x="7895844" y="5070348"/>
            <a:ext cx="155448" cy="155448"/>
          </a:xfrm>
          <a:prstGeom prst="rect">
            <a:avLst/>
          </a:prstGeom>
          <a:solidFill>
            <a:srgbClr val="161616"/>
          </a:solidFill>
          <a:ln w="9525">
            <a:solidFill>
              <a:srgbClr val="393939"/>
            </a:solidFill>
            <a:prstDash val="solid"/>
          </a:ln>
        </p:spPr>
      </p:sp>
      <p:sp>
        <p:nvSpPr>
          <p:cNvPr id="37" name="msg-square"/>
          <p:cNvSpPr/>
          <p:nvPr/>
        </p:nvSpPr>
        <p:spPr>
          <a:xfrm>
            <a:off x="8119872" y="5070348"/>
            <a:ext cx="155448" cy="155448"/>
          </a:xfrm>
          <a:prstGeom prst="rect">
            <a:avLst/>
          </a:prstGeom>
          <a:solidFill>
            <a:srgbClr val="161616"/>
          </a:solidFill>
          <a:ln w="9525">
            <a:solidFill>
              <a:srgbClr val="393939"/>
            </a:solidFill>
            <a:prstDash val="solid"/>
          </a:ln>
        </p:spPr>
      </p:sp>
      <p:sp>
        <p:nvSpPr>
          <p:cNvPr id="38" name="msg-square"/>
          <p:cNvSpPr/>
          <p:nvPr/>
        </p:nvSpPr>
        <p:spPr>
          <a:xfrm>
            <a:off x="8343900" y="5070348"/>
            <a:ext cx="155448" cy="155448"/>
          </a:xfrm>
          <a:prstGeom prst="rect">
            <a:avLst/>
          </a:prstGeom>
          <a:solidFill>
            <a:srgbClr val="161616"/>
          </a:solidFill>
          <a:ln w="9525">
            <a:solidFill>
              <a:srgbClr val="393939"/>
            </a:solidFill>
            <a:prstDash val="solid"/>
          </a:ln>
        </p:spPr>
      </p:sp>
      <p:sp>
        <p:nvSpPr>
          <p:cNvPr id="39" name="msg-square"/>
          <p:cNvSpPr/>
          <p:nvPr/>
        </p:nvSpPr>
        <p:spPr>
          <a:xfrm>
            <a:off x="8567928" y="5070348"/>
            <a:ext cx="155448" cy="155448"/>
          </a:xfrm>
          <a:prstGeom prst="rect">
            <a:avLst/>
          </a:prstGeom>
          <a:solidFill>
            <a:srgbClr val="161616"/>
          </a:solidFill>
          <a:ln w="9525">
            <a:solidFill>
              <a:srgbClr val="393939"/>
            </a:solidFill>
            <a:prstDash val="solid"/>
          </a:ln>
        </p:spPr>
      </p:sp>
      <p:sp>
        <p:nvSpPr>
          <p:cNvPr id="40" name="msg-square"/>
          <p:cNvSpPr/>
          <p:nvPr/>
        </p:nvSpPr>
        <p:spPr>
          <a:xfrm>
            <a:off x="8791956" y="5070348"/>
            <a:ext cx="155448" cy="155448"/>
          </a:xfrm>
          <a:prstGeom prst="rect">
            <a:avLst/>
          </a:prstGeom>
          <a:solidFill>
            <a:srgbClr val="161616"/>
          </a:solidFill>
          <a:ln w="9525">
            <a:solidFill>
              <a:srgbClr val="393939"/>
            </a:solidFill>
            <a:prstDash val="solid"/>
          </a:ln>
        </p:spPr>
      </p:sp>
      <p:sp>
        <p:nvSpPr>
          <p:cNvPr id="41" name="msg-square"/>
          <p:cNvSpPr/>
          <p:nvPr/>
        </p:nvSpPr>
        <p:spPr>
          <a:xfrm>
            <a:off x="9015984" y="5070348"/>
            <a:ext cx="155448" cy="155448"/>
          </a:xfrm>
          <a:prstGeom prst="rect">
            <a:avLst/>
          </a:prstGeom>
          <a:solidFill>
            <a:srgbClr val="161616"/>
          </a:solidFill>
          <a:ln w="9525">
            <a:solidFill>
              <a:srgbClr val="393939"/>
            </a:solidFill>
            <a:prstDash val="solid"/>
          </a:ln>
        </p:spPr>
      </p:sp>
      <p:sp>
        <p:nvSpPr>
          <p:cNvPr id="42" name="msg-square"/>
          <p:cNvSpPr/>
          <p:nvPr/>
        </p:nvSpPr>
        <p:spPr>
          <a:xfrm>
            <a:off x="9240012" y="5070348"/>
            <a:ext cx="155448" cy="155448"/>
          </a:xfrm>
          <a:prstGeom prst="rect">
            <a:avLst/>
          </a:prstGeom>
          <a:solidFill>
            <a:srgbClr val="161616"/>
          </a:solidFill>
          <a:ln w="9525">
            <a:solidFill>
              <a:srgbClr val="393939"/>
            </a:solidFill>
            <a:prstDash val="solid"/>
          </a:ln>
        </p:spPr>
      </p:sp>
      <p:sp>
        <p:nvSpPr>
          <p:cNvPr id="43" name="msg-square"/>
          <p:cNvSpPr/>
          <p:nvPr/>
        </p:nvSpPr>
        <p:spPr>
          <a:xfrm>
            <a:off x="9464040" y="5070348"/>
            <a:ext cx="155448" cy="155448"/>
          </a:xfrm>
          <a:prstGeom prst="rect">
            <a:avLst/>
          </a:prstGeom>
          <a:solidFill>
            <a:srgbClr val="161616"/>
          </a:solidFill>
          <a:ln w="9525">
            <a:solidFill>
              <a:srgbClr val="393939"/>
            </a:solidFill>
            <a:prstDash val="solid"/>
          </a:ln>
        </p:spPr>
      </p:sp>
      <p:sp>
        <p:nvSpPr>
          <p:cNvPr id="44" name="msg-square"/>
          <p:cNvSpPr/>
          <p:nvPr/>
        </p:nvSpPr>
        <p:spPr>
          <a:xfrm>
            <a:off x="9688068" y="5070348"/>
            <a:ext cx="155448" cy="155448"/>
          </a:xfrm>
          <a:prstGeom prst="rect">
            <a:avLst/>
          </a:prstGeom>
          <a:solidFill>
            <a:srgbClr val="161616"/>
          </a:solidFill>
          <a:ln w="9525">
            <a:solidFill>
              <a:srgbClr val="393939"/>
            </a:solidFill>
            <a:prstDash val="solid"/>
          </a:ln>
        </p:spPr>
      </p:sp>
      <p:sp>
        <p:nvSpPr>
          <p:cNvPr id="45" name="msg-square"/>
          <p:cNvSpPr/>
          <p:nvPr/>
        </p:nvSpPr>
        <p:spPr>
          <a:xfrm>
            <a:off x="9912096" y="5070348"/>
            <a:ext cx="155448" cy="155448"/>
          </a:xfrm>
          <a:prstGeom prst="rect">
            <a:avLst/>
          </a:prstGeom>
          <a:solidFill>
            <a:srgbClr val="161616"/>
          </a:solidFill>
          <a:ln w="9525">
            <a:solidFill>
              <a:srgbClr val="393939"/>
            </a:solidFill>
            <a:prstDash val="solid"/>
          </a:ln>
        </p:spPr>
      </p:sp>
      <p:sp>
        <p:nvSpPr>
          <p:cNvPr id="46" name="msg-square"/>
          <p:cNvSpPr/>
          <p:nvPr/>
        </p:nvSpPr>
        <p:spPr>
          <a:xfrm>
            <a:off x="10136124" y="5070348"/>
            <a:ext cx="155448" cy="155448"/>
          </a:xfrm>
          <a:prstGeom prst="rect">
            <a:avLst/>
          </a:prstGeom>
          <a:solidFill>
            <a:srgbClr val="161616"/>
          </a:solidFill>
          <a:ln w="9525">
            <a:solidFill>
              <a:srgbClr val="393939"/>
            </a:solidFill>
            <a:prstDash val="solid"/>
          </a:ln>
        </p:spPr>
      </p:sp>
      <p:sp>
        <p:nvSpPr>
          <p:cNvPr id="47" name="msg-square"/>
          <p:cNvSpPr/>
          <p:nvPr/>
        </p:nvSpPr>
        <p:spPr>
          <a:xfrm>
            <a:off x="10360152" y="5070348"/>
            <a:ext cx="155448" cy="155448"/>
          </a:xfrm>
          <a:prstGeom prst="rect">
            <a:avLst/>
          </a:prstGeom>
          <a:solidFill>
            <a:srgbClr val="161616"/>
          </a:solidFill>
          <a:ln w="9525">
            <a:solidFill>
              <a:srgbClr val="393939"/>
            </a:solidFill>
            <a:prstDash val="solid"/>
          </a:ln>
        </p:spPr>
      </p:sp>
      <p:sp>
        <p:nvSpPr>
          <p:cNvPr id="48" name="msg-square"/>
          <p:cNvSpPr/>
          <p:nvPr/>
        </p:nvSpPr>
        <p:spPr>
          <a:xfrm>
            <a:off x="10584180" y="5070348"/>
            <a:ext cx="155448" cy="155448"/>
          </a:xfrm>
          <a:prstGeom prst="rect">
            <a:avLst/>
          </a:prstGeom>
          <a:solidFill>
            <a:srgbClr val="161616"/>
          </a:solidFill>
          <a:ln w="9525">
            <a:solidFill>
              <a:srgbClr val="393939"/>
            </a:solidFill>
            <a:prstDash val="solid"/>
          </a:ln>
        </p:spPr>
      </p:sp>
      <p:sp>
        <p:nvSpPr>
          <p:cNvPr id="49" name="msg-square"/>
          <p:cNvSpPr/>
          <p:nvPr/>
        </p:nvSpPr>
        <p:spPr>
          <a:xfrm>
            <a:off x="10808208" y="5070348"/>
            <a:ext cx="155448" cy="155448"/>
          </a:xfrm>
          <a:prstGeom prst="rect">
            <a:avLst/>
          </a:prstGeom>
          <a:solidFill>
            <a:srgbClr val="161616"/>
          </a:solidFill>
          <a:ln w="9525">
            <a:solidFill>
              <a:srgbClr val="393939"/>
            </a:solidFill>
            <a:prstDash val="solid"/>
          </a:ln>
        </p:spPr>
      </p:sp>
      <p:sp>
        <p:nvSpPr>
          <p:cNvPr id="50" name="msg-square"/>
          <p:cNvSpPr/>
          <p:nvPr/>
        </p:nvSpPr>
        <p:spPr>
          <a:xfrm>
            <a:off x="11032236" y="5070348"/>
            <a:ext cx="155448" cy="155448"/>
          </a:xfrm>
          <a:prstGeom prst="rect">
            <a:avLst/>
          </a:prstGeom>
          <a:solidFill>
            <a:srgbClr val="161616"/>
          </a:solidFill>
          <a:ln w="9525">
            <a:solidFill>
              <a:srgbClr val="393939"/>
            </a:solidFill>
            <a:prstDash val="solid"/>
          </a:ln>
        </p:spPr>
      </p:sp>
      <p:sp>
        <p:nvSpPr>
          <p:cNvPr id="51" name="msg-square"/>
          <p:cNvSpPr/>
          <p:nvPr/>
        </p:nvSpPr>
        <p:spPr>
          <a:xfrm>
            <a:off x="11256264" y="5070348"/>
            <a:ext cx="155448" cy="155448"/>
          </a:xfrm>
          <a:prstGeom prst="rect">
            <a:avLst/>
          </a:prstGeom>
          <a:solidFill>
            <a:srgbClr val="161616"/>
          </a:solidFill>
          <a:ln w="9525">
            <a:solidFill>
              <a:srgbClr val="393939"/>
            </a:solidFill>
            <a:prstDash val="solid"/>
          </a:ln>
        </p:spPr>
      </p:sp>
      <p:sp>
        <p:nvSpPr>
          <p:cNvPr id="52" name="msg-square"/>
          <p:cNvSpPr/>
          <p:nvPr/>
        </p:nvSpPr>
        <p:spPr>
          <a:xfrm>
            <a:off x="11480292" y="5070348"/>
            <a:ext cx="155448" cy="155448"/>
          </a:xfrm>
          <a:prstGeom prst="rect">
            <a:avLst/>
          </a:prstGeom>
          <a:solidFill>
            <a:srgbClr val="161616"/>
          </a:solidFill>
          <a:ln w="9525">
            <a:solidFill>
              <a:srgbClr val="393939"/>
            </a:solidFill>
            <a:prstDash val="solid"/>
          </a:ln>
        </p:spPr>
      </p:sp>
      <p:sp>
        <p:nvSpPr>
          <p:cNvPr id="53" name="Text 51"/>
          <p:cNvSpPr txBox="1"/>
          <p:nvPr/>
        </p:nvSpPr>
        <p:spPr>
          <a:xfrm>
            <a:off x="7223760" y="5385816"/>
            <a:ext cx="3657600" cy="256032"/>
          </a:xfrm>
          <a:prstGeom prst="rect">
            <a:avLst/>
          </a:prstGeom>
          <a:noFill/>
          <a:ln/>
        </p:spPr>
        <p:txBody>
          <a:bodyPr wrap="square" lIns="0" tIns="0" rIns="0" bIns="0" rtlCol="0" anchor="ctr"/>
          <a:lstStyle/>
          <a:p>
            <a:pPr marL="0" indent="0">
              <a:buNone/>
            </a:pPr>
            <a:r>
              <a:rPr lang="en-US" sz="1100" dirty="0">
                <a:solidFill>
                  <a:srgbClr val="42BE65"/>
                </a:solidFill>
                <a:latin typeface="Courier New" pitchFamily="34" charset="0"/>
                <a:ea typeface="Courier New" pitchFamily="34" charset="-122"/>
                <a:cs typeface="Courier New" pitchFamily="34" charset="-120"/>
              </a:rPr>
              <a:t>GET(ENABLED)  ·  depth 0</a:t>
            </a:r>
            <a:endParaRPr lang="en-US" sz="1100" dirty="0"/>
          </a:p>
        </p:txBody>
      </p:sp>
    </p:spTree>
  </p:cSld>
  <p:clrMapOvr>
    <a:masterClrMapping/>
  </p:clrMapOvr>
</p:sld>
</file>

<file path=ppt/theme/theme1.xml><?xml version="1.0" encoding="utf-8"?>
<a:theme xmlns:a="http://schemas.openxmlformats.org/drawingml/2006/main" name="IBM MQ Carbon">
  <a:themeElements>
    <a:clrScheme name="IBM MQ Carbon">
      <a:dk1>
        <a:srgbClr val="161616"/>
      </a:dk1>
      <a:lt1>
        <a:srgbClr val="FFFFFF"/>
      </a:lt1>
      <a:dk2>
        <a:srgbClr val="0043CE"/>
      </a:dk2>
      <a:lt2>
        <a:srgbClr val="F4F4F4"/>
      </a:lt2>
      <a:accent1>
        <a:srgbClr val="0F62FE"/>
      </a:accent1>
      <a:accent2>
        <a:srgbClr val="DA1E28"/>
      </a:accent2>
      <a:accent3>
        <a:srgbClr val="24A148"/>
      </a:accent3>
      <a:accent4>
        <a:srgbClr val="F1C21B"/>
      </a:accent4>
      <a:accent5>
        <a:srgbClr val="8A3FFC"/>
      </a:accent5>
      <a:accent6>
        <a:srgbClr val="6F6F6F"/>
      </a:accent6>
      <a:hlink>
        <a:srgbClr val="0F62FE"/>
      </a:hlink>
      <a:folHlink>
        <a:srgbClr val="8A3FFC"/>
      </a:folHlink>
    </a:clrScheme>
    <a:fontScheme name="IBM MQ Carb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TotalTime>
  <Words>2776</Words>
  <Application>Microsoft Office PowerPoint</Application>
  <PresentationFormat>Widescreen</PresentationFormat>
  <Paragraphs>253</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Courier New</vt:lpstr>
      <vt:lpstr>IBM MQ Carbon</vt:lpstr>
      <vt:lpstr>MQ AI Agent Ticket Pipeline</vt:lpstr>
      <vt:lpstr>Overview: What we are building</vt:lpstr>
      <vt:lpstr>A queue can be 85% full with no one reading from it</vt:lpstr>
      <vt:lpstr>Five stages, one instruction</vt:lpstr>
      <vt:lpstr>Building a queue that nobody can drain</vt:lpstr>
      <vt:lpstr>One sweep, every queue</vt:lpstr>
      <vt:lpstr>The enhancement is one line</vt:lpstr>
      <vt:lpstr>The answer</vt:lpstr>
      <vt:lpstr>QMS1, as the agent found it</vt:lpstr>
      <vt:lpstr>What answers the ticket</vt:lpstr>
      <vt:lpstr>The agent recommends, people still decide</vt:lpstr>
      <vt:lpstr>Thank you</vt:lpstr>
      <vt:lpstr>Why CURDEPTH and IPPROCS</vt:lpstr>
      <vt:lpstr>Evidence: QMS1, live</vt:lpstr>
      <vt:lpstr>The agent's reply, unedited</vt:lpstr>
    </vt:vector>
  </TitlesOfParts>
  <Company>IBM AngelHack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MQ AI Agent Ticket Pipeline — 3 minute cut</dc:title>
  <dc:subject>Diagnosing a GET-disabled queue on QMS1 with the IBM MQ Agent</dc:subject>
  <dc:creator>A.J. Aronoff</dc:creator>
  <cp:lastModifiedBy>AJ Aronoff</cp:lastModifiedBy>
  <cp:revision>4</cp:revision>
  <dcterms:created xsi:type="dcterms:W3CDTF">2026-10-09T04:57:24Z</dcterms:created>
  <dcterms:modified xsi:type="dcterms:W3CDTF">2026-10-10T01:14:36Z</dcterms:modified>
</cp:coreProperties>
</file>