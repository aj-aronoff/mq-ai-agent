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70" r:id="rId3"/>
    <p:sldId id="257" r:id="rId4"/>
    <p:sldId id="258" r:id="rId5"/>
    <p:sldId id="259" r:id="rId6"/>
    <p:sldId id="261" r:id="rId7"/>
    <p:sldId id="262" r:id="rId8"/>
    <p:sldId id="264" r:id="rId9"/>
    <p:sldId id="260" r:id="rId10"/>
    <p:sldId id="263" r:id="rId11"/>
    <p:sldId id="265" r:id="rId12"/>
    <p:sldId id="269" r:id="rId13"/>
    <p:sldId id="268" r:id="rId14"/>
    <p:sldId id="266" r:id="rId15"/>
    <p:sldId id="267"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33530AC6-4833-90D5-F543-B84015EC44CF}">
          <p14:sldIdLst>
            <p14:sldId id="256"/>
            <p14:sldId id="270"/>
            <p14:sldId id="257"/>
          </p14:sldIdLst>
        </p14:section>
        <p14:section name="The pipeline" id="{1D5DD602-19D9-7446-7ABC-1110257AD0CB}">
          <p14:sldIdLst>
            <p14:sldId id="258"/>
          </p14:sldIdLst>
        </p14:section>
        <p14:section name="The build" id="{992FFC78-B932-B125-D0C7-A2D02D755EFE}">
          <p14:sldIdLst>
            <p14:sldId id="259"/>
            <p14:sldId id="261"/>
            <p14:sldId id="262"/>
            <p14:sldId id="264"/>
          </p14:sldIdLst>
        </p14:section>
        <p14:section name="The diagnosis" id="{37B73F49-BC04-197C-55A0-91002443780B}">
          <p14:sldIdLst>
            <p14:sldId id="260"/>
            <p14:sldId id="263"/>
            <p14:sldId id="265"/>
            <p14:sldId id="269"/>
          </p14:sldIdLst>
        </p14:section>
        <p14:section name="Appendix" id="{3F864D64-38DA-57EC-1D33-F903C5C96A80}">
          <p14:sldIdLst>
            <p14:sldId id="268"/>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5" d="100"/>
          <a:sy n="85" d="100"/>
        </p:scale>
        <p:origin x="562"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629054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I'm A.J. This is the MQ AI Agent Ticket Pipeline. Every square up there is ten messages sitting on a real queue manager, with nothing reading them. In five minutes I'll show you how we find that automatically and turn it into a ticket the IBM MQ Agent can answer.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whole idea on one slide. A queue manager already knows when a queue is stuck — messages piling up with nothing reading them. What it does not do is tell anybody. So we built a pipeline. It sweeps every queue and detects that state, raises a ticket with the MQ facts, adds the one instruction that makes the ticket answerable, and hands it to the IBM MQ AI Agent, which comes back with the cause and the exact command. Detection, the ticket and the instruction are ours. The diagnosis is IBM's. The fix is still a person's call.</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queues on one queue manager. One is 85 percent full, the other hasn't been read in a week. MQ reports all of it on its own dashboard — but only if somebody goes and looks.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stages. We built the middle three. The last one is IBM's product, and we ran it live on a sandbox IBM gave us this week.</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one-script lab. Create the queue manager, define a thousand-deep queue, load it with dmpmqmsg — IBM's own utility — and then disable GET. No consumer is ever started.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MQSC command, every queue on the estate. The rule is two fields: depth above zero, and no process reading. On QMS1 it fires twice — including on a commerce queue that had been stuck for a week and nobody had noticed.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left, the ticket our scanner raises. Accurate, and completely useless to an AI agent. On the right, the same ticket with one line added. Two field substitutions, and now it is a question the MQ Agent can answer.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live reply. Primary issue named: GET-DISABLED. The metrics that prove it. Three other causes explicitly ruled out. And the one command that fixes it. Twenty seconds, from a ticket that previously said nothing but a queue name.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QMS1 as the agent found it. Messages go in on the left. On the right, nothing is reading — the console's own words are no connected user applications. And GET is disabled, so even if a consumer turned up it could not take a message.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MQ Agent is three things: an MCP server that gathers facts from your queue managers, a runtime that uses AI models over those tools, and a configuration covering up to twenty queue managers. One limit matters for us: IBM is explicit that it cannot run MQSC. It diagnoses. It does not change anything.</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honest boundary. The agent found it; a person still runs the fix. That is not a limitation we are hiding — it is IBM's design, and for most operations teams it is the version they would actually deploy. Our contribution is making the ticket good enough to ask.</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Happy to break the queue manager again live if anyone wants to see it.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fields, and neither means anything on its own. Depth is normal. No readers is normal. Together they are always a problem. Here is what the rule misses, and it is on the roadmap.</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unretouched console, cropped to the application window. Everything on the earlier slides traces back to something visible here.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reply, unedited. The left column is what is visible in the screenshot; the right continues past the scroll.</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61616"/>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66928" y="1325880"/>
            <a:ext cx="8229600" cy="274320"/>
          </a:xfrm>
          <a:prstGeom prst="rect">
            <a:avLst/>
          </a:prstGeom>
          <a:noFill/>
          <a:ln/>
        </p:spPr>
        <p:txBody>
          <a:bodyPr wrap="square" rtlCol="0"/>
          <a:lstStyle>
            <a:lvl1pPr marL="0" indent="0" algn="l">
              <a:buNone/>
              <a:defRPr lang="en-US" sz="1300" kern="0" spc="160" dirty="0">
                <a:solidFill>
                  <a:srgbClr val="0F62FE"/>
                </a:solidFill>
                <a:latin typeface="Courier New" pitchFamily="34" charset="0"/>
                <a:ea typeface="Courier New" pitchFamily="34" charset="-122"/>
                <a:cs typeface="Courier New" pitchFamily="34" charset="-120"/>
              </a:defRPr>
            </a:lvl1pPr>
          </a:lstStyle>
          <a:p>
            <a:pPr marL="0" indent="0" algn="l">
              <a:buNone/>
            </a:pPr>
            <a:endParaRPr lang="en-US" sz="1300" dirty="0"/>
          </a:p>
        </p:txBody>
      </p:sp>
      <p:sp>
        <p:nvSpPr>
          <p:cNvPr id="3" name="Text 0"/>
          <p:cNvSpPr>
            <a:spLocks noGrp="1"/>
          </p:cNvSpPr>
          <p:nvPr>
            <p:ph type="title" idx="101" hasCustomPrompt="1"/>
          </p:nvPr>
        </p:nvSpPr>
        <p:spPr>
          <a:xfrm>
            <a:off x="566928" y="1737360"/>
            <a:ext cx="5943600" cy="1737360"/>
          </a:xfrm>
          <a:prstGeom prst="rect">
            <a:avLst/>
          </a:prstGeom>
          <a:noFill/>
          <a:ln/>
        </p:spPr>
        <p:txBody>
          <a:bodyPr wrap="square" rtlCol="0"/>
          <a:lstStyle>
            <a:lvl1pPr marL="0" indent="0" algn="l">
              <a:buNone/>
              <a:defRPr lang="en-US" sz="5400" b="1" kern="0" spc="-80" dirty="0">
                <a:solidFill>
                  <a:srgbClr val="FFFFFF"/>
                </a:solidFill>
              </a:defRPr>
            </a:lvl1pPr>
          </a:lstStyle>
          <a:p>
            <a:pPr marL="0" indent="0" algn="l">
              <a:buNone/>
            </a:pPr>
            <a:endParaRPr lang="en-US" sz="5400" dirty="0"/>
          </a:p>
        </p:txBody>
      </p:sp>
      <p:sp>
        <p:nvSpPr>
          <p:cNvPr id="4" name="Text 0"/>
          <p:cNvSpPr>
            <a:spLocks noGrp="1"/>
          </p:cNvSpPr>
          <p:nvPr>
            <p:ph type="body" idx="102" hasCustomPrompt="1"/>
          </p:nvPr>
        </p:nvSpPr>
        <p:spPr>
          <a:xfrm>
            <a:off x="566928" y="3493008"/>
            <a:ext cx="5943600" cy="685800"/>
          </a:xfrm>
          <a:prstGeom prst="rect">
            <a:avLst/>
          </a:prstGeom>
          <a:noFill/>
          <a:ln/>
        </p:spPr>
        <p:txBody>
          <a:bodyPr wrap="square" rtlCol="0"/>
          <a:lstStyle>
            <a:lvl1pPr marL="0" indent="0" algn="l">
              <a:buNone/>
              <a:defRPr lang="en-US" sz="2100" dirty="0">
                <a:solidFill>
                  <a:srgbClr val="C6C6C6"/>
                </a:solidFill>
              </a:defRPr>
            </a:lvl1pPr>
          </a:lstStyle>
          <a:p>
            <a:pPr marL="0" indent="0" algn="l">
              <a:buNone/>
            </a:pPr>
            <a:endParaRPr lang="en-US" sz="2100" dirty="0"/>
          </a:p>
        </p:txBody>
      </p:sp>
      <p:sp>
        <p:nvSpPr>
          <p:cNvPr id="5" name="Text 0"/>
          <p:cNvSpPr>
            <a:spLocks noGrp="1"/>
          </p:cNvSpPr>
          <p:nvPr>
            <p:ph type="body" idx="103" hasCustomPrompt="1"/>
          </p:nvPr>
        </p:nvSpPr>
        <p:spPr>
          <a:xfrm>
            <a:off x="566928" y="5715000"/>
            <a:ext cx="8595360" cy="411480"/>
          </a:xfrm>
          <a:prstGeom prst="rect">
            <a:avLst/>
          </a:prstGeom>
          <a:noFill/>
          <a:ln/>
        </p:spPr>
        <p:txBody>
          <a:bodyPr wrap="square" rtlCol="0"/>
          <a:lstStyle>
            <a:lvl1pPr marL="0" indent="0" algn="l">
              <a:buNone/>
              <a:defRPr lang="en-US" sz="1400" kern="0" spc="60" dirty="0">
                <a:solidFill>
                  <a:srgbClr val="6F6F6F"/>
                </a:solidFill>
              </a:defRPr>
            </a:lvl1pPr>
          </a:lstStyle>
          <a:p>
            <a:pPr marL="0" indent="0" algn="l">
              <a:buNone/>
            </a:pP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_DARK">
    <p:bg>
      <p:bgPr>
        <a:solidFill>
          <a:srgbClr val="161616"/>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66928" y="2651760"/>
            <a:ext cx="8229600" cy="292608"/>
          </a:xfrm>
          <a:prstGeom prst="rect">
            <a:avLst/>
          </a:prstGeom>
          <a:noFill/>
          <a:ln/>
        </p:spPr>
        <p:txBody>
          <a:bodyPr wrap="square" rtlCol="0"/>
          <a:lstStyle>
            <a:lvl1pPr marL="0" indent="0" algn="l">
              <a:buNone/>
              <a:defRPr lang="en-US" sz="1300" kern="0" spc="160" dirty="0">
                <a:solidFill>
                  <a:srgbClr val="0F62FE"/>
                </a:solidFill>
                <a:latin typeface="Courier New" pitchFamily="34" charset="0"/>
                <a:ea typeface="Courier New" pitchFamily="34" charset="-122"/>
                <a:cs typeface="Courier New" pitchFamily="34" charset="-120"/>
              </a:defRPr>
            </a:lvl1pPr>
          </a:lstStyle>
          <a:p>
            <a:pPr marL="0" indent="0" algn="l">
              <a:buNone/>
            </a:pPr>
            <a:endParaRPr lang="en-US" sz="1300" dirty="0"/>
          </a:p>
        </p:txBody>
      </p:sp>
      <p:sp>
        <p:nvSpPr>
          <p:cNvPr id="3" name="Text 0"/>
          <p:cNvSpPr>
            <a:spLocks noGrp="1"/>
          </p:cNvSpPr>
          <p:nvPr>
            <p:ph type="title" idx="101" hasCustomPrompt="1"/>
          </p:nvPr>
        </p:nvSpPr>
        <p:spPr>
          <a:xfrm>
            <a:off x="566928" y="3017520"/>
            <a:ext cx="10058400" cy="1188720"/>
          </a:xfrm>
          <a:prstGeom prst="rect">
            <a:avLst/>
          </a:prstGeom>
          <a:noFill/>
          <a:ln/>
        </p:spPr>
        <p:txBody>
          <a:bodyPr wrap="square" rtlCol="0"/>
          <a:lstStyle>
            <a:lvl1pPr marL="0" indent="0" algn="l">
              <a:buNone/>
              <a:defRPr lang="en-US" sz="4000" b="1" kern="0" spc="-50" dirty="0">
                <a:solidFill>
                  <a:srgbClr val="FFFFFF"/>
                </a:solidFill>
              </a:defRPr>
            </a:lvl1pPr>
          </a:lstStyle>
          <a:p>
            <a:pPr marL="0" indent="0" algn="l">
              <a:buNone/>
            </a:pPr>
            <a:endParaRPr lang="en-US" sz="4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LIGH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66928" y="384048"/>
            <a:ext cx="10424160" cy="713232"/>
          </a:xfrm>
          <a:prstGeom prst="rect">
            <a:avLst/>
          </a:prstGeom>
          <a:noFill/>
          <a:ln/>
        </p:spPr>
        <p:txBody>
          <a:bodyPr wrap="square" rtlCol="0"/>
          <a:lstStyle>
            <a:lvl1pPr marL="0" indent="0" algn="l">
              <a:buNone/>
              <a:defRPr lang="en-US" sz="3200" b="1" kern="0" spc="-40" dirty="0">
                <a:solidFill>
                  <a:srgbClr val="161616"/>
                </a:solidFill>
              </a:defRPr>
            </a:lvl1pPr>
          </a:lstStyle>
          <a:p>
            <a:pPr marL="0" indent="0" algn="l">
              <a:buNone/>
            </a:pPr>
            <a:endParaRPr lang="en-US" sz="3200" dirty="0"/>
          </a:p>
        </p:txBody>
      </p:sp>
      <p:sp>
        <p:nvSpPr>
          <p:cNvPr id="3" name="Text 0"/>
          <p:cNvSpPr txBox="1"/>
          <p:nvPr/>
        </p:nvSpPr>
        <p:spPr>
          <a:xfrm>
            <a:off x="566928" y="6364224"/>
            <a:ext cx="6400800" cy="274320"/>
          </a:xfrm>
          <a:prstGeom prst="rect">
            <a:avLst/>
          </a:prstGeom>
          <a:noFill/>
          <a:ln/>
        </p:spPr>
        <p:txBody>
          <a:bodyPr wrap="square" lIns="0" tIns="0" rIns="0" bIns="0" rtlCol="0" anchor="ctr"/>
          <a:lstStyle/>
          <a:p>
            <a:pPr marL="0" indent="0">
              <a:buNone/>
            </a:pPr>
            <a:r>
              <a:rPr lang="en-US" sz="900" dirty="0">
                <a:solidFill>
                  <a:srgbClr val="A8A8A8"/>
                </a:solidFill>
              </a:rPr>
              <a:t>MQ AI Agent Ticket Pipeline  ·  IBM AngelHack</a:t>
            </a:r>
            <a:endParaRPr lang="en-US" sz="900" dirty="0"/>
          </a:p>
        </p:txBody>
      </p:sp>
      <p:sp>
        <p:nvSpPr>
          <p:cNvPr id="25" name="Slide Number Placeholder 0"/>
          <p:cNvSpPr>
            <a:spLocks noGrp="1"/>
          </p:cNvSpPr>
          <p:nvPr>
            <p:ph type="sldNum" sz="quarter" idx="4294967295"/>
          </p:nvPr>
        </p:nvSpPr>
        <p:spPr>
          <a:xfrm>
            <a:off x="11430000" y="6364224"/>
            <a:ext cx="365760"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A8A8A8"/>
                </a:solidFill>
              </a:defRPr>
            </a:lvl1pPr>
          </a:lstStyle>
          <a:p>
            <a:pPr algn="r"/>
            <a:fld id="{F7021451-1387-4CA6-816F-3879F97B5CBC}" type="slidenum">
              <a:rPr lang="en-US" b="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T_DARK">
    <p:bg>
      <p:bgPr>
        <a:solidFill>
          <a:srgbClr val="161616"/>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66928" y="384048"/>
            <a:ext cx="10424160" cy="713232"/>
          </a:xfrm>
          <a:prstGeom prst="rect">
            <a:avLst/>
          </a:prstGeom>
          <a:noFill/>
          <a:ln/>
        </p:spPr>
        <p:txBody>
          <a:bodyPr wrap="square" rtlCol="0"/>
          <a:lstStyle>
            <a:lvl1pPr marL="0" indent="0" algn="l">
              <a:buNone/>
              <a:defRPr lang="en-US" sz="3200" b="1" kern="0" spc="-40" dirty="0">
                <a:solidFill>
                  <a:srgbClr val="FFFFFF"/>
                </a:solidFill>
              </a:defRPr>
            </a:lvl1pPr>
          </a:lstStyle>
          <a:p>
            <a:pPr marL="0" indent="0" algn="l">
              <a:buNone/>
            </a:pPr>
            <a:endParaRPr lang="en-US" sz="3200" dirty="0"/>
          </a:p>
        </p:txBody>
      </p:sp>
      <p:sp>
        <p:nvSpPr>
          <p:cNvPr id="3" name="Text 0"/>
          <p:cNvSpPr txBox="1"/>
          <p:nvPr/>
        </p:nvSpPr>
        <p:spPr>
          <a:xfrm>
            <a:off x="566928" y="6364224"/>
            <a:ext cx="6400800" cy="274320"/>
          </a:xfrm>
          <a:prstGeom prst="rect">
            <a:avLst/>
          </a:prstGeom>
          <a:noFill/>
          <a:ln/>
        </p:spPr>
        <p:txBody>
          <a:bodyPr wrap="square" lIns="0" tIns="0" rIns="0" bIns="0" rtlCol="0" anchor="ctr"/>
          <a:lstStyle/>
          <a:p>
            <a:pPr marL="0" indent="0">
              <a:buNone/>
            </a:pPr>
            <a:r>
              <a:rPr lang="en-US" sz="900" dirty="0">
                <a:solidFill>
                  <a:srgbClr val="6F6F6F"/>
                </a:solidFill>
              </a:rPr>
              <a:t>MQ AI Agent Ticket Pipeline  ·  IBM AngelHack</a:t>
            </a:r>
            <a:endParaRPr lang="en-US" sz="900" dirty="0"/>
          </a:p>
        </p:txBody>
      </p:sp>
      <p:sp>
        <p:nvSpPr>
          <p:cNvPr id="25" name="Slide Number Placeholder 0"/>
          <p:cNvSpPr>
            <a:spLocks noGrp="1"/>
          </p:cNvSpPr>
          <p:nvPr>
            <p:ph type="sldNum" sz="quarter" idx="4294967295"/>
          </p:nvPr>
        </p:nvSpPr>
        <p:spPr>
          <a:xfrm>
            <a:off x="11430000" y="6364224"/>
            <a:ext cx="365760"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6F6F6F"/>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30000" y="6364224"/>
            <a:ext cx="365760"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A8A8A8"/>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66928" y="1325880"/>
            <a:ext cx="8229600" cy="274320"/>
          </a:xfrm>
          <a:prstGeom prst="rect">
            <a:avLst/>
          </a:prstGeom>
          <a:noFill/>
          <a:ln/>
        </p:spPr>
        <p:txBody>
          <a:bodyPr wrap="square" rtlCol="0"/>
          <a:lstStyle/>
          <a:p>
            <a:pPr marL="0" indent="0" algn="l">
              <a:buNone/>
            </a:pPr>
            <a:r>
              <a:rPr lang="en-US" sz="1300" kern="0" spc="160" dirty="0">
                <a:solidFill>
                  <a:srgbClr val="0F62FE"/>
                </a:solidFill>
                <a:latin typeface="Courier New" pitchFamily="34" charset="0"/>
                <a:ea typeface="Courier New" pitchFamily="34" charset="-122"/>
                <a:cs typeface="Courier New" pitchFamily="34" charset="-120"/>
              </a:rPr>
              <a:t>QMS1  ·  ACME.APPDATA.QUEUE</a:t>
            </a:r>
            <a:endParaRPr lang="en-US" sz="1300" dirty="0"/>
          </a:p>
        </p:txBody>
      </p:sp>
      <p:sp>
        <p:nvSpPr>
          <p:cNvPr id="3" name="Text 0"/>
          <p:cNvSpPr>
            <a:spLocks noGrp="1"/>
          </p:cNvSpPr>
          <p:nvPr>
            <p:ph type="title" idx="101" hasCustomPrompt="1"/>
          </p:nvPr>
        </p:nvSpPr>
        <p:spPr>
          <a:xfrm>
            <a:off x="566928" y="1737360"/>
            <a:ext cx="5943600" cy="1737360"/>
          </a:xfrm>
          <a:prstGeom prst="rect">
            <a:avLst/>
          </a:prstGeom>
          <a:noFill/>
          <a:ln/>
        </p:spPr>
        <p:txBody>
          <a:bodyPr wrap="square" rtlCol="0" anchor="t"/>
          <a:lstStyle/>
          <a:p>
            <a:pPr marL="0" indent="0" algn="l">
              <a:buNone/>
            </a:pPr>
            <a:r>
              <a:rPr lang="en-US" sz="5400" b="1" kern="0" spc="-80" dirty="0">
                <a:solidFill>
                  <a:srgbClr val="FFFFFF"/>
                </a:solidFill>
              </a:rPr>
              <a:t>MQ AI Agent</a:t>
            </a:r>
            <a:endParaRPr lang="en-US" sz="5400" dirty="0"/>
          </a:p>
          <a:p>
            <a:pPr marL="0" indent="0" algn="l">
              <a:buNone/>
            </a:pPr>
            <a:r>
              <a:rPr lang="en-US" sz="5400" b="1" kern="0" spc="-80" dirty="0">
                <a:solidFill>
                  <a:srgbClr val="FFFFFF"/>
                </a:solidFill>
              </a:rPr>
              <a:t>Ticket Pipeline</a:t>
            </a:r>
            <a:endParaRPr lang="en-US" sz="5400" dirty="0"/>
          </a:p>
        </p:txBody>
      </p:sp>
      <p:sp>
        <p:nvSpPr>
          <p:cNvPr id="4" name="Text 0"/>
          <p:cNvSpPr>
            <a:spLocks noGrp="1"/>
          </p:cNvSpPr>
          <p:nvPr>
            <p:ph type="body" idx="102" hasCustomPrompt="1"/>
          </p:nvPr>
        </p:nvSpPr>
        <p:spPr>
          <a:xfrm>
            <a:off x="566928" y="3493008"/>
            <a:ext cx="5943600" cy="685800"/>
          </a:xfrm>
          <a:prstGeom prst="rect">
            <a:avLst/>
          </a:prstGeom>
          <a:noFill/>
          <a:ln/>
        </p:spPr>
        <p:txBody>
          <a:bodyPr wrap="square" rtlCol="0"/>
          <a:lstStyle/>
          <a:p>
            <a:pPr marL="0" indent="0" algn="l">
              <a:buNone/>
            </a:pPr>
            <a:r>
              <a:rPr lang="en-US" sz="2100" dirty="0">
                <a:solidFill>
                  <a:srgbClr val="C6C6C6"/>
                </a:solidFill>
              </a:rPr>
              <a:t>From a silent queue to an actionable diagnosis</a:t>
            </a:r>
            <a:endParaRPr lang="en-US" sz="2100" dirty="0"/>
          </a:p>
        </p:txBody>
      </p:sp>
      <p:sp>
        <p:nvSpPr>
          <p:cNvPr id="5" name="Text 0"/>
          <p:cNvSpPr>
            <a:spLocks noGrp="1"/>
          </p:cNvSpPr>
          <p:nvPr>
            <p:ph type="body" idx="103" hasCustomPrompt="1"/>
          </p:nvPr>
        </p:nvSpPr>
        <p:spPr>
          <a:xfrm>
            <a:off x="566928" y="5715000"/>
            <a:ext cx="8595360" cy="411480"/>
          </a:xfrm>
          <a:prstGeom prst="rect">
            <a:avLst/>
          </a:prstGeom>
          <a:noFill/>
          <a:ln/>
        </p:spPr>
        <p:txBody>
          <a:bodyPr wrap="square" rtlCol="0"/>
          <a:lstStyle/>
          <a:p>
            <a:pPr marL="0" indent="0" algn="l">
              <a:buNone/>
            </a:pPr>
            <a:r>
              <a:rPr lang="en-US" sz="1400" kern="0" spc="60" dirty="0">
                <a:solidFill>
                  <a:srgbClr val="6F6F6F"/>
                </a:solidFill>
              </a:rPr>
              <a:t>A.J. Aronoff   ·   IBM AngelHack   ·   October 2026</a:t>
            </a:r>
            <a:endParaRPr lang="en-US" sz="1400" dirty="0"/>
          </a:p>
        </p:txBody>
      </p:sp>
      <p:sp>
        <p:nvSpPr>
          <p:cNvPr id="6" name="msg-square"/>
          <p:cNvSpPr/>
          <p:nvPr/>
        </p:nvSpPr>
        <p:spPr>
          <a:xfrm>
            <a:off x="7182612" y="2066544"/>
            <a:ext cx="155448" cy="155448"/>
          </a:xfrm>
          <a:prstGeom prst="rect">
            <a:avLst/>
          </a:prstGeom>
          <a:solidFill>
            <a:srgbClr val="0F62FE"/>
          </a:solidFill>
          <a:ln w="9525">
            <a:solidFill>
              <a:srgbClr val="0F62FE"/>
            </a:solidFill>
            <a:prstDash val="solid"/>
          </a:ln>
        </p:spPr>
      </p:sp>
      <p:sp>
        <p:nvSpPr>
          <p:cNvPr id="7" name="msg-square"/>
          <p:cNvSpPr/>
          <p:nvPr/>
        </p:nvSpPr>
        <p:spPr>
          <a:xfrm>
            <a:off x="7406640" y="2066544"/>
            <a:ext cx="155448" cy="155448"/>
          </a:xfrm>
          <a:prstGeom prst="rect">
            <a:avLst/>
          </a:prstGeom>
          <a:solidFill>
            <a:srgbClr val="0F62FE"/>
          </a:solidFill>
          <a:ln w="9525">
            <a:solidFill>
              <a:srgbClr val="0F62FE"/>
            </a:solidFill>
            <a:prstDash val="solid"/>
          </a:ln>
        </p:spPr>
      </p:sp>
      <p:sp>
        <p:nvSpPr>
          <p:cNvPr id="8" name="msg-square"/>
          <p:cNvSpPr/>
          <p:nvPr/>
        </p:nvSpPr>
        <p:spPr>
          <a:xfrm>
            <a:off x="7630668" y="2066544"/>
            <a:ext cx="155448" cy="155448"/>
          </a:xfrm>
          <a:prstGeom prst="rect">
            <a:avLst/>
          </a:prstGeom>
          <a:solidFill>
            <a:srgbClr val="0F62FE"/>
          </a:solidFill>
          <a:ln w="9525">
            <a:solidFill>
              <a:srgbClr val="0F62FE"/>
            </a:solidFill>
            <a:prstDash val="solid"/>
          </a:ln>
        </p:spPr>
      </p:sp>
      <p:sp>
        <p:nvSpPr>
          <p:cNvPr id="9" name="msg-square"/>
          <p:cNvSpPr/>
          <p:nvPr/>
        </p:nvSpPr>
        <p:spPr>
          <a:xfrm>
            <a:off x="7854696" y="2066544"/>
            <a:ext cx="155448" cy="155448"/>
          </a:xfrm>
          <a:prstGeom prst="rect">
            <a:avLst/>
          </a:prstGeom>
          <a:solidFill>
            <a:srgbClr val="0F62FE"/>
          </a:solidFill>
          <a:ln w="9525">
            <a:solidFill>
              <a:srgbClr val="0F62FE"/>
            </a:solidFill>
            <a:prstDash val="solid"/>
          </a:ln>
        </p:spPr>
      </p:sp>
      <p:sp>
        <p:nvSpPr>
          <p:cNvPr id="10" name="msg-square"/>
          <p:cNvSpPr/>
          <p:nvPr/>
        </p:nvSpPr>
        <p:spPr>
          <a:xfrm>
            <a:off x="8078724" y="2066544"/>
            <a:ext cx="155448" cy="155448"/>
          </a:xfrm>
          <a:prstGeom prst="rect">
            <a:avLst/>
          </a:prstGeom>
          <a:solidFill>
            <a:srgbClr val="0F62FE"/>
          </a:solidFill>
          <a:ln w="9525">
            <a:solidFill>
              <a:srgbClr val="0F62FE"/>
            </a:solidFill>
            <a:prstDash val="solid"/>
          </a:ln>
        </p:spPr>
      </p:sp>
      <p:sp>
        <p:nvSpPr>
          <p:cNvPr id="11" name="msg-square"/>
          <p:cNvSpPr/>
          <p:nvPr/>
        </p:nvSpPr>
        <p:spPr>
          <a:xfrm>
            <a:off x="8302752" y="2066544"/>
            <a:ext cx="155448" cy="155448"/>
          </a:xfrm>
          <a:prstGeom prst="rect">
            <a:avLst/>
          </a:prstGeom>
          <a:solidFill>
            <a:srgbClr val="0F62FE"/>
          </a:solidFill>
          <a:ln w="9525">
            <a:solidFill>
              <a:srgbClr val="0F62FE"/>
            </a:solidFill>
            <a:prstDash val="solid"/>
          </a:ln>
        </p:spPr>
      </p:sp>
      <p:sp>
        <p:nvSpPr>
          <p:cNvPr id="12" name="msg-square"/>
          <p:cNvSpPr/>
          <p:nvPr/>
        </p:nvSpPr>
        <p:spPr>
          <a:xfrm>
            <a:off x="8526780" y="2066544"/>
            <a:ext cx="155448" cy="155448"/>
          </a:xfrm>
          <a:prstGeom prst="rect">
            <a:avLst/>
          </a:prstGeom>
          <a:solidFill>
            <a:srgbClr val="0F62FE"/>
          </a:solidFill>
          <a:ln w="9525">
            <a:solidFill>
              <a:srgbClr val="0F62FE"/>
            </a:solidFill>
            <a:prstDash val="solid"/>
          </a:ln>
        </p:spPr>
      </p:sp>
      <p:sp>
        <p:nvSpPr>
          <p:cNvPr id="13" name="msg-square"/>
          <p:cNvSpPr/>
          <p:nvPr/>
        </p:nvSpPr>
        <p:spPr>
          <a:xfrm>
            <a:off x="8750808" y="2066544"/>
            <a:ext cx="155448" cy="155448"/>
          </a:xfrm>
          <a:prstGeom prst="rect">
            <a:avLst/>
          </a:prstGeom>
          <a:solidFill>
            <a:srgbClr val="0F62FE"/>
          </a:solidFill>
          <a:ln w="9525">
            <a:solidFill>
              <a:srgbClr val="0F62FE"/>
            </a:solidFill>
            <a:prstDash val="solid"/>
          </a:ln>
        </p:spPr>
      </p:sp>
      <p:sp>
        <p:nvSpPr>
          <p:cNvPr id="14" name="msg-square"/>
          <p:cNvSpPr/>
          <p:nvPr/>
        </p:nvSpPr>
        <p:spPr>
          <a:xfrm>
            <a:off x="8974836" y="2066544"/>
            <a:ext cx="155448" cy="155448"/>
          </a:xfrm>
          <a:prstGeom prst="rect">
            <a:avLst/>
          </a:prstGeom>
          <a:solidFill>
            <a:srgbClr val="0F62FE"/>
          </a:solidFill>
          <a:ln w="9525">
            <a:solidFill>
              <a:srgbClr val="0F62FE"/>
            </a:solidFill>
            <a:prstDash val="solid"/>
          </a:ln>
        </p:spPr>
      </p:sp>
      <p:sp>
        <p:nvSpPr>
          <p:cNvPr id="15" name="msg-square"/>
          <p:cNvSpPr/>
          <p:nvPr/>
        </p:nvSpPr>
        <p:spPr>
          <a:xfrm>
            <a:off x="9198864" y="2066544"/>
            <a:ext cx="155448" cy="155448"/>
          </a:xfrm>
          <a:prstGeom prst="rect">
            <a:avLst/>
          </a:prstGeom>
          <a:solidFill>
            <a:srgbClr val="0F62FE"/>
          </a:solidFill>
          <a:ln w="9525">
            <a:solidFill>
              <a:srgbClr val="0F62FE"/>
            </a:solidFill>
            <a:prstDash val="solid"/>
          </a:ln>
        </p:spPr>
      </p:sp>
      <p:sp>
        <p:nvSpPr>
          <p:cNvPr id="16" name="msg-square"/>
          <p:cNvSpPr/>
          <p:nvPr/>
        </p:nvSpPr>
        <p:spPr>
          <a:xfrm>
            <a:off x="9422892" y="2066544"/>
            <a:ext cx="155448" cy="155448"/>
          </a:xfrm>
          <a:prstGeom prst="rect">
            <a:avLst/>
          </a:prstGeom>
          <a:solidFill>
            <a:srgbClr val="0F62FE"/>
          </a:solidFill>
          <a:ln w="9525">
            <a:solidFill>
              <a:srgbClr val="0F62FE"/>
            </a:solidFill>
            <a:prstDash val="solid"/>
          </a:ln>
        </p:spPr>
      </p:sp>
      <p:sp>
        <p:nvSpPr>
          <p:cNvPr id="17" name="msg-square"/>
          <p:cNvSpPr/>
          <p:nvPr/>
        </p:nvSpPr>
        <p:spPr>
          <a:xfrm>
            <a:off x="9646920" y="2066544"/>
            <a:ext cx="155448" cy="155448"/>
          </a:xfrm>
          <a:prstGeom prst="rect">
            <a:avLst/>
          </a:prstGeom>
          <a:solidFill>
            <a:srgbClr val="0F62FE"/>
          </a:solidFill>
          <a:ln w="9525">
            <a:solidFill>
              <a:srgbClr val="0F62FE"/>
            </a:solidFill>
            <a:prstDash val="solid"/>
          </a:ln>
        </p:spPr>
      </p:sp>
      <p:sp>
        <p:nvSpPr>
          <p:cNvPr id="18" name="msg-square"/>
          <p:cNvSpPr/>
          <p:nvPr/>
        </p:nvSpPr>
        <p:spPr>
          <a:xfrm>
            <a:off x="9870948" y="2066544"/>
            <a:ext cx="155448" cy="155448"/>
          </a:xfrm>
          <a:prstGeom prst="rect">
            <a:avLst/>
          </a:prstGeom>
          <a:solidFill>
            <a:srgbClr val="0F62FE"/>
          </a:solidFill>
          <a:ln w="9525">
            <a:solidFill>
              <a:srgbClr val="0F62FE"/>
            </a:solidFill>
            <a:prstDash val="solid"/>
          </a:ln>
        </p:spPr>
      </p:sp>
      <p:sp>
        <p:nvSpPr>
          <p:cNvPr id="19" name="msg-square"/>
          <p:cNvSpPr/>
          <p:nvPr/>
        </p:nvSpPr>
        <p:spPr>
          <a:xfrm>
            <a:off x="10094976" y="2066544"/>
            <a:ext cx="155448" cy="155448"/>
          </a:xfrm>
          <a:prstGeom prst="rect">
            <a:avLst/>
          </a:prstGeom>
          <a:solidFill>
            <a:srgbClr val="0F62FE"/>
          </a:solidFill>
          <a:ln w="9525">
            <a:solidFill>
              <a:srgbClr val="0F62FE"/>
            </a:solidFill>
            <a:prstDash val="solid"/>
          </a:ln>
        </p:spPr>
      </p:sp>
      <p:sp>
        <p:nvSpPr>
          <p:cNvPr id="20" name="msg-square"/>
          <p:cNvSpPr/>
          <p:nvPr/>
        </p:nvSpPr>
        <p:spPr>
          <a:xfrm>
            <a:off x="10319004" y="2066544"/>
            <a:ext cx="155448" cy="155448"/>
          </a:xfrm>
          <a:prstGeom prst="rect">
            <a:avLst/>
          </a:prstGeom>
          <a:solidFill>
            <a:srgbClr val="0F62FE"/>
          </a:solidFill>
          <a:ln w="9525">
            <a:solidFill>
              <a:srgbClr val="0F62FE"/>
            </a:solidFill>
            <a:prstDash val="solid"/>
          </a:ln>
        </p:spPr>
      </p:sp>
      <p:sp>
        <p:nvSpPr>
          <p:cNvPr id="21" name="msg-square"/>
          <p:cNvSpPr/>
          <p:nvPr/>
        </p:nvSpPr>
        <p:spPr>
          <a:xfrm>
            <a:off x="10543032" y="2066544"/>
            <a:ext cx="155448" cy="155448"/>
          </a:xfrm>
          <a:prstGeom prst="rect">
            <a:avLst/>
          </a:prstGeom>
          <a:solidFill>
            <a:srgbClr val="0F62FE"/>
          </a:solidFill>
          <a:ln w="9525">
            <a:solidFill>
              <a:srgbClr val="0F62FE"/>
            </a:solidFill>
            <a:prstDash val="solid"/>
          </a:ln>
        </p:spPr>
      </p:sp>
      <p:sp>
        <p:nvSpPr>
          <p:cNvPr id="22" name="msg-square"/>
          <p:cNvSpPr/>
          <p:nvPr/>
        </p:nvSpPr>
        <p:spPr>
          <a:xfrm>
            <a:off x="10767060" y="2066544"/>
            <a:ext cx="155448" cy="155448"/>
          </a:xfrm>
          <a:prstGeom prst="rect">
            <a:avLst/>
          </a:prstGeom>
          <a:solidFill>
            <a:srgbClr val="0F62FE"/>
          </a:solidFill>
          <a:ln w="9525">
            <a:solidFill>
              <a:srgbClr val="0F62FE"/>
            </a:solidFill>
            <a:prstDash val="solid"/>
          </a:ln>
        </p:spPr>
      </p:sp>
      <p:sp>
        <p:nvSpPr>
          <p:cNvPr id="23" name="msg-square"/>
          <p:cNvSpPr/>
          <p:nvPr/>
        </p:nvSpPr>
        <p:spPr>
          <a:xfrm>
            <a:off x="10991088" y="2066544"/>
            <a:ext cx="155448" cy="155448"/>
          </a:xfrm>
          <a:prstGeom prst="rect">
            <a:avLst/>
          </a:prstGeom>
          <a:solidFill>
            <a:srgbClr val="0F62FE"/>
          </a:solidFill>
          <a:ln w="9525">
            <a:solidFill>
              <a:srgbClr val="0F62FE"/>
            </a:solidFill>
            <a:prstDash val="solid"/>
          </a:ln>
        </p:spPr>
      </p:sp>
      <p:sp>
        <p:nvSpPr>
          <p:cNvPr id="24" name="msg-square"/>
          <p:cNvSpPr/>
          <p:nvPr/>
        </p:nvSpPr>
        <p:spPr>
          <a:xfrm>
            <a:off x="11215116" y="2066544"/>
            <a:ext cx="155448" cy="155448"/>
          </a:xfrm>
          <a:prstGeom prst="rect">
            <a:avLst/>
          </a:prstGeom>
          <a:solidFill>
            <a:srgbClr val="0F62FE"/>
          </a:solidFill>
          <a:ln w="9525">
            <a:solidFill>
              <a:srgbClr val="0F62FE"/>
            </a:solidFill>
            <a:prstDash val="solid"/>
          </a:ln>
        </p:spPr>
      </p:sp>
      <p:sp>
        <p:nvSpPr>
          <p:cNvPr id="25" name="msg-square"/>
          <p:cNvSpPr/>
          <p:nvPr/>
        </p:nvSpPr>
        <p:spPr>
          <a:xfrm>
            <a:off x="11439144" y="2066544"/>
            <a:ext cx="155448" cy="155448"/>
          </a:xfrm>
          <a:prstGeom prst="rect">
            <a:avLst/>
          </a:prstGeom>
          <a:solidFill>
            <a:srgbClr val="0F62FE"/>
          </a:solidFill>
          <a:ln w="9525">
            <a:solidFill>
              <a:srgbClr val="0F62FE"/>
            </a:solidFill>
            <a:prstDash val="solid"/>
          </a:ln>
        </p:spPr>
      </p:sp>
      <p:sp>
        <p:nvSpPr>
          <p:cNvPr id="26" name="msg-square"/>
          <p:cNvSpPr/>
          <p:nvPr/>
        </p:nvSpPr>
        <p:spPr>
          <a:xfrm>
            <a:off x="7182612" y="2290572"/>
            <a:ext cx="155448" cy="155448"/>
          </a:xfrm>
          <a:prstGeom prst="rect">
            <a:avLst/>
          </a:prstGeom>
          <a:solidFill>
            <a:srgbClr val="0F62FE"/>
          </a:solidFill>
          <a:ln w="9525">
            <a:solidFill>
              <a:srgbClr val="0F62FE"/>
            </a:solidFill>
            <a:prstDash val="solid"/>
          </a:ln>
        </p:spPr>
      </p:sp>
      <p:sp>
        <p:nvSpPr>
          <p:cNvPr id="27" name="msg-square"/>
          <p:cNvSpPr/>
          <p:nvPr/>
        </p:nvSpPr>
        <p:spPr>
          <a:xfrm>
            <a:off x="7406640" y="2290572"/>
            <a:ext cx="155448" cy="155448"/>
          </a:xfrm>
          <a:prstGeom prst="rect">
            <a:avLst/>
          </a:prstGeom>
          <a:solidFill>
            <a:srgbClr val="0F62FE"/>
          </a:solidFill>
          <a:ln w="9525">
            <a:solidFill>
              <a:srgbClr val="0F62FE"/>
            </a:solidFill>
            <a:prstDash val="solid"/>
          </a:ln>
        </p:spPr>
      </p:sp>
      <p:sp>
        <p:nvSpPr>
          <p:cNvPr id="28" name="msg-square"/>
          <p:cNvSpPr/>
          <p:nvPr/>
        </p:nvSpPr>
        <p:spPr>
          <a:xfrm>
            <a:off x="7630668" y="2290572"/>
            <a:ext cx="155448" cy="155448"/>
          </a:xfrm>
          <a:prstGeom prst="rect">
            <a:avLst/>
          </a:prstGeom>
          <a:solidFill>
            <a:srgbClr val="0F62FE"/>
          </a:solidFill>
          <a:ln w="9525">
            <a:solidFill>
              <a:srgbClr val="0F62FE"/>
            </a:solidFill>
            <a:prstDash val="solid"/>
          </a:ln>
        </p:spPr>
      </p:sp>
      <p:sp>
        <p:nvSpPr>
          <p:cNvPr id="29" name="msg-square"/>
          <p:cNvSpPr/>
          <p:nvPr/>
        </p:nvSpPr>
        <p:spPr>
          <a:xfrm>
            <a:off x="7854696" y="2290572"/>
            <a:ext cx="155448" cy="155448"/>
          </a:xfrm>
          <a:prstGeom prst="rect">
            <a:avLst/>
          </a:prstGeom>
          <a:solidFill>
            <a:srgbClr val="0F62FE"/>
          </a:solidFill>
          <a:ln w="9525">
            <a:solidFill>
              <a:srgbClr val="0F62FE"/>
            </a:solidFill>
            <a:prstDash val="solid"/>
          </a:ln>
        </p:spPr>
      </p:sp>
      <p:sp>
        <p:nvSpPr>
          <p:cNvPr id="30" name="msg-square"/>
          <p:cNvSpPr/>
          <p:nvPr/>
        </p:nvSpPr>
        <p:spPr>
          <a:xfrm>
            <a:off x="8078724" y="2290572"/>
            <a:ext cx="155448" cy="155448"/>
          </a:xfrm>
          <a:prstGeom prst="rect">
            <a:avLst/>
          </a:prstGeom>
          <a:solidFill>
            <a:srgbClr val="0F62FE"/>
          </a:solidFill>
          <a:ln w="9525">
            <a:solidFill>
              <a:srgbClr val="0F62FE"/>
            </a:solidFill>
            <a:prstDash val="solid"/>
          </a:ln>
        </p:spPr>
      </p:sp>
      <p:sp>
        <p:nvSpPr>
          <p:cNvPr id="31" name="msg-square"/>
          <p:cNvSpPr/>
          <p:nvPr/>
        </p:nvSpPr>
        <p:spPr>
          <a:xfrm>
            <a:off x="8302752" y="2290572"/>
            <a:ext cx="155448" cy="155448"/>
          </a:xfrm>
          <a:prstGeom prst="rect">
            <a:avLst/>
          </a:prstGeom>
          <a:solidFill>
            <a:srgbClr val="0F62FE"/>
          </a:solidFill>
          <a:ln w="9525">
            <a:solidFill>
              <a:srgbClr val="0F62FE"/>
            </a:solidFill>
            <a:prstDash val="solid"/>
          </a:ln>
        </p:spPr>
      </p:sp>
      <p:sp>
        <p:nvSpPr>
          <p:cNvPr id="32" name="msg-square"/>
          <p:cNvSpPr/>
          <p:nvPr/>
        </p:nvSpPr>
        <p:spPr>
          <a:xfrm>
            <a:off x="8526780" y="2290572"/>
            <a:ext cx="155448" cy="155448"/>
          </a:xfrm>
          <a:prstGeom prst="rect">
            <a:avLst/>
          </a:prstGeom>
          <a:solidFill>
            <a:srgbClr val="0F62FE"/>
          </a:solidFill>
          <a:ln w="9525">
            <a:solidFill>
              <a:srgbClr val="0F62FE"/>
            </a:solidFill>
            <a:prstDash val="solid"/>
          </a:ln>
        </p:spPr>
      </p:sp>
      <p:sp>
        <p:nvSpPr>
          <p:cNvPr id="33" name="msg-square"/>
          <p:cNvSpPr/>
          <p:nvPr/>
        </p:nvSpPr>
        <p:spPr>
          <a:xfrm>
            <a:off x="8750808" y="2290572"/>
            <a:ext cx="155448" cy="155448"/>
          </a:xfrm>
          <a:prstGeom prst="rect">
            <a:avLst/>
          </a:prstGeom>
          <a:solidFill>
            <a:srgbClr val="0F62FE"/>
          </a:solidFill>
          <a:ln w="9525">
            <a:solidFill>
              <a:srgbClr val="0F62FE"/>
            </a:solidFill>
            <a:prstDash val="solid"/>
          </a:ln>
        </p:spPr>
      </p:sp>
      <p:sp>
        <p:nvSpPr>
          <p:cNvPr id="34" name="msg-square"/>
          <p:cNvSpPr/>
          <p:nvPr/>
        </p:nvSpPr>
        <p:spPr>
          <a:xfrm>
            <a:off x="8974836" y="2290572"/>
            <a:ext cx="155448" cy="155448"/>
          </a:xfrm>
          <a:prstGeom prst="rect">
            <a:avLst/>
          </a:prstGeom>
          <a:solidFill>
            <a:srgbClr val="0F62FE"/>
          </a:solidFill>
          <a:ln w="9525">
            <a:solidFill>
              <a:srgbClr val="0F62FE"/>
            </a:solidFill>
            <a:prstDash val="solid"/>
          </a:ln>
        </p:spPr>
      </p:sp>
      <p:sp>
        <p:nvSpPr>
          <p:cNvPr id="35" name="msg-square"/>
          <p:cNvSpPr/>
          <p:nvPr/>
        </p:nvSpPr>
        <p:spPr>
          <a:xfrm>
            <a:off x="9198864" y="2290572"/>
            <a:ext cx="155448" cy="155448"/>
          </a:xfrm>
          <a:prstGeom prst="rect">
            <a:avLst/>
          </a:prstGeom>
          <a:solidFill>
            <a:srgbClr val="0F62FE"/>
          </a:solidFill>
          <a:ln w="9525">
            <a:solidFill>
              <a:srgbClr val="0F62FE"/>
            </a:solidFill>
            <a:prstDash val="solid"/>
          </a:ln>
        </p:spPr>
      </p:sp>
      <p:sp>
        <p:nvSpPr>
          <p:cNvPr id="36" name="msg-square"/>
          <p:cNvSpPr/>
          <p:nvPr/>
        </p:nvSpPr>
        <p:spPr>
          <a:xfrm>
            <a:off x="9422892" y="2290572"/>
            <a:ext cx="155448" cy="155448"/>
          </a:xfrm>
          <a:prstGeom prst="rect">
            <a:avLst/>
          </a:prstGeom>
          <a:solidFill>
            <a:srgbClr val="0F62FE"/>
          </a:solidFill>
          <a:ln w="9525">
            <a:solidFill>
              <a:srgbClr val="0F62FE"/>
            </a:solidFill>
            <a:prstDash val="solid"/>
          </a:ln>
        </p:spPr>
      </p:sp>
      <p:sp>
        <p:nvSpPr>
          <p:cNvPr id="37" name="msg-square"/>
          <p:cNvSpPr/>
          <p:nvPr/>
        </p:nvSpPr>
        <p:spPr>
          <a:xfrm>
            <a:off x="9646920" y="2290572"/>
            <a:ext cx="155448" cy="155448"/>
          </a:xfrm>
          <a:prstGeom prst="rect">
            <a:avLst/>
          </a:prstGeom>
          <a:solidFill>
            <a:srgbClr val="0F62FE"/>
          </a:solidFill>
          <a:ln w="9525">
            <a:solidFill>
              <a:srgbClr val="0F62FE"/>
            </a:solidFill>
            <a:prstDash val="solid"/>
          </a:ln>
        </p:spPr>
      </p:sp>
      <p:sp>
        <p:nvSpPr>
          <p:cNvPr id="38" name="msg-square"/>
          <p:cNvSpPr/>
          <p:nvPr/>
        </p:nvSpPr>
        <p:spPr>
          <a:xfrm>
            <a:off x="9870948" y="2290572"/>
            <a:ext cx="155448" cy="155448"/>
          </a:xfrm>
          <a:prstGeom prst="rect">
            <a:avLst/>
          </a:prstGeom>
          <a:solidFill>
            <a:srgbClr val="0F62FE"/>
          </a:solidFill>
          <a:ln w="9525">
            <a:solidFill>
              <a:srgbClr val="0F62FE"/>
            </a:solidFill>
            <a:prstDash val="solid"/>
          </a:ln>
        </p:spPr>
      </p:sp>
      <p:sp>
        <p:nvSpPr>
          <p:cNvPr id="39" name="msg-square"/>
          <p:cNvSpPr/>
          <p:nvPr/>
        </p:nvSpPr>
        <p:spPr>
          <a:xfrm>
            <a:off x="10094976" y="2290572"/>
            <a:ext cx="155448" cy="155448"/>
          </a:xfrm>
          <a:prstGeom prst="rect">
            <a:avLst/>
          </a:prstGeom>
          <a:solidFill>
            <a:srgbClr val="0F62FE"/>
          </a:solidFill>
          <a:ln w="9525">
            <a:solidFill>
              <a:srgbClr val="0F62FE"/>
            </a:solidFill>
            <a:prstDash val="solid"/>
          </a:ln>
        </p:spPr>
      </p:sp>
      <p:sp>
        <p:nvSpPr>
          <p:cNvPr id="40" name="msg-square"/>
          <p:cNvSpPr/>
          <p:nvPr/>
        </p:nvSpPr>
        <p:spPr>
          <a:xfrm>
            <a:off x="10319004" y="2290572"/>
            <a:ext cx="155448" cy="155448"/>
          </a:xfrm>
          <a:prstGeom prst="rect">
            <a:avLst/>
          </a:prstGeom>
          <a:solidFill>
            <a:srgbClr val="0F62FE"/>
          </a:solidFill>
          <a:ln w="9525">
            <a:solidFill>
              <a:srgbClr val="0F62FE"/>
            </a:solidFill>
            <a:prstDash val="solid"/>
          </a:ln>
        </p:spPr>
      </p:sp>
      <p:sp>
        <p:nvSpPr>
          <p:cNvPr id="41" name="msg-square"/>
          <p:cNvSpPr/>
          <p:nvPr/>
        </p:nvSpPr>
        <p:spPr>
          <a:xfrm>
            <a:off x="10543032" y="2290572"/>
            <a:ext cx="155448" cy="155448"/>
          </a:xfrm>
          <a:prstGeom prst="rect">
            <a:avLst/>
          </a:prstGeom>
          <a:solidFill>
            <a:srgbClr val="0F62FE"/>
          </a:solidFill>
          <a:ln w="9525">
            <a:solidFill>
              <a:srgbClr val="0F62FE"/>
            </a:solidFill>
            <a:prstDash val="solid"/>
          </a:ln>
        </p:spPr>
      </p:sp>
      <p:sp>
        <p:nvSpPr>
          <p:cNvPr id="42" name="msg-square"/>
          <p:cNvSpPr/>
          <p:nvPr/>
        </p:nvSpPr>
        <p:spPr>
          <a:xfrm>
            <a:off x="10767060" y="2290572"/>
            <a:ext cx="155448" cy="155448"/>
          </a:xfrm>
          <a:prstGeom prst="rect">
            <a:avLst/>
          </a:prstGeom>
          <a:solidFill>
            <a:srgbClr val="0F62FE"/>
          </a:solidFill>
          <a:ln w="9525">
            <a:solidFill>
              <a:srgbClr val="0F62FE"/>
            </a:solidFill>
            <a:prstDash val="solid"/>
          </a:ln>
        </p:spPr>
      </p:sp>
      <p:sp>
        <p:nvSpPr>
          <p:cNvPr id="43" name="msg-square"/>
          <p:cNvSpPr/>
          <p:nvPr/>
        </p:nvSpPr>
        <p:spPr>
          <a:xfrm>
            <a:off x="10991088" y="2290572"/>
            <a:ext cx="155448" cy="155448"/>
          </a:xfrm>
          <a:prstGeom prst="rect">
            <a:avLst/>
          </a:prstGeom>
          <a:solidFill>
            <a:srgbClr val="0F62FE"/>
          </a:solidFill>
          <a:ln w="9525">
            <a:solidFill>
              <a:srgbClr val="0F62FE"/>
            </a:solidFill>
            <a:prstDash val="solid"/>
          </a:ln>
        </p:spPr>
      </p:sp>
      <p:sp>
        <p:nvSpPr>
          <p:cNvPr id="44" name="msg-square"/>
          <p:cNvSpPr/>
          <p:nvPr/>
        </p:nvSpPr>
        <p:spPr>
          <a:xfrm>
            <a:off x="11215116" y="2290572"/>
            <a:ext cx="155448" cy="155448"/>
          </a:xfrm>
          <a:prstGeom prst="rect">
            <a:avLst/>
          </a:prstGeom>
          <a:solidFill>
            <a:srgbClr val="0F62FE"/>
          </a:solidFill>
          <a:ln w="9525">
            <a:solidFill>
              <a:srgbClr val="0F62FE"/>
            </a:solidFill>
            <a:prstDash val="solid"/>
          </a:ln>
        </p:spPr>
      </p:sp>
      <p:sp>
        <p:nvSpPr>
          <p:cNvPr id="45" name="msg-square"/>
          <p:cNvSpPr/>
          <p:nvPr/>
        </p:nvSpPr>
        <p:spPr>
          <a:xfrm>
            <a:off x="11439144" y="2290572"/>
            <a:ext cx="155448" cy="155448"/>
          </a:xfrm>
          <a:prstGeom prst="rect">
            <a:avLst/>
          </a:prstGeom>
          <a:solidFill>
            <a:srgbClr val="0F62FE"/>
          </a:solidFill>
          <a:ln w="9525">
            <a:solidFill>
              <a:srgbClr val="0F62FE"/>
            </a:solidFill>
            <a:prstDash val="solid"/>
          </a:ln>
        </p:spPr>
      </p:sp>
      <p:sp>
        <p:nvSpPr>
          <p:cNvPr id="46" name="msg-square"/>
          <p:cNvSpPr/>
          <p:nvPr/>
        </p:nvSpPr>
        <p:spPr>
          <a:xfrm>
            <a:off x="7182612" y="2514600"/>
            <a:ext cx="155448" cy="155448"/>
          </a:xfrm>
          <a:prstGeom prst="rect">
            <a:avLst/>
          </a:prstGeom>
          <a:solidFill>
            <a:srgbClr val="0F62FE"/>
          </a:solidFill>
          <a:ln w="9525">
            <a:solidFill>
              <a:srgbClr val="0F62FE"/>
            </a:solidFill>
            <a:prstDash val="solid"/>
          </a:ln>
        </p:spPr>
      </p:sp>
      <p:sp>
        <p:nvSpPr>
          <p:cNvPr id="47" name="msg-square"/>
          <p:cNvSpPr/>
          <p:nvPr/>
        </p:nvSpPr>
        <p:spPr>
          <a:xfrm>
            <a:off x="7406640" y="2514600"/>
            <a:ext cx="155448" cy="155448"/>
          </a:xfrm>
          <a:prstGeom prst="rect">
            <a:avLst/>
          </a:prstGeom>
          <a:solidFill>
            <a:srgbClr val="0F62FE"/>
          </a:solidFill>
          <a:ln w="9525">
            <a:solidFill>
              <a:srgbClr val="0F62FE"/>
            </a:solidFill>
            <a:prstDash val="solid"/>
          </a:ln>
        </p:spPr>
      </p:sp>
      <p:sp>
        <p:nvSpPr>
          <p:cNvPr id="48" name="msg-square"/>
          <p:cNvSpPr/>
          <p:nvPr/>
        </p:nvSpPr>
        <p:spPr>
          <a:xfrm>
            <a:off x="7630668" y="2514600"/>
            <a:ext cx="155448" cy="155448"/>
          </a:xfrm>
          <a:prstGeom prst="rect">
            <a:avLst/>
          </a:prstGeom>
          <a:solidFill>
            <a:srgbClr val="0F62FE"/>
          </a:solidFill>
          <a:ln w="9525">
            <a:solidFill>
              <a:srgbClr val="0F62FE"/>
            </a:solidFill>
            <a:prstDash val="solid"/>
          </a:ln>
        </p:spPr>
      </p:sp>
      <p:sp>
        <p:nvSpPr>
          <p:cNvPr id="49" name="msg-square"/>
          <p:cNvSpPr/>
          <p:nvPr/>
        </p:nvSpPr>
        <p:spPr>
          <a:xfrm>
            <a:off x="7854696" y="2514600"/>
            <a:ext cx="155448" cy="155448"/>
          </a:xfrm>
          <a:prstGeom prst="rect">
            <a:avLst/>
          </a:prstGeom>
          <a:solidFill>
            <a:srgbClr val="0F62FE"/>
          </a:solidFill>
          <a:ln w="9525">
            <a:solidFill>
              <a:srgbClr val="0F62FE"/>
            </a:solidFill>
            <a:prstDash val="solid"/>
          </a:ln>
        </p:spPr>
      </p:sp>
      <p:sp>
        <p:nvSpPr>
          <p:cNvPr id="50" name="msg-square"/>
          <p:cNvSpPr/>
          <p:nvPr/>
        </p:nvSpPr>
        <p:spPr>
          <a:xfrm>
            <a:off x="8078724" y="2514600"/>
            <a:ext cx="155448" cy="155448"/>
          </a:xfrm>
          <a:prstGeom prst="rect">
            <a:avLst/>
          </a:prstGeom>
          <a:solidFill>
            <a:srgbClr val="0F62FE"/>
          </a:solidFill>
          <a:ln w="9525">
            <a:solidFill>
              <a:srgbClr val="0F62FE"/>
            </a:solidFill>
            <a:prstDash val="solid"/>
          </a:ln>
        </p:spPr>
      </p:sp>
      <p:sp>
        <p:nvSpPr>
          <p:cNvPr id="51" name="msg-square"/>
          <p:cNvSpPr/>
          <p:nvPr/>
        </p:nvSpPr>
        <p:spPr>
          <a:xfrm>
            <a:off x="8302752" y="2514600"/>
            <a:ext cx="155448" cy="155448"/>
          </a:xfrm>
          <a:prstGeom prst="rect">
            <a:avLst/>
          </a:prstGeom>
          <a:solidFill>
            <a:srgbClr val="0F62FE"/>
          </a:solidFill>
          <a:ln w="9525">
            <a:solidFill>
              <a:srgbClr val="0F62FE"/>
            </a:solidFill>
            <a:prstDash val="solid"/>
          </a:ln>
        </p:spPr>
      </p:sp>
      <p:sp>
        <p:nvSpPr>
          <p:cNvPr id="52" name="msg-square"/>
          <p:cNvSpPr/>
          <p:nvPr/>
        </p:nvSpPr>
        <p:spPr>
          <a:xfrm>
            <a:off x="8526780" y="2514600"/>
            <a:ext cx="155448" cy="155448"/>
          </a:xfrm>
          <a:prstGeom prst="rect">
            <a:avLst/>
          </a:prstGeom>
          <a:solidFill>
            <a:srgbClr val="0F62FE"/>
          </a:solidFill>
          <a:ln w="9525">
            <a:solidFill>
              <a:srgbClr val="0F62FE"/>
            </a:solidFill>
            <a:prstDash val="solid"/>
          </a:ln>
        </p:spPr>
      </p:sp>
      <p:sp>
        <p:nvSpPr>
          <p:cNvPr id="53" name="msg-square"/>
          <p:cNvSpPr/>
          <p:nvPr/>
        </p:nvSpPr>
        <p:spPr>
          <a:xfrm>
            <a:off x="8750808" y="2514600"/>
            <a:ext cx="155448" cy="155448"/>
          </a:xfrm>
          <a:prstGeom prst="rect">
            <a:avLst/>
          </a:prstGeom>
          <a:solidFill>
            <a:srgbClr val="0F62FE"/>
          </a:solidFill>
          <a:ln w="9525">
            <a:solidFill>
              <a:srgbClr val="0F62FE"/>
            </a:solidFill>
            <a:prstDash val="solid"/>
          </a:ln>
        </p:spPr>
      </p:sp>
      <p:sp>
        <p:nvSpPr>
          <p:cNvPr id="54" name="msg-square"/>
          <p:cNvSpPr/>
          <p:nvPr/>
        </p:nvSpPr>
        <p:spPr>
          <a:xfrm>
            <a:off x="8974836" y="2514600"/>
            <a:ext cx="155448" cy="155448"/>
          </a:xfrm>
          <a:prstGeom prst="rect">
            <a:avLst/>
          </a:prstGeom>
          <a:solidFill>
            <a:srgbClr val="0F62FE"/>
          </a:solidFill>
          <a:ln w="9525">
            <a:solidFill>
              <a:srgbClr val="0F62FE"/>
            </a:solidFill>
            <a:prstDash val="solid"/>
          </a:ln>
        </p:spPr>
      </p:sp>
      <p:sp>
        <p:nvSpPr>
          <p:cNvPr id="55" name="msg-square"/>
          <p:cNvSpPr/>
          <p:nvPr/>
        </p:nvSpPr>
        <p:spPr>
          <a:xfrm>
            <a:off x="9198864" y="2514600"/>
            <a:ext cx="155448" cy="155448"/>
          </a:xfrm>
          <a:prstGeom prst="rect">
            <a:avLst/>
          </a:prstGeom>
          <a:solidFill>
            <a:srgbClr val="0F62FE"/>
          </a:solidFill>
          <a:ln w="9525">
            <a:solidFill>
              <a:srgbClr val="0F62FE"/>
            </a:solidFill>
            <a:prstDash val="solid"/>
          </a:ln>
        </p:spPr>
      </p:sp>
      <p:sp>
        <p:nvSpPr>
          <p:cNvPr id="56" name="msg-square"/>
          <p:cNvSpPr/>
          <p:nvPr/>
        </p:nvSpPr>
        <p:spPr>
          <a:xfrm>
            <a:off x="9422892" y="2514600"/>
            <a:ext cx="155448" cy="155448"/>
          </a:xfrm>
          <a:prstGeom prst="rect">
            <a:avLst/>
          </a:prstGeom>
          <a:solidFill>
            <a:srgbClr val="0F62FE"/>
          </a:solidFill>
          <a:ln w="9525">
            <a:solidFill>
              <a:srgbClr val="0F62FE"/>
            </a:solidFill>
            <a:prstDash val="solid"/>
          </a:ln>
        </p:spPr>
      </p:sp>
      <p:sp>
        <p:nvSpPr>
          <p:cNvPr id="57" name="msg-square"/>
          <p:cNvSpPr/>
          <p:nvPr/>
        </p:nvSpPr>
        <p:spPr>
          <a:xfrm>
            <a:off x="9646920" y="2514600"/>
            <a:ext cx="155448" cy="155448"/>
          </a:xfrm>
          <a:prstGeom prst="rect">
            <a:avLst/>
          </a:prstGeom>
          <a:solidFill>
            <a:srgbClr val="0F62FE"/>
          </a:solidFill>
          <a:ln w="9525">
            <a:solidFill>
              <a:srgbClr val="0F62FE"/>
            </a:solidFill>
            <a:prstDash val="solid"/>
          </a:ln>
        </p:spPr>
      </p:sp>
      <p:sp>
        <p:nvSpPr>
          <p:cNvPr id="58" name="msg-square"/>
          <p:cNvSpPr/>
          <p:nvPr/>
        </p:nvSpPr>
        <p:spPr>
          <a:xfrm>
            <a:off x="9870948" y="2514600"/>
            <a:ext cx="155448" cy="155448"/>
          </a:xfrm>
          <a:prstGeom prst="rect">
            <a:avLst/>
          </a:prstGeom>
          <a:solidFill>
            <a:srgbClr val="0F62FE"/>
          </a:solidFill>
          <a:ln w="9525">
            <a:solidFill>
              <a:srgbClr val="0F62FE"/>
            </a:solidFill>
            <a:prstDash val="solid"/>
          </a:ln>
        </p:spPr>
      </p:sp>
      <p:sp>
        <p:nvSpPr>
          <p:cNvPr id="59" name="msg-square"/>
          <p:cNvSpPr/>
          <p:nvPr/>
        </p:nvSpPr>
        <p:spPr>
          <a:xfrm>
            <a:off x="10094976" y="2514600"/>
            <a:ext cx="155448" cy="155448"/>
          </a:xfrm>
          <a:prstGeom prst="rect">
            <a:avLst/>
          </a:prstGeom>
          <a:solidFill>
            <a:srgbClr val="0F62FE"/>
          </a:solidFill>
          <a:ln w="9525">
            <a:solidFill>
              <a:srgbClr val="0F62FE"/>
            </a:solidFill>
            <a:prstDash val="solid"/>
          </a:ln>
        </p:spPr>
      </p:sp>
      <p:sp>
        <p:nvSpPr>
          <p:cNvPr id="60" name="msg-square"/>
          <p:cNvSpPr/>
          <p:nvPr/>
        </p:nvSpPr>
        <p:spPr>
          <a:xfrm>
            <a:off x="10319004" y="2514600"/>
            <a:ext cx="155448" cy="155448"/>
          </a:xfrm>
          <a:prstGeom prst="rect">
            <a:avLst/>
          </a:prstGeom>
          <a:solidFill>
            <a:srgbClr val="0F62FE"/>
          </a:solidFill>
          <a:ln w="9525">
            <a:solidFill>
              <a:srgbClr val="0F62FE"/>
            </a:solidFill>
            <a:prstDash val="solid"/>
          </a:ln>
        </p:spPr>
      </p:sp>
      <p:sp>
        <p:nvSpPr>
          <p:cNvPr id="61" name="msg-square"/>
          <p:cNvSpPr/>
          <p:nvPr/>
        </p:nvSpPr>
        <p:spPr>
          <a:xfrm>
            <a:off x="10543032" y="2514600"/>
            <a:ext cx="155448" cy="155448"/>
          </a:xfrm>
          <a:prstGeom prst="rect">
            <a:avLst/>
          </a:prstGeom>
          <a:solidFill>
            <a:srgbClr val="0F62FE"/>
          </a:solidFill>
          <a:ln w="9525">
            <a:solidFill>
              <a:srgbClr val="0F62FE"/>
            </a:solidFill>
            <a:prstDash val="solid"/>
          </a:ln>
        </p:spPr>
      </p:sp>
      <p:sp>
        <p:nvSpPr>
          <p:cNvPr id="62" name="msg-square"/>
          <p:cNvSpPr/>
          <p:nvPr/>
        </p:nvSpPr>
        <p:spPr>
          <a:xfrm>
            <a:off x="10767060" y="2514600"/>
            <a:ext cx="155448" cy="155448"/>
          </a:xfrm>
          <a:prstGeom prst="rect">
            <a:avLst/>
          </a:prstGeom>
          <a:solidFill>
            <a:srgbClr val="0F62FE"/>
          </a:solidFill>
          <a:ln w="9525">
            <a:solidFill>
              <a:srgbClr val="0F62FE"/>
            </a:solidFill>
            <a:prstDash val="solid"/>
          </a:ln>
        </p:spPr>
      </p:sp>
      <p:sp>
        <p:nvSpPr>
          <p:cNvPr id="63" name="msg-square"/>
          <p:cNvSpPr/>
          <p:nvPr/>
        </p:nvSpPr>
        <p:spPr>
          <a:xfrm>
            <a:off x="10991088" y="2514600"/>
            <a:ext cx="155448" cy="155448"/>
          </a:xfrm>
          <a:prstGeom prst="rect">
            <a:avLst/>
          </a:prstGeom>
          <a:solidFill>
            <a:srgbClr val="0F62FE"/>
          </a:solidFill>
          <a:ln w="9525">
            <a:solidFill>
              <a:srgbClr val="0F62FE"/>
            </a:solidFill>
            <a:prstDash val="solid"/>
          </a:ln>
        </p:spPr>
      </p:sp>
      <p:sp>
        <p:nvSpPr>
          <p:cNvPr id="64" name="msg-square"/>
          <p:cNvSpPr/>
          <p:nvPr/>
        </p:nvSpPr>
        <p:spPr>
          <a:xfrm>
            <a:off x="11215116" y="2514600"/>
            <a:ext cx="155448" cy="155448"/>
          </a:xfrm>
          <a:prstGeom prst="rect">
            <a:avLst/>
          </a:prstGeom>
          <a:solidFill>
            <a:srgbClr val="0F62FE"/>
          </a:solidFill>
          <a:ln w="9525">
            <a:solidFill>
              <a:srgbClr val="0F62FE"/>
            </a:solidFill>
            <a:prstDash val="solid"/>
          </a:ln>
        </p:spPr>
      </p:sp>
      <p:sp>
        <p:nvSpPr>
          <p:cNvPr id="65" name="msg-square"/>
          <p:cNvSpPr/>
          <p:nvPr/>
        </p:nvSpPr>
        <p:spPr>
          <a:xfrm>
            <a:off x="11439144" y="2514600"/>
            <a:ext cx="155448" cy="155448"/>
          </a:xfrm>
          <a:prstGeom prst="rect">
            <a:avLst/>
          </a:prstGeom>
          <a:solidFill>
            <a:srgbClr val="0F62FE"/>
          </a:solidFill>
          <a:ln w="9525">
            <a:solidFill>
              <a:srgbClr val="0F62FE"/>
            </a:solidFill>
            <a:prstDash val="solid"/>
          </a:ln>
        </p:spPr>
      </p:sp>
      <p:sp>
        <p:nvSpPr>
          <p:cNvPr id="66" name="msg-square"/>
          <p:cNvSpPr/>
          <p:nvPr/>
        </p:nvSpPr>
        <p:spPr>
          <a:xfrm>
            <a:off x="7182612" y="2738628"/>
            <a:ext cx="155448" cy="155448"/>
          </a:xfrm>
          <a:prstGeom prst="rect">
            <a:avLst/>
          </a:prstGeom>
          <a:solidFill>
            <a:srgbClr val="0F62FE"/>
          </a:solidFill>
          <a:ln w="9525">
            <a:solidFill>
              <a:srgbClr val="0F62FE"/>
            </a:solidFill>
            <a:prstDash val="solid"/>
          </a:ln>
        </p:spPr>
      </p:sp>
      <p:sp>
        <p:nvSpPr>
          <p:cNvPr id="67" name="msg-square"/>
          <p:cNvSpPr/>
          <p:nvPr/>
        </p:nvSpPr>
        <p:spPr>
          <a:xfrm>
            <a:off x="7406640" y="2738628"/>
            <a:ext cx="155448" cy="155448"/>
          </a:xfrm>
          <a:prstGeom prst="rect">
            <a:avLst/>
          </a:prstGeom>
          <a:solidFill>
            <a:srgbClr val="0F62FE"/>
          </a:solidFill>
          <a:ln w="9525">
            <a:solidFill>
              <a:srgbClr val="0F62FE"/>
            </a:solidFill>
            <a:prstDash val="solid"/>
          </a:ln>
        </p:spPr>
      </p:sp>
      <p:sp>
        <p:nvSpPr>
          <p:cNvPr id="68" name="msg-square"/>
          <p:cNvSpPr/>
          <p:nvPr/>
        </p:nvSpPr>
        <p:spPr>
          <a:xfrm>
            <a:off x="7630668" y="2738628"/>
            <a:ext cx="155448" cy="155448"/>
          </a:xfrm>
          <a:prstGeom prst="rect">
            <a:avLst/>
          </a:prstGeom>
          <a:solidFill>
            <a:srgbClr val="0F62FE"/>
          </a:solidFill>
          <a:ln w="9525">
            <a:solidFill>
              <a:srgbClr val="0F62FE"/>
            </a:solidFill>
            <a:prstDash val="solid"/>
          </a:ln>
        </p:spPr>
      </p:sp>
      <p:sp>
        <p:nvSpPr>
          <p:cNvPr id="69" name="msg-square"/>
          <p:cNvSpPr/>
          <p:nvPr/>
        </p:nvSpPr>
        <p:spPr>
          <a:xfrm>
            <a:off x="7854696" y="2738628"/>
            <a:ext cx="155448" cy="155448"/>
          </a:xfrm>
          <a:prstGeom prst="rect">
            <a:avLst/>
          </a:prstGeom>
          <a:solidFill>
            <a:srgbClr val="0F62FE"/>
          </a:solidFill>
          <a:ln w="9525">
            <a:solidFill>
              <a:srgbClr val="0F62FE"/>
            </a:solidFill>
            <a:prstDash val="solid"/>
          </a:ln>
        </p:spPr>
      </p:sp>
      <p:sp>
        <p:nvSpPr>
          <p:cNvPr id="70" name="msg-square"/>
          <p:cNvSpPr/>
          <p:nvPr/>
        </p:nvSpPr>
        <p:spPr>
          <a:xfrm>
            <a:off x="8078724" y="2738628"/>
            <a:ext cx="155448" cy="155448"/>
          </a:xfrm>
          <a:prstGeom prst="rect">
            <a:avLst/>
          </a:prstGeom>
          <a:solidFill>
            <a:srgbClr val="0F62FE"/>
          </a:solidFill>
          <a:ln w="9525">
            <a:solidFill>
              <a:srgbClr val="0F62FE"/>
            </a:solidFill>
            <a:prstDash val="solid"/>
          </a:ln>
        </p:spPr>
      </p:sp>
      <p:sp>
        <p:nvSpPr>
          <p:cNvPr id="71" name="msg-square"/>
          <p:cNvSpPr/>
          <p:nvPr/>
        </p:nvSpPr>
        <p:spPr>
          <a:xfrm>
            <a:off x="8302752" y="2738628"/>
            <a:ext cx="155448" cy="155448"/>
          </a:xfrm>
          <a:prstGeom prst="rect">
            <a:avLst/>
          </a:prstGeom>
          <a:solidFill>
            <a:srgbClr val="0F62FE"/>
          </a:solidFill>
          <a:ln w="9525">
            <a:solidFill>
              <a:srgbClr val="0F62FE"/>
            </a:solidFill>
            <a:prstDash val="solid"/>
          </a:ln>
        </p:spPr>
      </p:sp>
      <p:sp>
        <p:nvSpPr>
          <p:cNvPr id="72" name="msg-square"/>
          <p:cNvSpPr/>
          <p:nvPr/>
        </p:nvSpPr>
        <p:spPr>
          <a:xfrm>
            <a:off x="8526780" y="2738628"/>
            <a:ext cx="155448" cy="155448"/>
          </a:xfrm>
          <a:prstGeom prst="rect">
            <a:avLst/>
          </a:prstGeom>
          <a:solidFill>
            <a:srgbClr val="0F62FE"/>
          </a:solidFill>
          <a:ln w="9525">
            <a:solidFill>
              <a:srgbClr val="0F62FE"/>
            </a:solidFill>
            <a:prstDash val="solid"/>
          </a:ln>
        </p:spPr>
      </p:sp>
      <p:sp>
        <p:nvSpPr>
          <p:cNvPr id="73" name="msg-square"/>
          <p:cNvSpPr/>
          <p:nvPr/>
        </p:nvSpPr>
        <p:spPr>
          <a:xfrm>
            <a:off x="8750808" y="2738628"/>
            <a:ext cx="155448" cy="155448"/>
          </a:xfrm>
          <a:prstGeom prst="rect">
            <a:avLst/>
          </a:prstGeom>
          <a:solidFill>
            <a:srgbClr val="0F62FE"/>
          </a:solidFill>
          <a:ln w="9525">
            <a:solidFill>
              <a:srgbClr val="0F62FE"/>
            </a:solidFill>
            <a:prstDash val="solid"/>
          </a:ln>
        </p:spPr>
      </p:sp>
      <p:sp>
        <p:nvSpPr>
          <p:cNvPr id="74" name="msg-square"/>
          <p:cNvSpPr/>
          <p:nvPr/>
        </p:nvSpPr>
        <p:spPr>
          <a:xfrm>
            <a:off x="8974836" y="2738628"/>
            <a:ext cx="155448" cy="155448"/>
          </a:xfrm>
          <a:prstGeom prst="rect">
            <a:avLst/>
          </a:prstGeom>
          <a:solidFill>
            <a:srgbClr val="0F62FE"/>
          </a:solidFill>
          <a:ln w="9525">
            <a:solidFill>
              <a:srgbClr val="0F62FE"/>
            </a:solidFill>
            <a:prstDash val="solid"/>
          </a:ln>
        </p:spPr>
      </p:sp>
      <p:sp>
        <p:nvSpPr>
          <p:cNvPr id="75" name="msg-square"/>
          <p:cNvSpPr/>
          <p:nvPr/>
        </p:nvSpPr>
        <p:spPr>
          <a:xfrm>
            <a:off x="9198864" y="2738628"/>
            <a:ext cx="155448" cy="155448"/>
          </a:xfrm>
          <a:prstGeom prst="rect">
            <a:avLst/>
          </a:prstGeom>
          <a:solidFill>
            <a:srgbClr val="0F62FE"/>
          </a:solidFill>
          <a:ln w="9525">
            <a:solidFill>
              <a:srgbClr val="0F62FE"/>
            </a:solidFill>
            <a:prstDash val="solid"/>
          </a:ln>
        </p:spPr>
      </p:sp>
      <p:sp>
        <p:nvSpPr>
          <p:cNvPr id="76" name="msg-square"/>
          <p:cNvSpPr/>
          <p:nvPr/>
        </p:nvSpPr>
        <p:spPr>
          <a:xfrm>
            <a:off x="9422892" y="2738628"/>
            <a:ext cx="155448" cy="155448"/>
          </a:xfrm>
          <a:prstGeom prst="rect">
            <a:avLst/>
          </a:prstGeom>
          <a:solidFill>
            <a:srgbClr val="0F62FE"/>
          </a:solidFill>
          <a:ln w="9525">
            <a:solidFill>
              <a:srgbClr val="0F62FE"/>
            </a:solidFill>
            <a:prstDash val="solid"/>
          </a:ln>
        </p:spPr>
      </p:sp>
      <p:sp>
        <p:nvSpPr>
          <p:cNvPr id="77" name="msg-square"/>
          <p:cNvSpPr/>
          <p:nvPr/>
        </p:nvSpPr>
        <p:spPr>
          <a:xfrm>
            <a:off x="9646920" y="2738628"/>
            <a:ext cx="155448" cy="155448"/>
          </a:xfrm>
          <a:prstGeom prst="rect">
            <a:avLst/>
          </a:prstGeom>
          <a:solidFill>
            <a:srgbClr val="0F62FE"/>
          </a:solidFill>
          <a:ln w="9525">
            <a:solidFill>
              <a:srgbClr val="0F62FE"/>
            </a:solidFill>
            <a:prstDash val="solid"/>
          </a:ln>
        </p:spPr>
      </p:sp>
      <p:sp>
        <p:nvSpPr>
          <p:cNvPr id="78" name="msg-square"/>
          <p:cNvSpPr/>
          <p:nvPr/>
        </p:nvSpPr>
        <p:spPr>
          <a:xfrm>
            <a:off x="9870948" y="2738628"/>
            <a:ext cx="155448" cy="155448"/>
          </a:xfrm>
          <a:prstGeom prst="rect">
            <a:avLst/>
          </a:prstGeom>
          <a:solidFill>
            <a:srgbClr val="0F62FE"/>
          </a:solidFill>
          <a:ln w="9525">
            <a:solidFill>
              <a:srgbClr val="0F62FE"/>
            </a:solidFill>
            <a:prstDash val="solid"/>
          </a:ln>
        </p:spPr>
      </p:sp>
      <p:sp>
        <p:nvSpPr>
          <p:cNvPr id="79" name="msg-square"/>
          <p:cNvSpPr/>
          <p:nvPr/>
        </p:nvSpPr>
        <p:spPr>
          <a:xfrm>
            <a:off x="10094976" y="2738628"/>
            <a:ext cx="155448" cy="155448"/>
          </a:xfrm>
          <a:prstGeom prst="rect">
            <a:avLst/>
          </a:prstGeom>
          <a:solidFill>
            <a:srgbClr val="0F62FE"/>
          </a:solidFill>
          <a:ln w="9525">
            <a:solidFill>
              <a:srgbClr val="0F62FE"/>
            </a:solidFill>
            <a:prstDash val="solid"/>
          </a:ln>
        </p:spPr>
      </p:sp>
      <p:sp>
        <p:nvSpPr>
          <p:cNvPr id="80" name="msg-square"/>
          <p:cNvSpPr/>
          <p:nvPr/>
        </p:nvSpPr>
        <p:spPr>
          <a:xfrm>
            <a:off x="10319004" y="2738628"/>
            <a:ext cx="155448" cy="155448"/>
          </a:xfrm>
          <a:prstGeom prst="rect">
            <a:avLst/>
          </a:prstGeom>
          <a:solidFill>
            <a:srgbClr val="0F62FE"/>
          </a:solidFill>
          <a:ln w="9525">
            <a:solidFill>
              <a:srgbClr val="0F62FE"/>
            </a:solidFill>
            <a:prstDash val="solid"/>
          </a:ln>
        </p:spPr>
      </p:sp>
      <p:sp>
        <p:nvSpPr>
          <p:cNvPr id="81" name="msg-square"/>
          <p:cNvSpPr/>
          <p:nvPr/>
        </p:nvSpPr>
        <p:spPr>
          <a:xfrm>
            <a:off x="10543032" y="2738628"/>
            <a:ext cx="155448" cy="155448"/>
          </a:xfrm>
          <a:prstGeom prst="rect">
            <a:avLst/>
          </a:prstGeom>
          <a:solidFill>
            <a:srgbClr val="0F62FE"/>
          </a:solidFill>
          <a:ln w="9525">
            <a:solidFill>
              <a:srgbClr val="0F62FE"/>
            </a:solidFill>
            <a:prstDash val="solid"/>
          </a:ln>
        </p:spPr>
      </p:sp>
      <p:sp>
        <p:nvSpPr>
          <p:cNvPr id="82" name="msg-square"/>
          <p:cNvSpPr/>
          <p:nvPr/>
        </p:nvSpPr>
        <p:spPr>
          <a:xfrm>
            <a:off x="10767060" y="2738628"/>
            <a:ext cx="155448" cy="155448"/>
          </a:xfrm>
          <a:prstGeom prst="rect">
            <a:avLst/>
          </a:prstGeom>
          <a:solidFill>
            <a:srgbClr val="0F62FE"/>
          </a:solidFill>
          <a:ln w="9525">
            <a:solidFill>
              <a:srgbClr val="0F62FE"/>
            </a:solidFill>
            <a:prstDash val="solid"/>
          </a:ln>
        </p:spPr>
      </p:sp>
      <p:sp>
        <p:nvSpPr>
          <p:cNvPr id="83" name="msg-square"/>
          <p:cNvSpPr/>
          <p:nvPr/>
        </p:nvSpPr>
        <p:spPr>
          <a:xfrm>
            <a:off x="10991088" y="2738628"/>
            <a:ext cx="155448" cy="155448"/>
          </a:xfrm>
          <a:prstGeom prst="rect">
            <a:avLst/>
          </a:prstGeom>
          <a:solidFill>
            <a:srgbClr val="0F62FE"/>
          </a:solidFill>
          <a:ln w="9525">
            <a:solidFill>
              <a:srgbClr val="0F62FE"/>
            </a:solidFill>
            <a:prstDash val="solid"/>
          </a:ln>
        </p:spPr>
      </p:sp>
      <p:sp>
        <p:nvSpPr>
          <p:cNvPr id="84" name="msg-square"/>
          <p:cNvSpPr/>
          <p:nvPr/>
        </p:nvSpPr>
        <p:spPr>
          <a:xfrm>
            <a:off x="11215116" y="2738628"/>
            <a:ext cx="155448" cy="155448"/>
          </a:xfrm>
          <a:prstGeom prst="rect">
            <a:avLst/>
          </a:prstGeom>
          <a:solidFill>
            <a:srgbClr val="0F62FE"/>
          </a:solidFill>
          <a:ln w="9525">
            <a:solidFill>
              <a:srgbClr val="0F62FE"/>
            </a:solidFill>
            <a:prstDash val="solid"/>
          </a:ln>
        </p:spPr>
      </p:sp>
      <p:sp>
        <p:nvSpPr>
          <p:cNvPr id="85" name="msg-square"/>
          <p:cNvSpPr/>
          <p:nvPr/>
        </p:nvSpPr>
        <p:spPr>
          <a:xfrm>
            <a:off x="11439144" y="2738628"/>
            <a:ext cx="155448" cy="155448"/>
          </a:xfrm>
          <a:prstGeom prst="rect">
            <a:avLst/>
          </a:prstGeom>
          <a:solidFill>
            <a:srgbClr val="0F62FE"/>
          </a:solidFill>
          <a:ln w="9525">
            <a:solidFill>
              <a:srgbClr val="0F62FE"/>
            </a:solidFill>
            <a:prstDash val="solid"/>
          </a:ln>
        </p:spPr>
      </p:sp>
      <p:sp>
        <p:nvSpPr>
          <p:cNvPr id="86" name="msg-square"/>
          <p:cNvSpPr/>
          <p:nvPr/>
        </p:nvSpPr>
        <p:spPr>
          <a:xfrm>
            <a:off x="7182612" y="2962656"/>
            <a:ext cx="155448" cy="155448"/>
          </a:xfrm>
          <a:prstGeom prst="rect">
            <a:avLst/>
          </a:prstGeom>
          <a:solidFill>
            <a:srgbClr val="0F62FE"/>
          </a:solidFill>
          <a:ln w="9525">
            <a:solidFill>
              <a:srgbClr val="0F62FE"/>
            </a:solidFill>
            <a:prstDash val="solid"/>
          </a:ln>
        </p:spPr>
      </p:sp>
      <p:sp>
        <p:nvSpPr>
          <p:cNvPr id="87" name="msg-square"/>
          <p:cNvSpPr/>
          <p:nvPr/>
        </p:nvSpPr>
        <p:spPr>
          <a:xfrm>
            <a:off x="7406640" y="2962656"/>
            <a:ext cx="155448" cy="155448"/>
          </a:xfrm>
          <a:prstGeom prst="rect">
            <a:avLst/>
          </a:prstGeom>
          <a:solidFill>
            <a:srgbClr val="0F62FE"/>
          </a:solidFill>
          <a:ln w="9525">
            <a:solidFill>
              <a:srgbClr val="0F62FE"/>
            </a:solidFill>
            <a:prstDash val="solid"/>
          </a:ln>
        </p:spPr>
      </p:sp>
      <p:sp>
        <p:nvSpPr>
          <p:cNvPr id="88" name="msg-square"/>
          <p:cNvSpPr/>
          <p:nvPr/>
        </p:nvSpPr>
        <p:spPr>
          <a:xfrm>
            <a:off x="7630668" y="2962656"/>
            <a:ext cx="155448" cy="155448"/>
          </a:xfrm>
          <a:prstGeom prst="rect">
            <a:avLst/>
          </a:prstGeom>
          <a:solidFill>
            <a:srgbClr val="0F62FE"/>
          </a:solidFill>
          <a:ln w="9525">
            <a:solidFill>
              <a:srgbClr val="0F62FE"/>
            </a:solidFill>
            <a:prstDash val="solid"/>
          </a:ln>
        </p:spPr>
      </p:sp>
      <p:sp>
        <p:nvSpPr>
          <p:cNvPr id="89" name="msg-square"/>
          <p:cNvSpPr/>
          <p:nvPr/>
        </p:nvSpPr>
        <p:spPr>
          <a:xfrm>
            <a:off x="7854696" y="2962656"/>
            <a:ext cx="155448" cy="155448"/>
          </a:xfrm>
          <a:prstGeom prst="rect">
            <a:avLst/>
          </a:prstGeom>
          <a:solidFill>
            <a:srgbClr val="0F62FE"/>
          </a:solidFill>
          <a:ln w="9525">
            <a:solidFill>
              <a:srgbClr val="0F62FE"/>
            </a:solidFill>
            <a:prstDash val="solid"/>
          </a:ln>
        </p:spPr>
      </p:sp>
      <p:sp>
        <p:nvSpPr>
          <p:cNvPr id="90" name="msg-square"/>
          <p:cNvSpPr/>
          <p:nvPr/>
        </p:nvSpPr>
        <p:spPr>
          <a:xfrm>
            <a:off x="8078724" y="2962656"/>
            <a:ext cx="155448" cy="155448"/>
          </a:xfrm>
          <a:prstGeom prst="rect">
            <a:avLst/>
          </a:prstGeom>
          <a:solidFill>
            <a:srgbClr val="0F62FE"/>
          </a:solidFill>
          <a:ln w="9525">
            <a:solidFill>
              <a:srgbClr val="0F62FE"/>
            </a:solidFill>
            <a:prstDash val="solid"/>
          </a:ln>
        </p:spPr>
      </p:sp>
      <p:sp>
        <p:nvSpPr>
          <p:cNvPr id="91" name="msg-square"/>
          <p:cNvSpPr/>
          <p:nvPr/>
        </p:nvSpPr>
        <p:spPr>
          <a:xfrm>
            <a:off x="8302752" y="2962656"/>
            <a:ext cx="155448" cy="155448"/>
          </a:xfrm>
          <a:prstGeom prst="rect">
            <a:avLst/>
          </a:prstGeom>
          <a:solidFill>
            <a:srgbClr val="161616"/>
          </a:solidFill>
          <a:ln w="9525">
            <a:solidFill>
              <a:srgbClr val="393939"/>
            </a:solidFill>
            <a:prstDash val="solid"/>
          </a:ln>
        </p:spPr>
      </p:sp>
      <p:sp>
        <p:nvSpPr>
          <p:cNvPr id="92" name="msg-square"/>
          <p:cNvSpPr/>
          <p:nvPr/>
        </p:nvSpPr>
        <p:spPr>
          <a:xfrm>
            <a:off x="8526780" y="2962656"/>
            <a:ext cx="155448" cy="155448"/>
          </a:xfrm>
          <a:prstGeom prst="rect">
            <a:avLst/>
          </a:prstGeom>
          <a:solidFill>
            <a:srgbClr val="161616"/>
          </a:solidFill>
          <a:ln w="9525">
            <a:solidFill>
              <a:srgbClr val="393939"/>
            </a:solidFill>
            <a:prstDash val="solid"/>
          </a:ln>
        </p:spPr>
      </p:sp>
      <p:sp>
        <p:nvSpPr>
          <p:cNvPr id="93" name="msg-square"/>
          <p:cNvSpPr/>
          <p:nvPr/>
        </p:nvSpPr>
        <p:spPr>
          <a:xfrm>
            <a:off x="8750808" y="2962656"/>
            <a:ext cx="155448" cy="155448"/>
          </a:xfrm>
          <a:prstGeom prst="rect">
            <a:avLst/>
          </a:prstGeom>
          <a:solidFill>
            <a:srgbClr val="161616"/>
          </a:solidFill>
          <a:ln w="9525">
            <a:solidFill>
              <a:srgbClr val="393939"/>
            </a:solidFill>
            <a:prstDash val="solid"/>
          </a:ln>
        </p:spPr>
      </p:sp>
      <p:sp>
        <p:nvSpPr>
          <p:cNvPr id="94" name="msg-square"/>
          <p:cNvSpPr/>
          <p:nvPr/>
        </p:nvSpPr>
        <p:spPr>
          <a:xfrm>
            <a:off x="8974836" y="2962656"/>
            <a:ext cx="155448" cy="155448"/>
          </a:xfrm>
          <a:prstGeom prst="rect">
            <a:avLst/>
          </a:prstGeom>
          <a:solidFill>
            <a:srgbClr val="161616"/>
          </a:solidFill>
          <a:ln w="9525">
            <a:solidFill>
              <a:srgbClr val="393939"/>
            </a:solidFill>
            <a:prstDash val="solid"/>
          </a:ln>
        </p:spPr>
      </p:sp>
      <p:sp>
        <p:nvSpPr>
          <p:cNvPr id="95" name="msg-square"/>
          <p:cNvSpPr/>
          <p:nvPr/>
        </p:nvSpPr>
        <p:spPr>
          <a:xfrm>
            <a:off x="9198864" y="2962656"/>
            <a:ext cx="155448" cy="155448"/>
          </a:xfrm>
          <a:prstGeom prst="rect">
            <a:avLst/>
          </a:prstGeom>
          <a:solidFill>
            <a:srgbClr val="161616"/>
          </a:solidFill>
          <a:ln w="9525">
            <a:solidFill>
              <a:srgbClr val="393939"/>
            </a:solidFill>
            <a:prstDash val="solid"/>
          </a:ln>
        </p:spPr>
      </p:sp>
      <p:sp>
        <p:nvSpPr>
          <p:cNvPr id="96" name="msg-square"/>
          <p:cNvSpPr/>
          <p:nvPr/>
        </p:nvSpPr>
        <p:spPr>
          <a:xfrm>
            <a:off x="9422892" y="2962656"/>
            <a:ext cx="155448" cy="155448"/>
          </a:xfrm>
          <a:prstGeom prst="rect">
            <a:avLst/>
          </a:prstGeom>
          <a:solidFill>
            <a:srgbClr val="161616"/>
          </a:solidFill>
          <a:ln w="9525">
            <a:solidFill>
              <a:srgbClr val="393939"/>
            </a:solidFill>
            <a:prstDash val="solid"/>
          </a:ln>
        </p:spPr>
      </p:sp>
      <p:sp>
        <p:nvSpPr>
          <p:cNvPr id="97" name="msg-square"/>
          <p:cNvSpPr/>
          <p:nvPr/>
        </p:nvSpPr>
        <p:spPr>
          <a:xfrm>
            <a:off x="9646920" y="2962656"/>
            <a:ext cx="155448" cy="155448"/>
          </a:xfrm>
          <a:prstGeom prst="rect">
            <a:avLst/>
          </a:prstGeom>
          <a:solidFill>
            <a:srgbClr val="161616"/>
          </a:solidFill>
          <a:ln w="9525">
            <a:solidFill>
              <a:srgbClr val="393939"/>
            </a:solidFill>
            <a:prstDash val="solid"/>
          </a:ln>
        </p:spPr>
      </p:sp>
      <p:sp>
        <p:nvSpPr>
          <p:cNvPr id="98" name="msg-square"/>
          <p:cNvSpPr/>
          <p:nvPr/>
        </p:nvSpPr>
        <p:spPr>
          <a:xfrm>
            <a:off x="9870948" y="2962656"/>
            <a:ext cx="155448" cy="155448"/>
          </a:xfrm>
          <a:prstGeom prst="rect">
            <a:avLst/>
          </a:prstGeom>
          <a:solidFill>
            <a:srgbClr val="161616"/>
          </a:solidFill>
          <a:ln w="9525">
            <a:solidFill>
              <a:srgbClr val="393939"/>
            </a:solidFill>
            <a:prstDash val="solid"/>
          </a:ln>
        </p:spPr>
      </p:sp>
      <p:sp>
        <p:nvSpPr>
          <p:cNvPr id="99" name="msg-square"/>
          <p:cNvSpPr/>
          <p:nvPr/>
        </p:nvSpPr>
        <p:spPr>
          <a:xfrm>
            <a:off x="10094976" y="2962656"/>
            <a:ext cx="155448" cy="155448"/>
          </a:xfrm>
          <a:prstGeom prst="rect">
            <a:avLst/>
          </a:prstGeom>
          <a:solidFill>
            <a:srgbClr val="161616"/>
          </a:solidFill>
          <a:ln w="9525">
            <a:solidFill>
              <a:srgbClr val="393939"/>
            </a:solidFill>
            <a:prstDash val="solid"/>
          </a:ln>
        </p:spPr>
      </p:sp>
      <p:sp>
        <p:nvSpPr>
          <p:cNvPr id="100" name="msg-square"/>
          <p:cNvSpPr/>
          <p:nvPr/>
        </p:nvSpPr>
        <p:spPr>
          <a:xfrm>
            <a:off x="10319004" y="2962656"/>
            <a:ext cx="155448" cy="155448"/>
          </a:xfrm>
          <a:prstGeom prst="rect">
            <a:avLst/>
          </a:prstGeom>
          <a:solidFill>
            <a:srgbClr val="161616"/>
          </a:solidFill>
          <a:ln w="9525">
            <a:solidFill>
              <a:srgbClr val="393939"/>
            </a:solidFill>
            <a:prstDash val="solid"/>
          </a:ln>
        </p:spPr>
      </p:sp>
      <p:sp>
        <p:nvSpPr>
          <p:cNvPr id="101" name="msg-square"/>
          <p:cNvSpPr/>
          <p:nvPr/>
        </p:nvSpPr>
        <p:spPr>
          <a:xfrm>
            <a:off x="10543032" y="2962656"/>
            <a:ext cx="155448" cy="155448"/>
          </a:xfrm>
          <a:prstGeom prst="rect">
            <a:avLst/>
          </a:prstGeom>
          <a:solidFill>
            <a:srgbClr val="161616"/>
          </a:solidFill>
          <a:ln w="9525">
            <a:solidFill>
              <a:srgbClr val="393939"/>
            </a:solidFill>
            <a:prstDash val="solid"/>
          </a:ln>
        </p:spPr>
      </p:sp>
      <p:sp>
        <p:nvSpPr>
          <p:cNvPr id="102" name="msg-square"/>
          <p:cNvSpPr/>
          <p:nvPr/>
        </p:nvSpPr>
        <p:spPr>
          <a:xfrm>
            <a:off x="10767060" y="2962656"/>
            <a:ext cx="155448" cy="155448"/>
          </a:xfrm>
          <a:prstGeom prst="rect">
            <a:avLst/>
          </a:prstGeom>
          <a:solidFill>
            <a:srgbClr val="161616"/>
          </a:solidFill>
          <a:ln w="9525">
            <a:solidFill>
              <a:srgbClr val="393939"/>
            </a:solidFill>
            <a:prstDash val="solid"/>
          </a:ln>
        </p:spPr>
      </p:sp>
      <p:sp>
        <p:nvSpPr>
          <p:cNvPr id="103" name="msg-square"/>
          <p:cNvSpPr/>
          <p:nvPr/>
        </p:nvSpPr>
        <p:spPr>
          <a:xfrm>
            <a:off x="10991088" y="2962656"/>
            <a:ext cx="155448" cy="155448"/>
          </a:xfrm>
          <a:prstGeom prst="rect">
            <a:avLst/>
          </a:prstGeom>
          <a:solidFill>
            <a:srgbClr val="161616"/>
          </a:solidFill>
          <a:ln w="9525">
            <a:solidFill>
              <a:srgbClr val="393939"/>
            </a:solidFill>
            <a:prstDash val="solid"/>
          </a:ln>
        </p:spPr>
      </p:sp>
      <p:sp>
        <p:nvSpPr>
          <p:cNvPr id="104" name="msg-square"/>
          <p:cNvSpPr/>
          <p:nvPr/>
        </p:nvSpPr>
        <p:spPr>
          <a:xfrm>
            <a:off x="11215116" y="2962656"/>
            <a:ext cx="155448" cy="155448"/>
          </a:xfrm>
          <a:prstGeom prst="rect">
            <a:avLst/>
          </a:prstGeom>
          <a:solidFill>
            <a:srgbClr val="161616"/>
          </a:solidFill>
          <a:ln w="9525">
            <a:solidFill>
              <a:srgbClr val="393939"/>
            </a:solidFill>
            <a:prstDash val="solid"/>
          </a:ln>
        </p:spPr>
      </p:sp>
      <p:sp>
        <p:nvSpPr>
          <p:cNvPr id="105" name="msg-square"/>
          <p:cNvSpPr/>
          <p:nvPr/>
        </p:nvSpPr>
        <p:spPr>
          <a:xfrm>
            <a:off x="11439144" y="2962656"/>
            <a:ext cx="155448" cy="155448"/>
          </a:xfrm>
          <a:prstGeom prst="rect">
            <a:avLst/>
          </a:prstGeom>
          <a:solidFill>
            <a:srgbClr val="161616"/>
          </a:solidFill>
          <a:ln w="9525">
            <a:solidFill>
              <a:srgbClr val="393939"/>
            </a:solidFill>
            <a:prstDash val="solid"/>
          </a:ln>
        </p:spPr>
      </p:sp>
      <p:sp>
        <p:nvSpPr>
          <p:cNvPr id="106" name="Text 104"/>
          <p:cNvSpPr txBox="1"/>
          <p:nvPr/>
        </p:nvSpPr>
        <p:spPr>
          <a:xfrm>
            <a:off x="7182612" y="3296412"/>
            <a:ext cx="4411980" cy="274320"/>
          </a:xfrm>
          <a:prstGeom prst="rect">
            <a:avLst/>
          </a:prstGeom>
          <a:noFill/>
          <a:ln/>
        </p:spPr>
        <p:txBody>
          <a:bodyPr wrap="square" lIns="0" tIns="0" rIns="0" bIns="0" rtlCol="0" anchor="ctr"/>
          <a:lstStyle/>
          <a:p>
            <a:pPr marL="0" indent="0" algn="r">
              <a:buNone/>
            </a:pPr>
            <a:r>
              <a:rPr lang="en-US" sz="1100" dirty="0">
                <a:solidFill>
                  <a:srgbClr val="8D8D8D"/>
                </a:solidFill>
                <a:latin typeface="Courier New" pitchFamily="34" charset="0"/>
                <a:ea typeface="Courier New" pitchFamily="34" charset="-122"/>
                <a:cs typeface="Courier New" pitchFamily="34" charset="-120"/>
              </a:rPr>
              <a:t>850 messages waiting  ·  0 applications reading</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Overview">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66928" y="384048"/>
            <a:ext cx="10424160" cy="713232"/>
          </a:xfrm>
          <a:prstGeom prst="rect">
            <a:avLst/>
          </a:prstGeom>
          <a:noFill/>
          <a:ln/>
        </p:spPr>
        <p:txBody>
          <a:bodyPr wrap="square" rtlCol="0" anchor="t"/>
          <a:lstStyle/>
          <a:p>
            <a:pPr marL="0" indent="0" algn="l">
              <a:buNone/>
            </a:pPr>
            <a:r>
              <a:rPr lang="en-US" sz="3200" b="1" kern="0" spc="-40" dirty="0">
                <a:solidFill>
                  <a:srgbClr val="FFFFFF"/>
                </a:solidFill>
              </a:rPr>
              <a:t>Overview: What we are building</a:t>
            </a:r>
            <a:endParaRPr lang="en-US" sz="3200" dirty="0"/>
          </a:p>
        </p:txBody>
      </p:sp>
      <p:sp>
        <p:nvSpPr>
          <p:cNvPr id="3" name="thesis"/>
          <p:cNvSpPr txBox="1"/>
          <p:nvPr/>
        </p:nvSpPr>
        <p:spPr>
          <a:xfrm>
            <a:off x="566928" y="1152144"/>
            <a:ext cx="10058400" cy="566928"/>
          </a:xfrm>
          <a:prstGeom prst="rect">
            <a:avLst/>
          </a:prstGeom>
          <a:noFill/>
          <a:ln/>
        </p:spPr>
        <p:txBody>
          <a:bodyPr wrap="square" lIns="0" tIns="0" rIns="0" bIns="0" rtlCol="0" anchor="t"/>
          <a:lstStyle/>
          <a:p>
            <a:pPr marL="0" indent="0" algn="l">
              <a:lnSpc>
                <a:spcPts val="2100"/>
              </a:lnSpc>
              <a:buNone/>
            </a:pPr>
            <a:r>
              <a:rPr lang="en-US" sz="1600" b="1" kern="0" dirty="0">
                <a:solidFill>
                  <a:srgbClr val="C6C6C6"/>
                </a:solidFill>
              </a:rPr>
              <a:t>An automated pipeline that records status, notices problems, writes the ticket, enhances the ticket for the MQ AI Agent and asks the agent what is wrong.</a:t>
            </a:r>
          </a:p>
        </p:txBody>
      </p:sp>
      <p:sp>
        <p:nvSpPr>
          <p:cNvPr id="4" name="step"/>
          <p:cNvSpPr/>
          <p:nvPr/>
        </p:nvSpPr>
        <p:spPr>
          <a:xfrm>
            <a:off x="566928" y="1847088"/>
            <a:ext cx="2560320" cy="2340864"/>
          </a:xfrm>
          <a:prstGeom prst="rect">
            <a:avLst/>
          </a:prstGeom>
          <a:solidFill>
            <a:srgbClr val="262626"/>
          </a:solidFill>
          <a:ln w="12700">
            <a:solidFill>
              <a:srgbClr val="393939"/>
            </a:solidFill>
            <a:prstDash val="solid"/>
          </a:ln>
        </p:spPr>
      </p:sp>
      <p:sp>
        <p:nvSpPr>
          <p:cNvPr id="5" name="accent"/>
          <p:cNvSpPr/>
          <p:nvPr/>
        </p:nvSpPr>
        <p:spPr>
          <a:xfrm>
            <a:off x="566928" y="1847088"/>
            <a:ext cx="54864" cy="2340864"/>
          </a:xfrm>
          <a:prstGeom prst="rect">
            <a:avLst/>
          </a:prstGeom>
          <a:solidFill>
            <a:srgbClr val="0F62FE"/>
          </a:solidFill>
          <a:ln w="12700">
            <a:solidFill>
              <a:srgbClr val="0F62FE"/>
            </a:solidFill>
            <a:prstDash val="solid"/>
          </a:ln>
        </p:spPr>
      </p:sp>
      <p:sp>
        <p:nvSpPr>
          <p:cNvPr id="6" name="verb"/>
          <p:cNvSpPr txBox="1"/>
          <p:nvPr/>
        </p:nvSpPr>
        <p:spPr>
          <a:xfrm>
            <a:off x="877824" y="2121408"/>
            <a:ext cx="1975104" cy="384048"/>
          </a:xfrm>
          <a:prstGeom prst="rect">
            <a:avLst/>
          </a:prstGeom>
          <a:noFill/>
          <a:ln/>
        </p:spPr>
        <p:txBody>
          <a:bodyPr wrap="square" lIns="0" tIns="0" rIns="0" bIns="0" rtlCol="0" anchor="t"/>
          <a:lstStyle/>
          <a:p>
            <a:pPr marL="0" indent="0" algn="l">
              <a:buNone/>
            </a:pPr>
            <a:r>
              <a:rPr lang="en-US" sz="1700" b="1" kern="0" spc="60" dirty="0">
                <a:solidFill>
                  <a:srgbClr val="FFFFFF"/>
                </a:solidFill>
              </a:rPr>
              <a:t>DETECT</a:t>
            </a:r>
          </a:p>
        </p:txBody>
      </p:sp>
      <p:sp>
        <p:nvSpPr>
          <p:cNvPr id="7" name="body"/>
          <p:cNvSpPr txBox="1"/>
          <p:nvPr/>
        </p:nvSpPr>
        <p:spPr>
          <a:xfrm>
            <a:off x="877824" y="2633472"/>
            <a:ext cx="1975104" cy="914400"/>
          </a:xfrm>
          <a:prstGeom prst="rect">
            <a:avLst/>
          </a:prstGeom>
          <a:noFill/>
          <a:ln/>
        </p:spPr>
        <p:txBody>
          <a:bodyPr wrap="square" lIns="0" tIns="0" rIns="0" bIns="0" rtlCol="0" anchor="t"/>
          <a:lstStyle/>
          <a:p>
            <a:pPr marL="0" indent="0" algn="l">
              <a:lnSpc>
                <a:spcPts val="1600"/>
              </a:lnSpc>
              <a:buNone/>
            </a:pPr>
            <a:r>
              <a:rPr lang="en-US" sz="1200" kern="0" dirty="0">
                <a:solidFill>
                  <a:srgbClr val="C6C6C6"/>
                </a:solidFill>
              </a:rPr>
              <a:t>Sweep every queue. Depth with nothing reading it is the state that always needs a person.</a:t>
            </a:r>
          </a:p>
        </p:txBody>
      </p:sp>
      <p:sp>
        <p:nvSpPr>
          <p:cNvPr id="8" name="mono-block"/>
          <p:cNvSpPr/>
          <p:nvPr/>
        </p:nvSpPr>
        <p:spPr>
          <a:xfrm>
            <a:off x="877824" y="3621024"/>
            <a:ext cx="1975104" cy="457200"/>
          </a:xfrm>
          <a:prstGeom prst="rect">
            <a:avLst/>
          </a:prstGeom>
          <a:solidFill>
            <a:srgbClr val="1C1C1C"/>
          </a:solidFill>
          <a:ln w="12700">
            <a:solidFill>
              <a:srgbClr val="1C1C1C"/>
            </a:solidFill>
            <a:prstDash val="solid"/>
          </a:ln>
        </p:spPr>
      </p:sp>
      <p:sp>
        <p:nvSpPr>
          <p:cNvPr id="9" name="mono"/>
          <p:cNvSpPr txBox="1"/>
          <p:nvPr/>
        </p:nvSpPr>
        <p:spPr>
          <a:xfrm>
            <a:off x="987552" y="3621024"/>
            <a:ext cx="1755648" cy="457200"/>
          </a:xfrm>
          <a:prstGeom prst="rect">
            <a:avLst/>
          </a:prstGeom>
          <a:noFill/>
          <a:ln/>
        </p:spPr>
        <p:txBody>
          <a:bodyPr wrap="square" lIns="0" tIns="0" rIns="0" bIns="0" rtlCol="0" anchor="ctr"/>
          <a:lstStyle/>
          <a:p>
            <a:pPr marL="0" indent="0" algn="l">
              <a:lnSpc>
                <a:spcPts val="1050"/>
              </a:lnSpc>
              <a:buNone/>
            </a:pPr>
            <a:r>
              <a:rPr lang="en-US" sz="850" kern="0" dirty="0">
                <a:solidFill>
                  <a:srgbClr val="A6C8FF"/>
                </a:solidFill>
                <a:latin typeface="Courier New" pitchFamily="34" charset="0"/>
                <a:ea typeface="Courier New" pitchFamily="34" charset="-122"/>
                <a:cs typeface="Courier New" pitchFamily="34" charset="-120"/>
              </a:rPr>
              <a:t>CURDEPTH &gt; 0</a:t>
            </a:r>
          </a:p>
          <a:p>
            <a:pPr marL="0" indent="0" algn="l">
              <a:lnSpc>
                <a:spcPts val="1050"/>
              </a:lnSpc>
              <a:buNone/>
            </a:pPr>
            <a:r>
              <a:rPr lang="en-US" sz="850" kern="0" dirty="0">
                <a:solidFill>
                  <a:srgbClr val="A6C8FF"/>
                </a:solidFill>
                <a:latin typeface="Courier New" pitchFamily="34" charset="0"/>
                <a:ea typeface="Courier New" pitchFamily="34" charset="-122"/>
                <a:cs typeface="Courier New" pitchFamily="34" charset="-120"/>
              </a:rPr>
              <a:t>IPPROCS = 0</a:t>
            </a:r>
          </a:p>
        </p:txBody>
      </p:sp>
      <p:sp>
        <p:nvSpPr>
          <p:cNvPr id="10" name="arrow"/>
          <p:cNvSpPr/>
          <p:nvPr/>
        </p:nvSpPr>
        <p:spPr>
          <a:xfrm>
            <a:off x="3182112" y="3017520"/>
            <a:ext cx="155448" cy="0"/>
          </a:xfrm>
          <a:prstGeom prst="line">
            <a:avLst/>
          </a:prstGeom>
          <a:noFill/>
          <a:ln w="22225">
            <a:solidFill>
              <a:srgbClr val="8D8D8D"/>
            </a:solidFill>
            <a:prstDash val="solid"/>
            <a:tailEnd type="triangle"/>
          </a:ln>
        </p:spPr>
      </p:sp>
      <p:sp>
        <p:nvSpPr>
          <p:cNvPr id="11" name="step"/>
          <p:cNvSpPr/>
          <p:nvPr/>
        </p:nvSpPr>
        <p:spPr>
          <a:xfrm>
            <a:off x="3392424" y="1847088"/>
            <a:ext cx="2560320" cy="2340864"/>
          </a:xfrm>
          <a:prstGeom prst="rect">
            <a:avLst/>
          </a:prstGeom>
          <a:solidFill>
            <a:srgbClr val="262626"/>
          </a:solidFill>
          <a:ln w="12700">
            <a:solidFill>
              <a:srgbClr val="393939"/>
            </a:solidFill>
            <a:prstDash val="solid"/>
          </a:ln>
        </p:spPr>
      </p:sp>
      <p:sp>
        <p:nvSpPr>
          <p:cNvPr id="12" name="accent"/>
          <p:cNvSpPr/>
          <p:nvPr/>
        </p:nvSpPr>
        <p:spPr>
          <a:xfrm>
            <a:off x="3392424" y="1847088"/>
            <a:ext cx="54864" cy="2340864"/>
          </a:xfrm>
          <a:prstGeom prst="rect">
            <a:avLst/>
          </a:prstGeom>
          <a:solidFill>
            <a:srgbClr val="0F62FE"/>
          </a:solidFill>
          <a:ln w="12700">
            <a:solidFill>
              <a:srgbClr val="0F62FE"/>
            </a:solidFill>
            <a:prstDash val="solid"/>
          </a:ln>
        </p:spPr>
      </p:sp>
      <p:sp>
        <p:nvSpPr>
          <p:cNvPr id="13" name="verb"/>
          <p:cNvSpPr txBox="1"/>
          <p:nvPr/>
        </p:nvSpPr>
        <p:spPr>
          <a:xfrm>
            <a:off x="3703320" y="2121408"/>
            <a:ext cx="1975104" cy="384048"/>
          </a:xfrm>
          <a:prstGeom prst="rect">
            <a:avLst/>
          </a:prstGeom>
          <a:noFill/>
          <a:ln/>
        </p:spPr>
        <p:txBody>
          <a:bodyPr wrap="square" lIns="0" tIns="0" rIns="0" bIns="0" rtlCol="0" anchor="t"/>
          <a:lstStyle/>
          <a:p>
            <a:pPr marL="0" indent="0" algn="l">
              <a:buNone/>
            </a:pPr>
            <a:r>
              <a:rPr lang="en-US" sz="1700" b="1" kern="0" spc="60" dirty="0">
                <a:solidFill>
                  <a:srgbClr val="FFFFFF"/>
                </a:solidFill>
              </a:rPr>
              <a:t>TICKET</a:t>
            </a:r>
          </a:p>
        </p:txBody>
      </p:sp>
      <p:sp>
        <p:nvSpPr>
          <p:cNvPr id="14" name="body"/>
          <p:cNvSpPr txBox="1"/>
          <p:nvPr/>
        </p:nvSpPr>
        <p:spPr>
          <a:xfrm>
            <a:off x="3703320" y="2633472"/>
            <a:ext cx="1975104" cy="914400"/>
          </a:xfrm>
          <a:prstGeom prst="rect">
            <a:avLst/>
          </a:prstGeom>
          <a:noFill/>
          <a:ln/>
        </p:spPr>
        <p:txBody>
          <a:bodyPr wrap="square" lIns="0" tIns="0" rIns="0" bIns="0" rtlCol="0" anchor="t"/>
          <a:lstStyle/>
          <a:p>
            <a:pPr marL="0" indent="0" algn="l">
              <a:lnSpc>
                <a:spcPts val="1600"/>
              </a:lnSpc>
              <a:buNone/>
            </a:pPr>
            <a:r>
              <a:rPr lang="en-US" sz="1200" kern="0" dirty="0">
                <a:solidFill>
                  <a:srgbClr val="C6C6C6"/>
                </a:solidFill>
              </a:rPr>
              <a:t>Each stuck queue becomes one ticket, carrying the MQ facts that prove it.</a:t>
            </a:r>
          </a:p>
        </p:txBody>
      </p:sp>
      <p:sp>
        <p:nvSpPr>
          <p:cNvPr id="15" name="mono-block"/>
          <p:cNvSpPr/>
          <p:nvPr/>
        </p:nvSpPr>
        <p:spPr>
          <a:xfrm>
            <a:off x="3703320" y="3621024"/>
            <a:ext cx="1975104" cy="457200"/>
          </a:xfrm>
          <a:prstGeom prst="rect">
            <a:avLst/>
          </a:prstGeom>
          <a:solidFill>
            <a:srgbClr val="1C1C1C"/>
          </a:solidFill>
          <a:ln w="12700">
            <a:solidFill>
              <a:srgbClr val="1C1C1C"/>
            </a:solidFill>
            <a:prstDash val="solid"/>
          </a:ln>
        </p:spPr>
      </p:sp>
      <p:sp>
        <p:nvSpPr>
          <p:cNvPr id="16" name="mono"/>
          <p:cNvSpPr txBox="1"/>
          <p:nvPr/>
        </p:nvSpPr>
        <p:spPr>
          <a:xfrm>
            <a:off x="3813048" y="3621024"/>
            <a:ext cx="1755648" cy="457200"/>
          </a:xfrm>
          <a:prstGeom prst="rect">
            <a:avLst/>
          </a:prstGeom>
          <a:noFill/>
          <a:ln/>
        </p:spPr>
        <p:txBody>
          <a:bodyPr wrap="square" lIns="0" tIns="0" rIns="0" bIns="0" rtlCol="0" anchor="ctr"/>
          <a:lstStyle/>
          <a:p>
            <a:pPr marL="0" indent="0" algn="l">
              <a:lnSpc>
                <a:spcPts val="1050"/>
              </a:lnSpc>
              <a:buNone/>
            </a:pPr>
            <a:r>
              <a:rPr lang="en-US" sz="850" kern="0" dirty="0">
                <a:solidFill>
                  <a:srgbClr val="A6C8FF"/>
                </a:solidFill>
                <a:latin typeface="Courier New" pitchFamily="34" charset="0"/>
                <a:ea typeface="Courier New" pitchFamily="34" charset="-122"/>
                <a:cs typeface="Courier New" pitchFamily="34" charset="-120"/>
              </a:rPr>
              <a:t>INC-0042   QMS1</a:t>
            </a:r>
          </a:p>
          <a:p>
            <a:pPr marL="0" indent="0" algn="l">
              <a:lnSpc>
                <a:spcPts val="1050"/>
              </a:lnSpc>
              <a:buNone/>
            </a:pPr>
            <a:r>
              <a:rPr lang="en-US" sz="850" kern="0" dirty="0">
                <a:solidFill>
                  <a:srgbClr val="A6C8FF"/>
                </a:solidFill>
                <a:latin typeface="Courier New" pitchFamily="34" charset="0"/>
                <a:ea typeface="Courier New" pitchFamily="34" charset="-122"/>
                <a:cs typeface="Courier New" pitchFamily="34" charset="-120"/>
              </a:rPr>
              <a:t>850 deep, 0 readers</a:t>
            </a:r>
          </a:p>
        </p:txBody>
      </p:sp>
      <p:sp>
        <p:nvSpPr>
          <p:cNvPr id="17" name="arrow"/>
          <p:cNvSpPr/>
          <p:nvPr/>
        </p:nvSpPr>
        <p:spPr>
          <a:xfrm>
            <a:off x="6007608" y="3017520"/>
            <a:ext cx="155448" cy="0"/>
          </a:xfrm>
          <a:prstGeom prst="line">
            <a:avLst/>
          </a:prstGeom>
          <a:noFill/>
          <a:ln w="22225">
            <a:solidFill>
              <a:srgbClr val="8D8D8D"/>
            </a:solidFill>
            <a:prstDash val="solid"/>
            <a:tailEnd type="triangle"/>
          </a:ln>
        </p:spPr>
      </p:sp>
      <p:sp>
        <p:nvSpPr>
          <p:cNvPr id="18" name="step"/>
          <p:cNvSpPr/>
          <p:nvPr/>
        </p:nvSpPr>
        <p:spPr>
          <a:xfrm>
            <a:off x="6217920" y="1847088"/>
            <a:ext cx="2560320" cy="2340864"/>
          </a:xfrm>
          <a:prstGeom prst="rect">
            <a:avLst/>
          </a:prstGeom>
          <a:solidFill>
            <a:srgbClr val="262626"/>
          </a:solidFill>
          <a:ln w="12700">
            <a:solidFill>
              <a:srgbClr val="393939"/>
            </a:solidFill>
            <a:prstDash val="solid"/>
          </a:ln>
        </p:spPr>
      </p:sp>
      <p:sp>
        <p:nvSpPr>
          <p:cNvPr id="19" name="accent"/>
          <p:cNvSpPr/>
          <p:nvPr/>
        </p:nvSpPr>
        <p:spPr>
          <a:xfrm>
            <a:off x="6217920" y="1847088"/>
            <a:ext cx="54864" cy="2340864"/>
          </a:xfrm>
          <a:prstGeom prst="rect">
            <a:avLst/>
          </a:prstGeom>
          <a:solidFill>
            <a:srgbClr val="0F62FE"/>
          </a:solidFill>
          <a:ln w="12700">
            <a:solidFill>
              <a:srgbClr val="0F62FE"/>
            </a:solidFill>
            <a:prstDash val="solid"/>
          </a:ln>
        </p:spPr>
      </p:sp>
      <p:sp>
        <p:nvSpPr>
          <p:cNvPr id="20" name="verb"/>
          <p:cNvSpPr txBox="1"/>
          <p:nvPr/>
        </p:nvSpPr>
        <p:spPr>
          <a:xfrm>
            <a:off x="6528816" y="2121408"/>
            <a:ext cx="1975104" cy="384048"/>
          </a:xfrm>
          <a:prstGeom prst="rect">
            <a:avLst/>
          </a:prstGeom>
          <a:noFill/>
          <a:ln/>
        </p:spPr>
        <p:txBody>
          <a:bodyPr wrap="square" lIns="0" tIns="0" rIns="0" bIns="0" rtlCol="0" anchor="t"/>
          <a:lstStyle/>
          <a:p>
            <a:pPr marL="0" indent="0" algn="l">
              <a:buNone/>
            </a:pPr>
            <a:r>
              <a:rPr lang="en-US" sz="1700" b="1" kern="0" spc="60" dirty="0">
                <a:solidFill>
                  <a:srgbClr val="FFFFFF"/>
                </a:solidFill>
              </a:rPr>
              <a:t>ENHANCE</a:t>
            </a:r>
          </a:p>
        </p:txBody>
      </p:sp>
      <p:sp>
        <p:nvSpPr>
          <p:cNvPr id="21" name="body"/>
          <p:cNvSpPr txBox="1"/>
          <p:nvPr/>
        </p:nvSpPr>
        <p:spPr>
          <a:xfrm>
            <a:off x="6528816" y="2633472"/>
            <a:ext cx="1975104" cy="914400"/>
          </a:xfrm>
          <a:prstGeom prst="rect">
            <a:avLst/>
          </a:prstGeom>
          <a:noFill/>
          <a:ln/>
        </p:spPr>
        <p:txBody>
          <a:bodyPr wrap="square" lIns="0" tIns="0" rIns="0" bIns="0" rtlCol="0" anchor="t"/>
          <a:lstStyle/>
          <a:p>
            <a:pPr marL="0" indent="0" algn="l">
              <a:lnSpc>
                <a:spcPts val="1600"/>
              </a:lnSpc>
              <a:buNone/>
            </a:pPr>
            <a:r>
              <a:rPr lang="en-US" sz="1200" kern="0" dirty="0">
                <a:solidFill>
                  <a:srgbClr val="C6C6C6"/>
                </a:solidFill>
              </a:rPr>
              <a:t>One line is added — the line that turns a record of a problem into a question an agent can answer.</a:t>
            </a:r>
          </a:p>
        </p:txBody>
      </p:sp>
      <p:sp>
        <p:nvSpPr>
          <p:cNvPr id="22" name="mono-block"/>
          <p:cNvSpPr/>
          <p:nvPr/>
        </p:nvSpPr>
        <p:spPr>
          <a:xfrm>
            <a:off x="6528816" y="3621024"/>
            <a:ext cx="1975104" cy="457200"/>
          </a:xfrm>
          <a:prstGeom prst="rect">
            <a:avLst/>
          </a:prstGeom>
          <a:solidFill>
            <a:srgbClr val="1C1C1C"/>
          </a:solidFill>
          <a:ln w="12700">
            <a:solidFill>
              <a:srgbClr val="1C1C1C"/>
            </a:solidFill>
            <a:prstDash val="solid"/>
          </a:ln>
        </p:spPr>
      </p:sp>
      <p:sp>
        <p:nvSpPr>
          <p:cNvPr id="23" name="mono"/>
          <p:cNvSpPr txBox="1"/>
          <p:nvPr/>
        </p:nvSpPr>
        <p:spPr>
          <a:xfrm>
            <a:off x="6638544" y="3621024"/>
            <a:ext cx="1755648" cy="457200"/>
          </a:xfrm>
          <a:prstGeom prst="rect">
            <a:avLst/>
          </a:prstGeom>
          <a:noFill/>
          <a:ln/>
        </p:spPr>
        <p:txBody>
          <a:bodyPr wrap="square" lIns="0" tIns="0" rIns="0" bIns="0" rtlCol="0" anchor="ctr"/>
          <a:lstStyle/>
          <a:p>
            <a:pPr marL="0" indent="0" algn="l">
              <a:lnSpc>
                <a:spcPts val="1050"/>
              </a:lnSpc>
              <a:buNone/>
            </a:pPr>
            <a:r>
              <a:rPr lang="en-US" sz="850" kern="0" dirty="0">
                <a:solidFill>
                  <a:srgbClr val="A6C8FF"/>
                </a:solidFill>
                <a:latin typeface="Courier New" pitchFamily="34" charset="0"/>
                <a:ea typeface="Courier New" pitchFamily="34" charset="-122"/>
                <a:cs typeface="Courier New" pitchFamily="34" charset="-120"/>
              </a:rPr>
              <a:t>Diagnose Q &lt;queue&gt;</a:t>
            </a:r>
          </a:p>
          <a:p>
            <a:pPr marL="0" indent="0" algn="l">
              <a:lnSpc>
                <a:spcPts val="1050"/>
              </a:lnSpc>
              <a:buNone/>
            </a:pPr>
            <a:r>
              <a:rPr lang="en-US" sz="850" kern="0" dirty="0">
                <a:solidFill>
                  <a:srgbClr val="A6C8FF"/>
                </a:solidFill>
                <a:latin typeface="Courier New" pitchFamily="34" charset="0"/>
                <a:ea typeface="Courier New" pitchFamily="34" charset="-122"/>
                <a:cs typeface="Courier New" pitchFamily="34" charset="-120"/>
              </a:rPr>
              <a:t>on Q Manager &lt;qmgr&gt;</a:t>
            </a:r>
          </a:p>
        </p:txBody>
      </p:sp>
      <p:sp>
        <p:nvSpPr>
          <p:cNvPr id="24" name="arrow"/>
          <p:cNvSpPr/>
          <p:nvPr/>
        </p:nvSpPr>
        <p:spPr>
          <a:xfrm>
            <a:off x="8833104" y="3017520"/>
            <a:ext cx="155448" cy="0"/>
          </a:xfrm>
          <a:prstGeom prst="line">
            <a:avLst/>
          </a:prstGeom>
          <a:noFill/>
          <a:ln w="22225">
            <a:solidFill>
              <a:srgbClr val="8D8D8D"/>
            </a:solidFill>
            <a:prstDash val="solid"/>
            <a:tailEnd type="triangle"/>
          </a:ln>
        </p:spPr>
      </p:sp>
      <p:sp>
        <p:nvSpPr>
          <p:cNvPr id="25" name="step"/>
          <p:cNvSpPr/>
          <p:nvPr/>
        </p:nvSpPr>
        <p:spPr>
          <a:xfrm>
            <a:off x="9043416" y="1847088"/>
            <a:ext cx="2560320" cy="2340864"/>
          </a:xfrm>
          <a:prstGeom prst="rect">
            <a:avLst/>
          </a:prstGeom>
          <a:solidFill>
            <a:srgbClr val="262626"/>
          </a:solidFill>
          <a:ln w="12700">
            <a:solidFill>
              <a:srgbClr val="393939"/>
            </a:solidFill>
            <a:prstDash val="solid"/>
          </a:ln>
        </p:spPr>
      </p:sp>
      <p:sp>
        <p:nvSpPr>
          <p:cNvPr id="26" name="accent"/>
          <p:cNvSpPr/>
          <p:nvPr/>
        </p:nvSpPr>
        <p:spPr>
          <a:xfrm>
            <a:off x="9043416" y="1847088"/>
            <a:ext cx="54864" cy="2340864"/>
          </a:xfrm>
          <a:prstGeom prst="rect">
            <a:avLst/>
          </a:prstGeom>
          <a:solidFill>
            <a:srgbClr val="8A3FFC"/>
          </a:solidFill>
          <a:ln w="12700">
            <a:solidFill>
              <a:srgbClr val="8A3FFC"/>
            </a:solidFill>
            <a:prstDash val="solid"/>
          </a:ln>
        </p:spPr>
      </p:sp>
      <p:sp>
        <p:nvSpPr>
          <p:cNvPr id="27" name="verb"/>
          <p:cNvSpPr txBox="1"/>
          <p:nvPr/>
        </p:nvSpPr>
        <p:spPr>
          <a:xfrm>
            <a:off x="9354312" y="2121408"/>
            <a:ext cx="1975104" cy="384048"/>
          </a:xfrm>
          <a:prstGeom prst="rect">
            <a:avLst/>
          </a:prstGeom>
          <a:noFill/>
          <a:ln/>
        </p:spPr>
        <p:txBody>
          <a:bodyPr wrap="square" lIns="0" tIns="0" rIns="0" bIns="0" rtlCol="0" anchor="t"/>
          <a:lstStyle/>
          <a:p>
            <a:pPr marL="0" indent="0" algn="l">
              <a:buNone/>
            </a:pPr>
            <a:r>
              <a:rPr lang="en-US" sz="1700" b="1" kern="0" spc="60" dirty="0">
                <a:solidFill>
                  <a:srgbClr val="FFFFFF"/>
                </a:solidFill>
              </a:rPr>
              <a:t>DIAGNOSE</a:t>
            </a:r>
          </a:p>
        </p:txBody>
      </p:sp>
      <p:sp>
        <p:nvSpPr>
          <p:cNvPr id="28" name="body"/>
          <p:cNvSpPr txBox="1"/>
          <p:nvPr/>
        </p:nvSpPr>
        <p:spPr>
          <a:xfrm>
            <a:off x="9354312" y="2633472"/>
            <a:ext cx="1975104" cy="914400"/>
          </a:xfrm>
          <a:prstGeom prst="rect">
            <a:avLst/>
          </a:prstGeom>
          <a:noFill/>
          <a:ln/>
        </p:spPr>
        <p:txBody>
          <a:bodyPr wrap="square" lIns="0" tIns="0" rIns="0" bIns="0" rtlCol="0" anchor="t"/>
          <a:lstStyle/>
          <a:p>
            <a:pPr marL="0" indent="0" algn="l">
              <a:lnSpc>
                <a:spcPts val="1600"/>
              </a:lnSpc>
              <a:buNone/>
            </a:pPr>
            <a:r>
              <a:rPr lang="en-US" sz="1200" kern="0" dirty="0">
                <a:solidFill>
                  <a:srgbClr val="C6C6C6"/>
                </a:solidFill>
              </a:rPr>
              <a:t>The IBM MQ AI Agent reads it, inspects the live queue manager, and names the cause and the command.</a:t>
            </a:r>
          </a:p>
        </p:txBody>
      </p:sp>
      <p:sp>
        <p:nvSpPr>
          <p:cNvPr id="29" name="mono-block"/>
          <p:cNvSpPr/>
          <p:nvPr/>
        </p:nvSpPr>
        <p:spPr>
          <a:xfrm>
            <a:off x="9354312" y="3621024"/>
            <a:ext cx="1975104" cy="457200"/>
          </a:xfrm>
          <a:prstGeom prst="rect">
            <a:avLst/>
          </a:prstGeom>
          <a:solidFill>
            <a:srgbClr val="1C1C1C"/>
          </a:solidFill>
          <a:ln w="12700">
            <a:solidFill>
              <a:srgbClr val="1C1C1C"/>
            </a:solidFill>
            <a:prstDash val="solid"/>
          </a:ln>
        </p:spPr>
      </p:sp>
      <p:sp>
        <p:nvSpPr>
          <p:cNvPr id="30" name="mono"/>
          <p:cNvSpPr txBox="1"/>
          <p:nvPr/>
        </p:nvSpPr>
        <p:spPr>
          <a:xfrm>
            <a:off x="9464040" y="3621024"/>
            <a:ext cx="1755648" cy="457200"/>
          </a:xfrm>
          <a:prstGeom prst="rect">
            <a:avLst/>
          </a:prstGeom>
          <a:noFill/>
          <a:ln/>
        </p:spPr>
        <p:txBody>
          <a:bodyPr wrap="square" lIns="0" tIns="0" rIns="0" bIns="0" rtlCol="0" anchor="ctr"/>
          <a:lstStyle/>
          <a:p>
            <a:pPr marL="0" indent="0" algn="l">
              <a:lnSpc>
                <a:spcPts val="1050"/>
              </a:lnSpc>
              <a:buNone/>
            </a:pPr>
            <a:r>
              <a:rPr lang="en-US" sz="850" kern="0" dirty="0">
                <a:solidFill>
                  <a:srgbClr val="D4BBFF"/>
                </a:solidFill>
                <a:latin typeface="Courier New" pitchFamily="34" charset="0"/>
                <a:ea typeface="Courier New" pitchFamily="34" charset="-122"/>
                <a:cs typeface="Courier New" pitchFamily="34" charset="-120"/>
              </a:rPr>
              <a:t>GET(DISABLED)</a:t>
            </a:r>
          </a:p>
          <a:p>
            <a:pPr marL="0" indent="0" algn="l">
              <a:lnSpc>
                <a:spcPts val="1050"/>
              </a:lnSpc>
              <a:buNone/>
            </a:pPr>
            <a:r>
              <a:rPr lang="en-US" sz="850" kern="0" dirty="0">
                <a:solidFill>
                  <a:srgbClr val="D4BBFF"/>
                </a:solidFill>
                <a:latin typeface="Courier New" pitchFamily="34" charset="0"/>
                <a:ea typeface="Courier New" pitchFamily="34" charset="-122"/>
                <a:cs typeface="Courier New" pitchFamily="34" charset="-120"/>
              </a:rPr>
              <a:t>found in 20 seconds</a:t>
            </a:r>
          </a:p>
        </p:txBody>
      </p:sp>
      <p:sp>
        <p:nvSpPr>
          <p:cNvPr id="31" name="takeaway"/>
          <p:cNvSpPr/>
          <p:nvPr/>
        </p:nvSpPr>
        <p:spPr>
          <a:xfrm>
            <a:off x="566928" y="4498848"/>
            <a:ext cx="11027664" cy="1133856"/>
          </a:xfrm>
          <a:prstGeom prst="rect">
            <a:avLst/>
          </a:prstGeom>
          <a:solidFill>
            <a:srgbClr val="0F62FE"/>
          </a:solidFill>
          <a:ln w="12700">
            <a:solidFill>
              <a:srgbClr val="0F62FE"/>
            </a:solidFill>
            <a:prstDash val="solid"/>
          </a:ln>
        </p:spPr>
      </p:sp>
      <p:sp>
        <p:nvSpPr>
          <p:cNvPr id="32" name="takeaway-text"/>
          <p:cNvSpPr txBox="1"/>
          <p:nvPr/>
        </p:nvSpPr>
        <p:spPr>
          <a:xfrm>
            <a:off x="950976" y="4773168"/>
            <a:ext cx="10241280" cy="621792"/>
          </a:xfrm>
          <a:prstGeom prst="rect">
            <a:avLst/>
          </a:prstGeom>
          <a:noFill/>
          <a:ln/>
        </p:spPr>
        <p:txBody>
          <a:bodyPr wrap="square" lIns="0" tIns="0" rIns="0" bIns="0" rtlCol="0" anchor="t"/>
          <a:lstStyle/>
          <a:p>
            <a:pPr marL="0" indent="0" algn="l">
              <a:lnSpc>
                <a:spcPts val="1900"/>
              </a:lnSpc>
              <a:buNone/>
            </a:pPr>
            <a:r>
              <a:rPr lang="en-US" sz="1600" b="1" kern="0" dirty="0">
                <a:solidFill>
                  <a:srgbClr val="FFFFFF"/>
                </a:solidFill>
              </a:rPr>
              <a:t>Nobody has to notice first (automated: detection, ticketing, enhancement)</a:t>
            </a:r>
          </a:p>
          <a:p>
            <a:pPr marL="0" indent="0" algn="l">
              <a:lnSpc>
                <a:spcPts val="1900"/>
              </a:lnSpc>
              <a:buNone/>
            </a:pPr>
            <a:r>
              <a:rPr lang="en-US" sz="1300" kern="0" dirty="0">
                <a:solidFill>
                  <a:srgbClr val="EDF5FF"/>
                </a:solidFill>
              </a:rPr>
              <a:t>Detect, ticket and enhance are ours, and they run unattended. </a:t>
            </a:r>
            <a:r>
              <a:rPr lang="en-US" sz="1300" b="1" kern="0" dirty="0">
                <a:solidFill>
                  <a:srgbClr val="EDF5FF"/>
                </a:solidFill>
              </a:rPr>
              <a:t>Diagnose is IBM's MQ AI Agent, live. The fix stays a human decision.</a:t>
            </a:r>
          </a:p>
        </p:txBody>
      </p:sp>
      <p:sp>
        <p:nvSpPr>
          <p:cNvPr id="33" name="Slide Number Placeholder 0"/>
          <p:cNvSpPr>
            <a:spLocks noGrp="1"/>
          </p:cNvSpPr>
          <p:nvPr>
            <p:ph type="sldNum" sz="quarter" idx="4294967295"/>
          </p:nvPr>
        </p:nvSpPr>
        <p:spPr>
          <a:xfrm>
            <a:off x="11430000" y="6364224"/>
            <a:ext cx="365760" cy="274320"/>
          </a:xfrm>
          <a:prstGeom prst="rect">
            <a:avLst/>
          </a:prstGeom>
        </p:spPr>
        <p:txBody>
          <a:bodyPr/>
          <a:lstStyle>
            <a:lvl1pPr>
              <a:defRPr sz="900">
                <a:solidFill>
                  <a:srgbClr val="A8A8A8"/>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66928" y="384048"/>
            <a:ext cx="10424160" cy="713232"/>
          </a:xfrm>
          <a:prstGeom prst="rect">
            <a:avLst/>
          </a:prstGeom>
          <a:noFill/>
          <a:ln/>
        </p:spPr>
        <p:txBody>
          <a:bodyPr wrap="square" rtlCol="0" anchor="t"/>
          <a:lstStyle/>
          <a:p>
            <a:pPr marL="0" indent="0" algn="l">
              <a:buNone/>
            </a:pPr>
            <a:r>
              <a:rPr lang="en-US" sz="3200" b="1" kern="0" spc="-40" dirty="0">
                <a:solidFill>
                  <a:srgbClr val="161616"/>
                </a:solidFill>
              </a:rPr>
              <a:t>A queue can be 85% full with no one reading from it</a:t>
            </a:r>
            <a:endParaRPr lang="en-US" sz="3200" dirty="0"/>
          </a:p>
        </p:txBody>
      </p:sp>
      <p:sp>
        <p:nvSpPr>
          <p:cNvPr id="3" name="stat-card"/>
          <p:cNvSpPr/>
          <p:nvPr/>
        </p:nvSpPr>
        <p:spPr>
          <a:xfrm>
            <a:off x="566928" y="1572768"/>
            <a:ext cx="3493008" cy="2286000"/>
          </a:xfrm>
          <a:prstGeom prst="rect">
            <a:avLst/>
          </a:prstGeom>
          <a:solidFill>
            <a:srgbClr val="F4F4F4"/>
          </a:solidFill>
          <a:ln w="12700">
            <a:solidFill>
              <a:srgbClr val="F4F4F4"/>
            </a:solidFill>
            <a:prstDash val="solid"/>
          </a:ln>
        </p:spPr>
      </p:sp>
      <p:sp>
        <p:nvSpPr>
          <p:cNvPr id="4" name="msg-square"/>
          <p:cNvSpPr/>
          <p:nvPr/>
        </p:nvSpPr>
        <p:spPr>
          <a:xfrm>
            <a:off x="877824" y="1901952"/>
            <a:ext cx="155448" cy="155448"/>
          </a:xfrm>
          <a:prstGeom prst="rect">
            <a:avLst/>
          </a:prstGeom>
          <a:solidFill>
            <a:srgbClr val="DA1E28"/>
          </a:solidFill>
          <a:ln w="6350">
            <a:solidFill>
              <a:srgbClr val="DA1E28"/>
            </a:solidFill>
            <a:prstDash val="solid"/>
          </a:ln>
        </p:spPr>
      </p:sp>
      <p:sp>
        <p:nvSpPr>
          <p:cNvPr id="5" name="Text 3"/>
          <p:cNvSpPr txBox="1"/>
          <p:nvPr/>
        </p:nvSpPr>
        <p:spPr>
          <a:xfrm>
            <a:off x="877824" y="2194560"/>
            <a:ext cx="2871216" cy="786384"/>
          </a:xfrm>
          <a:prstGeom prst="rect">
            <a:avLst/>
          </a:prstGeom>
          <a:noFill/>
          <a:ln/>
        </p:spPr>
        <p:txBody>
          <a:bodyPr wrap="square" lIns="0" tIns="0" rIns="0" bIns="0" rtlCol="0" anchor="ctr"/>
          <a:lstStyle/>
          <a:p>
            <a:pPr marL="0" indent="0">
              <a:buNone/>
            </a:pPr>
            <a:r>
              <a:rPr lang="en-US" sz="3400" b="1" kern="0" spc="-100" dirty="0">
                <a:solidFill>
                  <a:srgbClr val="161616"/>
                </a:solidFill>
              </a:rPr>
              <a:t>850 / 1000</a:t>
            </a:r>
            <a:endParaRPr lang="en-US" sz="3400" dirty="0"/>
          </a:p>
        </p:txBody>
      </p:sp>
      <p:sp>
        <p:nvSpPr>
          <p:cNvPr id="6" name="Text 4"/>
          <p:cNvSpPr txBox="1"/>
          <p:nvPr/>
        </p:nvSpPr>
        <p:spPr>
          <a:xfrm>
            <a:off x="877824" y="3035808"/>
            <a:ext cx="2871216" cy="310896"/>
          </a:xfrm>
          <a:prstGeom prst="rect">
            <a:avLst/>
          </a:prstGeom>
          <a:noFill/>
          <a:ln/>
        </p:spPr>
        <p:txBody>
          <a:bodyPr wrap="square" lIns="0" tIns="0" rIns="0" bIns="0" rtlCol="0" anchor="ctr"/>
          <a:lstStyle/>
          <a:p>
            <a:pPr marL="0" indent="0">
              <a:buNone/>
            </a:pPr>
            <a:r>
              <a:rPr lang="en-US" sz="1300" b="1" dirty="0">
                <a:solidFill>
                  <a:srgbClr val="161616"/>
                </a:solidFill>
              </a:rPr>
              <a:t>ACME.APPDATA.QUEUE</a:t>
            </a:r>
            <a:endParaRPr lang="en-US" sz="1300" dirty="0"/>
          </a:p>
        </p:txBody>
      </p:sp>
      <p:sp>
        <p:nvSpPr>
          <p:cNvPr id="7" name="Text 5"/>
          <p:cNvSpPr txBox="1"/>
          <p:nvPr/>
        </p:nvSpPr>
        <p:spPr>
          <a:xfrm>
            <a:off x="877824" y="3355848"/>
            <a:ext cx="2871216" cy="310896"/>
          </a:xfrm>
          <a:prstGeom prst="rect">
            <a:avLst/>
          </a:prstGeom>
          <a:noFill/>
          <a:ln/>
        </p:spPr>
        <p:txBody>
          <a:bodyPr wrap="square" lIns="0" tIns="0" rIns="0" bIns="0" rtlCol="0" anchor="ctr"/>
          <a:lstStyle/>
          <a:p>
            <a:pPr marL="0" indent="0">
              <a:buNone/>
            </a:pPr>
            <a:r>
              <a:rPr lang="en-US" sz="1200" dirty="0">
                <a:solidFill>
                  <a:srgbClr val="6F6F6F"/>
                </a:solidFill>
              </a:rPr>
              <a:t>85% full and climbing</a:t>
            </a:r>
            <a:endParaRPr lang="en-US" sz="1200" dirty="0"/>
          </a:p>
        </p:txBody>
      </p:sp>
      <p:sp>
        <p:nvSpPr>
          <p:cNvPr id="8" name="stat-card"/>
          <p:cNvSpPr/>
          <p:nvPr/>
        </p:nvSpPr>
        <p:spPr>
          <a:xfrm>
            <a:off x="4370832" y="1572768"/>
            <a:ext cx="3493008" cy="2286000"/>
          </a:xfrm>
          <a:prstGeom prst="rect">
            <a:avLst/>
          </a:prstGeom>
          <a:solidFill>
            <a:srgbClr val="F4F4F4"/>
          </a:solidFill>
          <a:ln w="12700">
            <a:solidFill>
              <a:srgbClr val="F4F4F4"/>
            </a:solidFill>
            <a:prstDash val="solid"/>
          </a:ln>
        </p:spPr>
      </p:sp>
      <p:sp>
        <p:nvSpPr>
          <p:cNvPr id="9" name="msg-square"/>
          <p:cNvSpPr/>
          <p:nvPr/>
        </p:nvSpPr>
        <p:spPr>
          <a:xfrm>
            <a:off x="4681728" y="1901952"/>
            <a:ext cx="155448" cy="155448"/>
          </a:xfrm>
          <a:prstGeom prst="rect">
            <a:avLst/>
          </a:prstGeom>
          <a:solidFill>
            <a:srgbClr val="F1C21B"/>
          </a:solidFill>
          <a:ln w="6350">
            <a:solidFill>
              <a:srgbClr val="F1C21B"/>
            </a:solidFill>
            <a:prstDash val="solid"/>
          </a:ln>
        </p:spPr>
      </p:sp>
      <p:sp>
        <p:nvSpPr>
          <p:cNvPr id="10" name="Text 8"/>
          <p:cNvSpPr txBox="1"/>
          <p:nvPr/>
        </p:nvSpPr>
        <p:spPr>
          <a:xfrm>
            <a:off x="4681728" y="2194560"/>
            <a:ext cx="2871216" cy="786384"/>
          </a:xfrm>
          <a:prstGeom prst="rect">
            <a:avLst/>
          </a:prstGeom>
          <a:noFill/>
          <a:ln/>
        </p:spPr>
        <p:txBody>
          <a:bodyPr wrap="square" lIns="0" tIns="0" rIns="0" bIns="0" rtlCol="0" anchor="ctr"/>
          <a:lstStyle/>
          <a:p>
            <a:pPr marL="0" indent="0">
              <a:buNone/>
            </a:pPr>
            <a:r>
              <a:rPr lang="en-US" sz="3400" b="1" kern="0" spc="-100" dirty="0">
                <a:solidFill>
                  <a:srgbClr val="161616"/>
                </a:solidFill>
              </a:rPr>
              <a:t>3600 / 4000</a:t>
            </a:r>
            <a:endParaRPr lang="en-US" sz="3400" dirty="0"/>
          </a:p>
        </p:txBody>
      </p:sp>
      <p:sp>
        <p:nvSpPr>
          <p:cNvPr id="11" name="Text 9"/>
          <p:cNvSpPr txBox="1"/>
          <p:nvPr/>
        </p:nvSpPr>
        <p:spPr>
          <a:xfrm>
            <a:off x="4681728" y="3035808"/>
            <a:ext cx="2871216" cy="310896"/>
          </a:xfrm>
          <a:prstGeom prst="rect">
            <a:avLst/>
          </a:prstGeom>
          <a:noFill/>
          <a:ln/>
        </p:spPr>
        <p:txBody>
          <a:bodyPr wrap="square" lIns="0" tIns="0" rIns="0" bIns="0" rtlCol="0" anchor="ctr"/>
          <a:lstStyle/>
          <a:p>
            <a:pPr marL="0" indent="0">
              <a:buNone/>
            </a:pPr>
            <a:r>
              <a:rPr lang="en-US" sz="1300" b="1" dirty="0">
                <a:solidFill>
                  <a:srgbClr val="161616"/>
                </a:solidFill>
              </a:rPr>
              <a:t>ACME.COMMERCE.QUEUE</a:t>
            </a:r>
            <a:endParaRPr lang="en-US" sz="1300" dirty="0"/>
          </a:p>
        </p:txBody>
      </p:sp>
      <p:sp>
        <p:nvSpPr>
          <p:cNvPr id="12" name="Text 10"/>
          <p:cNvSpPr txBox="1"/>
          <p:nvPr/>
        </p:nvSpPr>
        <p:spPr>
          <a:xfrm>
            <a:off x="4681728" y="3355848"/>
            <a:ext cx="2871216" cy="310896"/>
          </a:xfrm>
          <a:prstGeom prst="rect">
            <a:avLst/>
          </a:prstGeom>
          <a:noFill/>
          <a:ln/>
        </p:spPr>
        <p:txBody>
          <a:bodyPr wrap="square" lIns="0" tIns="0" rIns="0" bIns="0" rtlCol="0" anchor="ctr"/>
          <a:lstStyle/>
          <a:p>
            <a:pPr marL="0" indent="0">
              <a:buNone/>
            </a:pPr>
            <a:r>
              <a:rPr lang="en-US" sz="1200" dirty="0">
                <a:solidFill>
                  <a:srgbClr val="6F6F6F"/>
                </a:solidFill>
              </a:rPr>
              <a:t>last put: a week ago</a:t>
            </a:r>
            <a:endParaRPr lang="en-US" sz="1200" dirty="0"/>
          </a:p>
        </p:txBody>
      </p:sp>
      <p:sp>
        <p:nvSpPr>
          <p:cNvPr id="13" name="stat-card"/>
          <p:cNvSpPr/>
          <p:nvPr/>
        </p:nvSpPr>
        <p:spPr>
          <a:xfrm>
            <a:off x="8174736" y="1572768"/>
            <a:ext cx="3493008" cy="2286000"/>
          </a:xfrm>
          <a:prstGeom prst="rect">
            <a:avLst/>
          </a:prstGeom>
          <a:solidFill>
            <a:srgbClr val="F4F4F4"/>
          </a:solidFill>
          <a:ln w="12700">
            <a:solidFill>
              <a:srgbClr val="F4F4F4"/>
            </a:solidFill>
            <a:prstDash val="solid"/>
          </a:ln>
        </p:spPr>
      </p:sp>
      <p:sp>
        <p:nvSpPr>
          <p:cNvPr id="14" name="msg-square"/>
          <p:cNvSpPr/>
          <p:nvPr/>
        </p:nvSpPr>
        <p:spPr>
          <a:xfrm>
            <a:off x="8485632" y="1901952"/>
            <a:ext cx="155448" cy="155448"/>
          </a:xfrm>
          <a:prstGeom prst="rect">
            <a:avLst/>
          </a:prstGeom>
          <a:solidFill>
            <a:srgbClr val="DA1E28"/>
          </a:solidFill>
          <a:ln w="6350">
            <a:solidFill>
              <a:srgbClr val="DA1E28"/>
            </a:solidFill>
            <a:prstDash val="solid"/>
          </a:ln>
        </p:spPr>
      </p:sp>
      <p:sp>
        <p:nvSpPr>
          <p:cNvPr id="15" name="Text 13"/>
          <p:cNvSpPr txBox="1"/>
          <p:nvPr/>
        </p:nvSpPr>
        <p:spPr>
          <a:xfrm>
            <a:off x="8485632" y="2194560"/>
            <a:ext cx="2871216" cy="786384"/>
          </a:xfrm>
          <a:prstGeom prst="rect">
            <a:avLst/>
          </a:prstGeom>
          <a:noFill/>
          <a:ln/>
        </p:spPr>
        <p:txBody>
          <a:bodyPr wrap="square" lIns="0" tIns="0" rIns="0" bIns="0" rtlCol="0" anchor="ctr"/>
          <a:lstStyle/>
          <a:p>
            <a:pPr marL="0" indent="0">
              <a:buNone/>
            </a:pPr>
            <a:r>
              <a:rPr lang="en-US" sz="3400" b="1" kern="0" spc="-100" dirty="0">
                <a:solidFill>
                  <a:srgbClr val="161616"/>
                </a:solidFill>
              </a:rPr>
              <a:t>NONE</a:t>
            </a:r>
            <a:endParaRPr lang="en-US" sz="3400" dirty="0"/>
          </a:p>
        </p:txBody>
      </p:sp>
      <p:sp>
        <p:nvSpPr>
          <p:cNvPr id="16" name="Text 14"/>
          <p:cNvSpPr txBox="1"/>
          <p:nvPr/>
        </p:nvSpPr>
        <p:spPr>
          <a:xfrm>
            <a:off x="8485632" y="3035808"/>
            <a:ext cx="2871216" cy="310896"/>
          </a:xfrm>
          <a:prstGeom prst="rect">
            <a:avLst/>
          </a:prstGeom>
          <a:noFill/>
          <a:ln/>
        </p:spPr>
        <p:txBody>
          <a:bodyPr wrap="square" lIns="0" tIns="0" rIns="0" bIns="0" rtlCol="0" anchor="ctr"/>
          <a:lstStyle/>
          <a:p>
            <a:pPr marL="0" indent="0">
              <a:buNone/>
            </a:pPr>
            <a:r>
              <a:rPr lang="en-US" sz="1300" b="1" dirty="0">
                <a:solidFill>
                  <a:srgbClr val="161616"/>
                </a:solidFill>
              </a:rPr>
              <a:t>Connected user applications</a:t>
            </a:r>
            <a:endParaRPr lang="en-US" sz="1300" dirty="0"/>
          </a:p>
        </p:txBody>
      </p:sp>
      <p:sp>
        <p:nvSpPr>
          <p:cNvPr id="17" name="Text 15"/>
          <p:cNvSpPr txBox="1"/>
          <p:nvPr/>
        </p:nvSpPr>
        <p:spPr>
          <a:xfrm>
            <a:off x="8485632" y="3355848"/>
            <a:ext cx="2871216" cy="310896"/>
          </a:xfrm>
          <a:prstGeom prst="rect">
            <a:avLst/>
          </a:prstGeom>
          <a:noFill/>
          <a:ln/>
        </p:spPr>
        <p:txBody>
          <a:bodyPr wrap="square" lIns="0" tIns="0" rIns="0" bIns="0" rtlCol="0" anchor="ctr"/>
          <a:lstStyle/>
          <a:p>
            <a:pPr marL="0" indent="0">
              <a:buNone/>
            </a:pPr>
            <a:r>
              <a:rPr lang="en-US" sz="1200" dirty="0">
                <a:solidFill>
                  <a:srgbClr val="6F6F6F"/>
                </a:solidFill>
              </a:rPr>
              <a:t>nothing is draining either queue</a:t>
            </a:r>
            <a:endParaRPr lang="en-US" sz="1200" dirty="0"/>
          </a:p>
        </p:txBody>
      </p:sp>
      <p:sp>
        <p:nvSpPr>
          <p:cNvPr id="18" name="point"/>
          <p:cNvSpPr/>
          <p:nvPr/>
        </p:nvSpPr>
        <p:spPr>
          <a:xfrm>
            <a:off x="566928" y="4187952"/>
            <a:ext cx="11027664" cy="1298448"/>
          </a:xfrm>
          <a:prstGeom prst="rect">
            <a:avLst/>
          </a:prstGeom>
          <a:solidFill>
            <a:srgbClr val="EDF5FF"/>
          </a:solidFill>
          <a:ln w="12700">
            <a:solidFill>
              <a:srgbClr val="EDF5FF"/>
            </a:solidFill>
            <a:prstDash val="solid"/>
          </a:ln>
        </p:spPr>
      </p:sp>
      <p:sp>
        <p:nvSpPr>
          <p:cNvPr id="19" name="Text 17"/>
          <p:cNvSpPr txBox="1"/>
          <p:nvPr/>
        </p:nvSpPr>
        <p:spPr>
          <a:xfrm>
            <a:off x="950976" y="4425696"/>
            <a:ext cx="10241280" cy="411480"/>
          </a:xfrm>
          <a:prstGeom prst="rect">
            <a:avLst/>
          </a:prstGeom>
          <a:noFill/>
          <a:ln/>
        </p:spPr>
        <p:txBody>
          <a:bodyPr wrap="square" lIns="0" tIns="0" rIns="0" bIns="0" rtlCol="0" anchor="ctr"/>
          <a:lstStyle/>
          <a:p>
            <a:pPr marL="0" indent="0">
              <a:buNone/>
            </a:pPr>
            <a:r>
              <a:rPr lang="en-US" sz="2200" b="1" dirty="0">
                <a:solidFill>
                  <a:srgbClr val="0043CE"/>
                </a:solidFill>
              </a:rPr>
              <a:t>IBM MQ already knew all of this.</a:t>
            </a:r>
            <a:endParaRPr lang="en-US" sz="2200" dirty="0"/>
          </a:p>
        </p:txBody>
      </p:sp>
      <p:sp>
        <p:nvSpPr>
          <p:cNvPr id="20" name="Text 18"/>
          <p:cNvSpPr txBox="1"/>
          <p:nvPr/>
        </p:nvSpPr>
        <p:spPr>
          <a:xfrm>
            <a:off x="950976" y="4846320"/>
            <a:ext cx="10241280" cy="502920"/>
          </a:xfrm>
          <a:prstGeom prst="rect">
            <a:avLst/>
          </a:prstGeom>
          <a:noFill/>
          <a:ln/>
        </p:spPr>
        <p:txBody>
          <a:bodyPr wrap="square" lIns="0" tIns="0" rIns="0" bIns="0" rtlCol="0" anchor="ctr"/>
          <a:lstStyle/>
          <a:p>
            <a:pPr marL="0" indent="0">
              <a:lnSpc>
                <a:spcPts val="1900"/>
              </a:lnSpc>
              <a:buNone/>
            </a:pPr>
            <a:r>
              <a:rPr lang="en-US" sz="1400" dirty="0">
                <a:solidFill>
                  <a:srgbClr val="21272A"/>
                </a:solidFill>
              </a:rPr>
              <a:t>Every number on this slide came off the QMS1 dashboard. The gap is not visibility — it is that nothing turns what MQ already reports into something a person is handed.</a:t>
            </a:r>
            <a:endParaRPr lang="en-US" sz="1400" dirty="0"/>
          </a:p>
        </p:txBody>
      </p:sp>
      <p:sp>
        <p:nvSpPr>
          <p:cNvPr id="21" name="Text 19"/>
          <p:cNvSpPr txBox="1"/>
          <p:nvPr/>
        </p:nvSpPr>
        <p:spPr>
          <a:xfrm>
            <a:off x="566928" y="5724144"/>
            <a:ext cx="8229600" cy="274320"/>
          </a:xfrm>
          <a:prstGeom prst="rect">
            <a:avLst/>
          </a:prstGeom>
          <a:noFill/>
          <a:ln/>
        </p:spPr>
        <p:txBody>
          <a:bodyPr wrap="square" lIns="0" tIns="0" rIns="0" bIns="0" rtlCol="0" anchor="ctr"/>
          <a:lstStyle/>
          <a:p>
            <a:pPr marL="0" indent="0">
              <a:buNone/>
            </a:pPr>
            <a:r>
              <a:rPr lang="en-US" sz="1000" dirty="0">
                <a:solidFill>
                  <a:srgbClr val="A8A8A8"/>
                </a:solidFill>
              </a:rPr>
              <a:t>Source: IBM MQ Console, queue manager QMS1, 9 October 2026, 12:30 AM</a:t>
            </a:r>
            <a:endParaRPr lang="en-US" sz="1000" dirty="0"/>
          </a:p>
        </p:txBody>
      </p:sp>
      <p:sp>
        <p:nvSpPr>
          <p:cNvPr id="25" name="Slide Number Placeholder 0"/>
          <p:cNvSpPr>
            <a:spLocks noGrp="1"/>
          </p:cNvSpPr>
          <p:nvPr>
            <p:ph type="sldNum" sz="quarter" idx="4294967295"/>
          </p:nvPr>
        </p:nvSpPr>
        <p:spPr>
          <a:xfrm>
            <a:off x="11430000" y="6364224"/>
            <a:ext cx="365760"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A8A8A8"/>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66928" y="384048"/>
            <a:ext cx="10424160" cy="713232"/>
          </a:xfrm>
          <a:prstGeom prst="rect">
            <a:avLst/>
          </a:prstGeom>
          <a:noFill/>
          <a:ln/>
        </p:spPr>
        <p:txBody>
          <a:bodyPr wrap="square" rtlCol="0" anchor="t"/>
          <a:lstStyle/>
          <a:p>
            <a:pPr marL="0" indent="0" algn="l">
              <a:buNone/>
            </a:pPr>
            <a:r>
              <a:rPr lang="en-US" sz="3200" b="1" kern="0" spc="-40" dirty="0">
                <a:solidFill>
                  <a:srgbClr val="161616"/>
                </a:solidFill>
              </a:rPr>
              <a:t>Five stages, one instruction</a:t>
            </a:r>
            <a:endParaRPr lang="en-US" sz="3200" dirty="0"/>
          </a:p>
        </p:txBody>
      </p:sp>
      <p:sp>
        <p:nvSpPr>
          <p:cNvPr id="3" name="step"/>
          <p:cNvSpPr/>
          <p:nvPr/>
        </p:nvSpPr>
        <p:spPr>
          <a:xfrm>
            <a:off x="566928" y="1627632"/>
            <a:ext cx="2066544" cy="2395728"/>
          </a:xfrm>
          <a:prstGeom prst="rect">
            <a:avLst/>
          </a:prstGeom>
          <a:solidFill>
            <a:srgbClr val="F4F4F4"/>
          </a:solidFill>
          <a:ln w="12700">
            <a:solidFill>
              <a:srgbClr val="F4F4F4"/>
            </a:solidFill>
            <a:prstDash val="solid"/>
          </a:ln>
        </p:spPr>
      </p:sp>
      <p:sp>
        <p:nvSpPr>
          <p:cNvPr id="4" name="Text 2"/>
          <p:cNvSpPr txBox="1"/>
          <p:nvPr/>
        </p:nvSpPr>
        <p:spPr>
          <a:xfrm>
            <a:off x="804672" y="1865376"/>
            <a:ext cx="914400" cy="274320"/>
          </a:xfrm>
          <a:prstGeom prst="rect">
            <a:avLst/>
          </a:prstGeom>
          <a:noFill/>
          <a:ln/>
        </p:spPr>
        <p:txBody>
          <a:bodyPr wrap="square" lIns="0" tIns="0" rIns="0" bIns="0" rtlCol="0" anchor="ctr"/>
          <a:lstStyle/>
          <a:p>
            <a:pPr marL="0" indent="0">
              <a:buNone/>
            </a:pPr>
            <a:r>
              <a:rPr lang="en-US" sz="1200" b="1" kern="0" spc="100" dirty="0">
                <a:solidFill>
                  <a:srgbClr val="6F6F6F"/>
                </a:solidFill>
                <a:latin typeface="Courier New" pitchFamily="34" charset="0"/>
                <a:ea typeface="Courier New" pitchFamily="34" charset="-122"/>
                <a:cs typeface="Courier New" pitchFamily="34" charset="-120"/>
              </a:rPr>
              <a:t>01</a:t>
            </a:r>
            <a:endParaRPr lang="en-US" sz="1200" dirty="0"/>
          </a:p>
        </p:txBody>
      </p:sp>
      <p:sp>
        <p:nvSpPr>
          <p:cNvPr id="5" name="chip"/>
          <p:cNvSpPr/>
          <p:nvPr/>
        </p:nvSpPr>
        <p:spPr>
          <a:xfrm>
            <a:off x="1792224" y="1847088"/>
            <a:ext cx="603504" cy="237744"/>
          </a:xfrm>
          <a:prstGeom prst="rect">
            <a:avLst/>
          </a:prstGeom>
          <a:solidFill>
            <a:srgbClr val="6F6F6F"/>
          </a:solidFill>
          <a:ln w="12700">
            <a:solidFill>
              <a:srgbClr val="6F6F6F"/>
            </a:solidFill>
            <a:prstDash val="solid"/>
          </a:ln>
        </p:spPr>
      </p:sp>
      <p:sp>
        <p:nvSpPr>
          <p:cNvPr id="6" name="Text 4"/>
          <p:cNvSpPr txBox="1"/>
          <p:nvPr/>
        </p:nvSpPr>
        <p:spPr>
          <a:xfrm>
            <a:off x="1792224" y="1847088"/>
            <a:ext cx="603504" cy="237744"/>
          </a:xfrm>
          <a:prstGeom prst="rect">
            <a:avLst/>
          </a:prstGeom>
          <a:noFill/>
          <a:ln/>
        </p:spPr>
        <p:txBody>
          <a:bodyPr wrap="square" lIns="0" tIns="0" rIns="0" bIns="0" rtlCol="0" anchor="ctr"/>
          <a:lstStyle/>
          <a:p>
            <a:pPr marL="0" indent="0" algn="ctr">
              <a:buNone/>
            </a:pPr>
            <a:r>
              <a:rPr lang="en-US" sz="800" b="1" kern="0" spc="80" dirty="0">
                <a:solidFill>
                  <a:srgbClr val="FFFFFF"/>
                </a:solidFill>
              </a:rPr>
              <a:t>lab</a:t>
            </a:r>
            <a:endParaRPr lang="en-US" sz="800" dirty="0"/>
          </a:p>
        </p:txBody>
      </p:sp>
      <p:sp>
        <p:nvSpPr>
          <p:cNvPr id="7" name="Text 5"/>
          <p:cNvSpPr txBox="1"/>
          <p:nvPr/>
        </p:nvSpPr>
        <p:spPr>
          <a:xfrm>
            <a:off x="804672" y="2286000"/>
            <a:ext cx="1591056" cy="402336"/>
          </a:xfrm>
          <a:prstGeom prst="rect">
            <a:avLst/>
          </a:prstGeom>
          <a:noFill/>
          <a:ln/>
        </p:spPr>
        <p:txBody>
          <a:bodyPr wrap="square" lIns="0" tIns="0" rIns="0" bIns="0" rtlCol="0" anchor="ctr"/>
          <a:lstStyle/>
          <a:p>
            <a:pPr marL="0" indent="0">
              <a:buNone/>
            </a:pPr>
            <a:r>
              <a:rPr lang="en-US" sz="2000" b="1" dirty="0">
                <a:solidFill>
                  <a:srgbClr val="161616"/>
                </a:solidFill>
              </a:rPr>
              <a:t>Break</a:t>
            </a:r>
            <a:endParaRPr lang="en-US" sz="2000" dirty="0"/>
          </a:p>
        </p:txBody>
      </p:sp>
      <p:sp>
        <p:nvSpPr>
          <p:cNvPr id="8" name="Text 6"/>
          <p:cNvSpPr txBox="1"/>
          <p:nvPr/>
        </p:nvSpPr>
        <p:spPr>
          <a:xfrm>
            <a:off x="804672" y="2779776"/>
            <a:ext cx="1591056" cy="1005840"/>
          </a:xfrm>
          <a:prstGeom prst="rect">
            <a:avLst/>
          </a:prstGeom>
          <a:noFill/>
          <a:ln/>
        </p:spPr>
        <p:txBody>
          <a:bodyPr wrap="square" lIns="0" tIns="0" rIns="0" bIns="0" rtlCol="0" anchor="t"/>
          <a:lstStyle/>
          <a:p>
            <a:pPr marL="0" indent="0">
              <a:lnSpc>
                <a:spcPts val="1700"/>
              </a:lnSpc>
              <a:buNone/>
            </a:pPr>
            <a:r>
              <a:rPr lang="en-US" sz="1200" dirty="0">
                <a:solidFill>
                  <a:srgbClr val="393939"/>
                </a:solidFill>
              </a:rPr>
              <a:t>Create QMS1, load the queue, set GET(DISABLED)</a:t>
            </a:r>
            <a:endParaRPr lang="en-US" sz="1200" dirty="0"/>
          </a:p>
        </p:txBody>
      </p:sp>
      <p:sp>
        <p:nvSpPr>
          <p:cNvPr id="9" name="arrow"/>
          <p:cNvSpPr/>
          <p:nvPr/>
        </p:nvSpPr>
        <p:spPr>
          <a:xfrm>
            <a:off x="2660904" y="2825496"/>
            <a:ext cx="146304" cy="0"/>
          </a:xfrm>
          <a:prstGeom prst="line">
            <a:avLst/>
          </a:prstGeom>
          <a:noFill/>
          <a:ln w="22225">
            <a:solidFill>
              <a:srgbClr val="8D8D8D"/>
            </a:solidFill>
            <a:prstDash val="solid"/>
            <a:tailEnd type="triangle"/>
          </a:ln>
        </p:spPr>
      </p:sp>
      <p:sp>
        <p:nvSpPr>
          <p:cNvPr id="10" name="step"/>
          <p:cNvSpPr/>
          <p:nvPr/>
        </p:nvSpPr>
        <p:spPr>
          <a:xfrm>
            <a:off x="2834640" y="1627632"/>
            <a:ext cx="2066544" cy="2395728"/>
          </a:xfrm>
          <a:prstGeom prst="rect">
            <a:avLst/>
          </a:prstGeom>
          <a:solidFill>
            <a:srgbClr val="F4F4F4"/>
          </a:solidFill>
          <a:ln w="12700">
            <a:solidFill>
              <a:srgbClr val="F4F4F4"/>
            </a:solidFill>
            <a:prstDash val="solid"/>
          </a:ln>
        </p:spPr>
      </p:sp>
      <p:sp>
        <p:nvSpPr>
          <p:cNvPr id="11" name="Text 9"/>
          <p:cNvSpPr txBox="1"/>
          <p:nvPr/>
        </p:nvSpPr>
        <p:spPr>
          <a:xfrm>
            <a:off x="3072384" y="1865376"/>
            <a:ext cx="914400" cy="274320"/>
          </a:xfrm>
          <a:prstGeom prst="rect">
            <a:avLst/>
          </a:prstGeom>
          <a:noFill/>
          <a:ln/>
        </p:spPr>
        <p:txBody>
          <a:bodyPr wrap="square" lIns="0" tIns="0" rIns="0" bIns="0" rtlCol="0" anchor="ctr"/>
          <a:lstStyle/>
          <a:p>
            <a:pPr marL="0" indent="0">
              <a:buNone/>
            </a:pPr>
            <a:r>
              <a:rPr lang="en-US" sz="1200" b="1" kern="0" spc="100" dirty="0">
                <a:solidFill>
                  <a:srgbClr val="0F62FE"/>
                </a:solidFill>
                <a:latin typeface="Courier New" pitchFamily="34" charset="0"/>
                <a:ea typeface="Courier New" pitchFamily="34" charset="-122"/>
                <a:cs typeface="Courier New" pitchFamily="34" charset="-120"/>
              </a:rPr>
              <a:t>02</a:t>
            </a:r>
            <a:endParaRPr lang="en-US" sz="1200" dirty="0"/>
          </a:p>
        </p:txBody>
      </p:sp>
      <p:sp>
        <p:nvSpPr>
          <p:cNvPr id="12" name="chip"/>
          <p:cNvSpPr/>
          <p:nvPr/>
        </p:nvSpPr>
        <p:spPr>
          <a:xfrm>
            <a:off x="4059936" y="1847088"/>
            <a:ext cx="603504" cy="237744"/>
          </a:xfrm>
          <a:prstGeom prst="rect">
            <a:avLst/>
          </a:prstGeom>
          <a:solidFill>
            <a:srgbClr val="0F62FE"/>
          </a:solidFill>
          <a:ln w="12700">
            <a:solidFill>
              <a:srgbClr val="0F62FE"/>
            </a:solidFill>
            <a:prstDash val="solid"/>
          </a:ln>
        </p:spPr>
      </p:sp>
      <p:sp>
        <p:nvSpPr>
          <p:cNvPr id="13" name="Text 11"/>
          <p:cNvSpPr txBox="1"/>
          <p:nvPr/>
        </p:nvSpPr>
        <p:spPr>
          <a:xfrm>
            <a:off x="4059936" y="1847088"/>
            <a:ext cx="603504" cy="237744"/>
          </a:xfrm>
          <a:prstGeom prst="rect">
            <a:avLst/>
          </a:prstGeom>
          <a:noFill/>
          <a:ln/>
        </p:spPr>
        <p:txBody>
          <a:bodyPr wrap="square" lIns="0" tIns="0" rIns="0" bIns="0" rtlCol="0" anchor="ctr"/>
          <a:lstStyle/>
          <a:p>
            <a:pPr marL="0" indent="0" algn="ctr">
              <a:buNone/>
            </a:pPr>
            <a:r>
              <a:rPr lang="en-US" sz="800" b="1" kern="0" spc="80" dirty="0">
                <a:solidFill>
                  <a:srgbClr val="FFFFFF"/>
                </a:solidFill>
              </a:rPr>
              <a:t>ours</a:t>
            </a:r>
            <a:endParaRPr lang="en-US" sz="800" dirty="0"/>
          </a:p>
        </p:txBody>
      </p:sp>
      <p:sp>
        <p:nvSpPr>
          <p:cNvPr id="14" name="Text 12"/>
          <p:cNvSpPr txBox="1"/>
          <p:nvPr/>
        </p:nvSpPr>
        <p:spPr>
          <a:xfrm>
            <a:off x="3072384" y="2286000"/>
            <a:ext cx="1591056" cy="402336"/>
          </a:xfrm>
          <a:prstGeom prst="rect">
            <a:avLst/>
          </a:prstGeom>
          <a:noFill/>
          <a:ln/>
        </p:spPr>
        <p:txBody>
          <a:bodyPr wrap="square" lIns="0" tIns="0" rIns="0" bIns="0" rtlCol="0" anchor="ctr"/>
          <a:lstStyle/>
          <a:p>
            <a:pPr marL="0" indent="0">
              <a:buNone/>
            </a:pPr>
            <a:r>
              <a:rPr lang="en-US" sz="2000" b="1" dirty="0">
                <a:solidFill>
                  <a:srgbClr val="161616"/>
                </a:solidFill>
              </a:rPr>
              <a:t>Detect</a:t>
            </a:r>
            <a:endParaRPr lang="en-US" sz="2000" dirty="0"/>
          </a:p>
        </p:txBody>
      </p:sp>
      <p:sp>
        <p:nvSpPr>
          <p:cNvPr id="15" name="Text 13"/>
          <p:cNvSpPr txBox="1"/>
          <p:nvPr/>
        </p:nvSpPr>
        <p:spPr>
          <a:xfrm>
            <a:off x="3072384" y="2779776"/>
            <a:ext cx="1591056" cy="1005840"/>
          </a:xfrm>
          <a:prstGeom prst="rect">
            <a:avLst/>
          </a:prstGeom>
          <a:noFill/>
          <a:ln/>
        </p:spPr>
        <p:txBody>
          <a:bodyPr wrap="square" lIns="0" tIns="0" rIns="0" bIns="0" rtlCol="0" anchor="t"/>
          <a:lstStyle/>
          <a:p>
            <a:pPr marL="0" indent="0">
              <a:lnSpc>
                <a:spcPts val="1700"/>
              </a:lnSpc>
              <a:buNone/>
            </a:pPr>
            <a:r>
              <a:rPr lang="en-US" sz="1200" dirty="0">
                <a:solidFill>
                  <a:srgbClr val="393939"/>
                </a:solidFill>
              </a:rPr>
              <a:t>Sweep every queue for depth with no reader</a:t>
            </a:r>
            <a:endParaRPr lang="en-US" sz="1200" dirty="0"/>
          </a:p>
        </p:txBody>
      </p:sp>
      <p:sp>
        <p:nvSpPr>
          <p:cNvPr id="16" name="arrow"/>
          <p:cNvSpPr/>
          <p:nvPr/>
        </p:nvSpPr>
        <p:spPr>
          <a:xfrm>
            <a:off x="4928616" y="2825496"/>
            <a:ext cx="146304" cy="0"/>
          </a:xfrm>
          <a:prstGeom prst="line">
            <a:avLst/>
          </a:prstGeom>
          <a:noFill/>
          <a:ln w="22225">
            <a:solidFill>
              <a:srgbClr val="8D8D8D"/>
            </a:solidFill>
            <a:prstDash val="solid"/>
            <a:tailEnd type="triangle"/>
          </a:ln>
        </p:spPr>
      </p:sp>
      <p:sp>
        <p:nvSpPr>
          <p:cNvPr id="17" name="step"/>
          <p:cNvSpPr/>
          <p:nvPr/>
        </p:nvSpPr>
        <p:spPr>
          <a:xfrm>
            <a:off x="5102352" y="1627632"/>
            <a:ext cx="2066544" cy="2395728"/>
          </a:xfrm>
          <a:prstGeom prst="rect">
            <a:avLst/>
          </a:prstGeom>
          <a:solidFill>
            <a:srgbClr val="F4F4F4"/>
          </a:solidFill>
          <a:ln w="12700">
            <a:solidFill>
              <a:srgbClr val="F4F4F4"/>
            </a:solidFill>
            <a:prstDash val="solid"/>
          </a:ln>
        </p:spPr>
      </p:sp>
      <p:sp>
        <p:nvSpPr>
          <p:cNvPr id="18" name="Text 16"/>
          <p:cNvSpPr txBox="1"/>
          <p:nvPr/>
        </p:nvSpPr>
        <p:spPr>
          <a:xfrm>
            <a:off x="5340096" y="1865376"/>
            <a:ext cx="914400" cy="274320"/>
          </a:xfrm>
          <a:prstGeom prst="rect">
            <a:avLst/>
          </a:prstGeom>
          <a:noFill/>
          <a:ln/>
        </p:spPr>
        <p:txBody>
          <a:bodyPr wrap="square" lIns="0" tIns="0" rIns="0" bIns="0" rtlCol="0" anchor="ctr"/>
          <a:lstStyle/>
          <a:p>
            <a:pPr marL="0" indent="0">
              <a:buNone/>
            </a:pPr>
            <a:r>
              <a:rPr lang="en-US" sz="1200" b="1" kern="0" spc="100" dirty="0">
                <a:solidFill>
                  <a:srgbClr val="0F62FE"/>
                </a:solidFill>
                <a:latin typeface="Courier New" pitchFamily="34" charset="0"/>
                <a:ea typeface="Courier New" pitchFamily="34" charset="-122"/>
                <a:cs typeface="Courier New" pitchFamily="34" charset="-120"/>
              </a:rPr>
              <a:t>03</a:t>
            </a:r>
            <a:endParaRPr lang="en-US" sz="1200" dirty="0"/>
          </a:p>
        </p:txBody>
      </p:sp>
      <p:sp>
        <p:nvSpPr>
          <p:cNvPr id="19" name="chip"/>
          <p:cNvSpPr/>
          <p:nvPr/>
        </p:nvSpPr>
        <p:spPr>
          <a:xfrm>
            <a:off x="6327648" y="1847088"/>
            <a:ext cx="603504" cy="237744"/>
          </a:xfrm>
          <a:prstGeom prst="rect">
            <a:avLst/>
          </a:prstGeom>
          <a:solidFill>
            <a:srgbClr val="0F62FE"/>
          </a:solidFill>
          <a:ln w="12700">
            <a:solidFill>
              <a:srgbClr val="0F62FE"/>
            </a:solidFill>
            <a:prstDash val="solid"/>
          </a:ln>
        </p:spPr>
      </p:sp>
      <p:sp>
        <p:nvSpPr>
          <p:cNvPr id="20" name="Text 18"/>
          <p:cNvSpPr txBox="1"/>
          <p:nvPr/>
        </p:nvSpPr>
        <p:spPr>
          <a:xfrm>
            <a:off x="6327648" y="1847088"/>
            <a:ext cx="603504" cy="237744"/>
          </a:xfrm>
          <a:prstGeom prst="rect">
            <a:avLst/>
          </a:prstGeom>
          <a:noFill/>
          <a:ln/>
        </p:spPr>
        <p:txBody>
          <a:bodyPr wrap="square" lIns="0" tIns="0" rIns="0" bIns="0" rtlCol="0" anchor="ctr"/>
          <a:lstStyle/>
          <a:p>
            <a:pPr marL="0" indent="0" algn="ctr">
              <a:buNone/>
            </a:pPr>
            <a:r>
              <a:rPr lang="en-US" sz="800" b="1" kern="0" spc="80" dirty="0">
                <a:solidFill>
                  <a:srgbClr val="FFFFFF"/>
                </a:solidFill>
              </a:rPr>
              <a:t>ours</a:t>
            </a:r>
            <a:endParaRPr lang="en-US" sz="800" dirty="0"/>
          </a:p>
        </p:txBody>
      </p:sp>
      <p:sp>
        <p:nvSpPr>
          <p:cNvPr id="21" name="Text 19"/>
          <p:cNvSpPr txBox="1"/>
          <p:nvPr/>
        </p:nvSpPr>
        <p:spPr>
          <a:xfrm>
            <a:off x="5340096" y="2286000"/>
            <a:ext cx="1591056" cy="402336"/>
          </a:xfrm>
          <a:prstGeom prst="rect">
            <a:avLst/>
          </a:prstGeom>
          <a:noFill/>
          <a:ln/>
        </p:spPr>
        <p:txBody>
          <a:bodyPr wrap="square" lIns="0" tIns="0" rIns="0" bIns="0" rtlCol="0" anchor="ctr"/>
          <a:lstStyle/>
          <a:p>
            <a:pPr marL="0" indent="0">
              <a:buNone/>
            </a:pPr>
            <a:r>
              <a:rPr lang="en-US" sz="2000" b="1" dirty="0">
                <a:solidFill>
                  <a:srgbClr val="161616"/>
                </a:solidFill>
              </a:rPr>
              <a:t>Ticket</a:t>
            </a:r>
            <a:endParaRPr lang="en-US" sz="2000" dirty="0"/>
          </a:p>
        </p:txBody>
      </p:sp>
      <p:sp>
        <p:nvSpPr>
          <p:cNvPr id="22" name="Text 20"/>
          <p:cNvSpPr txBox="1"/>
          <p:nvPr/>
        </p:nvSpPr>
        <p:spPr>
          <a:xfrm>
            <a:off x="5340096" y="2779776"/>
            <a:ext cx="1591056" cy="1005840"/>
          </a:xfrm>
          <a:prstGeom prst="rect">
            <a:avLst/>
          </a:prstGeom>
          <a:noFill/>
          <a:ln/>
        </p:spPr>
        <p:txBody>
          <a:bodyPr wrap="square" lIns="0" tIns="0" rIns="0" bIns="0" rtlCol="0" anchor="t"/>
          <a:lstStyle/>
          <a:p>
            <a:pPr marL="0" indent="0">
              <a:lnSpc>
                <a:spcPts val="1700"/>
              </a:lnSpc>
              <a:buNone/>
            </a:pPr>
            <a:r>
              <a:rPr lang="en-US" sz="1200" dirty="0">
                <a:solidFill>
                  <a:srgbClr val="393939"/>
                </a:solidFill>
              </a:rPr>
              <a:t>One ticket per stuck queue, with its MQ facts</a:t>
            </a:r>
            <a:endParaRPr lang="en-US" sz="1200" dirty="0"/>
          </a:p>
        </p:txBody>
      </p:sp>
      <p:sp>
        <p:nvSpPr>
          <p:cNvPr id="23" name="arrow"/>
          <p:cNvSpPr/>
          <p:nvPr/>
        </p:nvSpPr>
        <p:spPr>
          <a:xfrm>
            <a:off x="7196328" y="2825496"/>
            <a:ext cx="146304" cy="0"/>
          </a:xfrm>
          <a:prstGeom prst="line">
            <a:avLst/>
          </a:prstGeom>
          <a:noFill/>
          <a:ln w="22225">
            <a:solidFill>
              <a:srgbClr val="8D8D8D"/>
            </a:solidFill>
            <a:prstDash val="solid"/>
            <a:tailEnd type="triangle"/>
          </a:ln>
        </p:spPr>
      </p:sp>
      <p:sp>
        <p:nvSpPr>
          <p:cNvPr id="24" name="step"/>
          <p:cNvSpPr/>
          <p:nvPr/>
        </p:nvSpPr>
        <p:spPr>
          <a:xfrm>
            <a:off x="7370064" y="1627632"/>
            <a:ext cx="2066544" cy="2395728"/>
          </a:xfrm>
          <a:prstGeom prst="rect">
            <a:avLst/>
          </a:prstGeom>
          <a:solidFill>
            <a:srgbClr val="F4F4F4"/>
          </a:solidFill>
          <a:ln w="12700">
            <a:solidFill>
              <a:srgbClr val="F4F4F4"/>
            </a:solidFill>
            <a:prstDash val="solid"/>
          </a:ln>
        </p:spPr>
      </p:sp>
      <p:sp>
        <p:nvSpPr>
          <p:cNvPr id="25" name="Text 23"/>
          <p:cNvSpPr txBox="1"/>
          <p:nvPr/>
        </p:nvSpPr>
        <p:spPr>
          <a:xfrm>
            <a:off x="7607808" y="1865376"/>
            <a:ext cx="914400" cy="274320"/>
          </a:xfrm>
          <a:prstGeom prst="rect">
            <a:avLst/>
          </a:prstGeom>
          <a:noFill/>
          <a:ln/>
        </p:spPr>
        <p:txBody>
          <a:bodyPr wrap="square" lIns="0" tIns="0" rIns="0" bIns="0" rtlCol="0" anchor="ctr"/>
          <a:lstStyle/>
          <a:p>
            <a:pPr marL="0" indent="0">
              <a:buNone/>
            </a:pPr>
            <a:r>
              <a:rPr lang="en-US" sz="1200" b="1" kern="0" spc="100" dirty="0">
                <a:solidFill>
                  <a:srgbClr val="0F62FE"/>
                </a:solidFill>
                <a:latin typeface="Courier New" pitchFamily="34" charset="0"/>
                <a:ea typeface="Courier New" pitchFamily="34" charset="-122"/>
                <a:cs typeface="Courier New" pitchFamily="34" charset="-120"/>
              </a:rPr>
              <a:t>04</a:t>
            </a:r>
            <a:endParaRPr lang="en-US" sz="1200" dirty="0"/>
          </a:p>
        </p:txBody>
      </p:sp>
      <p:sp>
        <p:nvSpPr>
          <p:cNvPr id="26" name="chip"/>
          <p:cNvSpPr/>
          <p:nvPr/>
        </p:nvSpPr>
        <p:spPr>
          <a:xfrm>
            <a:off x="8595360" y="1847088"/>
            <a:ext cx="603504" cy="237744"/>
          </a:xfrm>
          <a:prstGeom prst="rect">
            <a:avLst/>
          </a:prstGeom>
          <a:solidFill>
            <a:srgbClr val="0F62FE"/>
          </a:solidFill>
          <a:ln w="12700">
            <a:solidFill>
              <a:srgbClr val="0F62FE"/>
            </a:solidFill>
            <a:prstDash val="solid"/>
          </a:ln>
        </p:spPr>
      </p:sp>
      <p:sp>
        <p:nvSpPr>
          <p:cNvPr id="27" name="Text 25"/>
          <p:cNvSpPr txBox="1"/>
          <p:nvPr/>
        </p:nvSpPr>
        <p:spPr>
          <a:xfrm>
            <a:off x="8595360" y="1847088"/>
            <a:ext cx="603504" cy="237744"/>
          </a:xfrm>
          <a:prstGeom prst="rect">
            <a:avLst/>
          </a:prstGeom>
          <a:noFill/>
          <a:ln/>
        </p:spPr>
        <p:txBody>
          <a:bodyPr wrap="square" lIns="0" tIns="0" rIns="0" bIns="0" rtlCol="0" anchor="ctr"/>
          <a:lstStyle/>
          <a:p>
            <a:pPr marL="0" indent="0" algn="ctr">
              <a:buNone/>
            </a:pPr>
            <a:r>
              <a:rPr lang="en-US" sz="800" b="1" kern="0" spc="80" dirty="0">
                <a:solidFill>
                  <a:srgbClr val="FFFFFF"/>
                </a:solidFill>
              </a:rPr>
              <a:t>ours</a:t>
            </a:r>
            <a:endParaRPr lang="en-US" sz="800" dirty="0"/>
          </a:p>
        </p:txBody>
      </p:sp>
      <p:sp>
        <p:nvSpPr>
          <p:cNvPr id="28" name="Text 26"/>
          <p:cNvSpPr txBox="1"/>
          <p:nvPr/>
        </p:nvSpPr>
        <p:spPr>
          <a:xfrm>
            <a:off x="7607808" y="2286000"/>
            <a:ext cx="1591056" cy="402336"/>
          </a:xfrm>
          <a:prstGeom prst="rect">
            <a:avLst/>
          </a:prstGeom>
          <a:noFill/>
          <a:ln/>
        </p:spPr>
        <p:txBody>
          <a:bodyPr wrap="square" lIns="0" tIns="0" rIns="0" bIns="0" rtlCol="0" anchor="ctr"/>
          <a:lstStyle/>
          <a:p>
            <a:pPr marL="0" indent="0">
              <a:buNone/>
            </a:pPr>
            <a:r>
              <a:rPr lang="en-US" sz="2000" b="1" dirty="0">
                <a:solidFill>
                  <a:srgbClr val="161616"/>
                </a:solidFill>
              </a:rPr>
              <a:t>Enhance</a:t>
            </a:r>
            <a:endParaRPr lang="en-US" sz="2000" dirty="0"/>
          </a:p>
        </p:txBody>
      </p:sp>
      <p:sp>
        <p:nvSpPr>
          <p:cNvPr id="29" name="Text 27"/>
          <p:cNvSpPr txBox="1"/>
          <p:nvPr/>
        </p:nvSpPr>
        <p:spPr>
          <a:xfrm>
            <a:off x="7607808" y="2779776"/>
            <a:ext cx="1591056" cy="1005840"/>
          </a:xfrm>
          <a:prstGeom prst="rect">
            <a:avLst/>
          </a:prstGeom>
          <a:noFill/>
          <a:ln/>
        </p:spPr>
        <p:txBody>
          <a:bodyPr wrap="square" lIns="0" tIns="0" rIns="0" bIns="0" rtlCol="0" anchor="t"/>
          <a:lstStyle/>
          <a:p>
            <a:pPr marL="0" indent="0">
              <a:lnSpc>
                <a:spcPts val="1700"/>
              </a:lnSpc>
              <a:buNone/>
            </a:pPr>
            <a:r>
              <a:rPr lang="en-US" sz="1200" dirty="0">
                <a:solidFill>
                  <a:srgbClr val="393939"/>
                </a:solidFill>
              </a:rPr>
              <a:t>Add the instruction that makes it answerable</a:t>
            </a:r>
            <a:endParaRPr lang="en-US" sz="1200" dirty="0"/>
          </a:p>
        </p:txBody>
      </p:sp>
      <p:sp>
        <p:nvSpPr>
          <p:cNvPr id="30" name="arrow"/>
          <p:cNvSpPr/>
          <p:nvPr/>
        </p:nvSpPr>
        <p:spPr>
          <a:xfrm>
            <a:off x="9464040" y="2825496"/>
            <a:ext cx="146304" cy="0"/>
          </a:xfrm>
          <a:prstGeom prst="line">
            <a:avLst/>
          </a:prstGeom>
          <a:noFill/>
          <a:ln w="22225">
            <a:solidFill>
              <a:srgbClr val="8D8D8D"/>
            </a:solidFill>
            <a:prstDash val="solid"/>
            <a:tailEnd type="triangle"/>
          </a:ln>
        </p:spPr>
      </p:sp>
      <p:sp>
        <p:nvSpPr>
          <p:cNvPr id="31" name="step"/>
          <p:cNvSpPr/>
          <p:nvPr/>
        </p:nvSpPr>
        <p:spPr>
          <a:xfrm>
            <a:off x="9637776" y="1627632"/>
            <a:ext cx="2066544" cy="2395728"/>
          </a:xfrm>
          <a:prstGeom prst="rect">
            <a:avLst/>
          </a:prstGeom>
          <a:solidFill>
            <a:srgbClr val="F6F2FF"/>
          </a:solidFill>
          <a:ln w="12700">
            <a:solidFill>
              <a:srgbClr val="F6F2FF"/>
            </a:solidFill>
            <a:prstDash val="solid"/>
          </a:ln>
        </p:spPr>
      </p:sp>
      <p:sp>
        <p:nvSpPr>
          <p:cNvPr id="32" name="Text 30"/>
          <p:cNvSpPr txBox="1"/>
          <p:nvPr/>
        </p:nvSpPr>
        <p:spPr>
          <a:xfrm>
            <a:off x="9875520" y="1865376"/>
            <a:ext cx="914400" cy="274320"/>
          </a:xfrm>
          <a:prstGeom prst="rect">
            <a:avLst/>
          </a:prstGeom>
          <a:noFill/>
          <a:ln/>
        </p:spPr>
        <p:txBody>
          <a:bodyPr wrap="square" lIns="0" tIns="0" rIns="0" bIns="0" rtlCol="0" anchor="ctr"/>
          <a:lstStyle/>
          <a:p>
            <a:pPr marL="0" indent="0">
              <a:buNone/>
            </a:pPr>
            <a:r>
              <a:rPr lang="en-US" sz="1200" b="1" kern="0" spc="100" dirty="0">
                <a:solidFill>
                  <a:srgbClr val="8A3FFC"/>
                </a:solidFill>
                <a:latin typeface="Courier New" pitchFamily="34" charset="0"/>
                <a:ea typeface="Courier New" pitchFamily="34" charset="-122"/>
                <a:cs typeface="Courier New" pitchFamily="34" charset="-120"/>
              </a:rPr>
              <a:t>05</a:t>
            </a:r>
            <a:endParaRPr lang="en-US" sz="1200" dirty="0"/>
          </a:p>
        </p:txBody>
      </p:sp>
      <p:sp>
        <p:nvSpPr>
          <p:cNvPr id="33" name="chip"/>
          <p:cNvSpPr/>
          <p:nvPr/>
        </p:nvSpPr>
        <p:spPr>
          <a:xfrm>
            <a:off x="10863072" y="1847088"/>
            <a:ext cx="603504" cy="237744"/>
          </a:xfrm>
          <a:prstGeom prst="rect">
            <a:avLst/>
          </a:prstGeom>
          <a:solidFill>
            <a:srgbClr val="8A3FFC"/>
          </a:solidFill>
          <a:ln w="12700">
            <a:solidFill>
              <a:srgbClr val="8A3FFC"/>
            </a:solidFill>
            <a:prstDash val="solid"/>
          </a:ln>
        </p:spPr>
      </p:sp>
      <p:sp>
        <p:nvSpPr>
          <p:cNvPr id="34" name="Text 32"/>
          <p:cNvSpPr txBox="1"/>
          <p:nvPr/>
        </p:nvSpPr>
        <p:spPr>
          <a:xfrm>
            <a:off x="10863072" y="1847088"/>
            <a:ext cx="603504" cy="237744"/>
          </a:xfrm>
          <a:prstGeom prst="rect">
            <a:avLst/>
          </a:prstGeom>
          <a:noFill/>
          <a:ln/>
        </p:spPr>
        <p:txBody>
          <a:bodyPr wrap="square" lIns="0" tIns="0" rIns="0" bIns="0" rtlCol="0" anchor="ctr"/>
          <a:lstStyle/>
          <a:p>
            <a:pPr marL="0" indent="0" algn="ctr">
              <a:buNone/>
            </a:pPr>
            <a:r>
              <a:rPr lang="en-US" sz="800" b="1" kern="0" spc="80" dirty="0">
                <a:solidFill>
                  <a:srgbClr val="FFFFFF"/>
                </a:solidFill>
              </a:rPr>
              <a:t>IBM</a:t>
            </a:r>
            <a:endParaRPr lang="en-US" sz="800" dirty="0"/>
          </a:p>
        </p:txBody>
      </p:sp>
      <p:sp>
        <p:nvSpPr>
          <p:cNvPr id="35" name="Text 33"/>
          <p:cNvSpPr txBox="1"/>
          <p:nvPr/>
        </p:nvSpPr>
        <p:spPr>
          <a:xfrm>
            <a:off x="9875520" y="2286000"/>
            <a:ext cx="1591056" cy="402336"/>
          </a:xfrm>
          <a:prstGeom prst="rect">
            <a:avLst/>
          </a:prstGeom>
          <a:noFill/>
          <a:ln/>
        </p:spPr>
        <p:txBody>
          <a:bodyPr wrap="square" lIns="0" tIns="0" rIns="0" bIns="0" rtlCol="0" anchor="ctr"/>
          <a:lstStyle/>
          <a:p>
            <a:pPr marL="0" indent="0">
              <a:buNone/>
            </a:pPr>
            <a:r>
              <a:rPr lang="en-US" sz="2000" b="1" dirty="0">
                <a:solidFill>
                  <a:srgbClr val="161616"/>
                </a:solidFill>
              </a:rPr>
              <a:t>Diagnose</a:t>
            </a:r>
            <a:endParaRPr lang="en-US" sz="2000" dirty="0"/>
          </a:p>
        </p:txBody>
      </p:sp>
      <p:sp>
        <p:nvSpPr>
          <p:cNvPr id="36" name="Text 34"/>
          <p:cNvSpPr txBox="1"/>
          <p:nvPr/>
        </p:nvSpPr>
        <p:spPr>
          <a:xfrm>
            <a:off x="9875520" y="2779776"/>
            <a:ext cx="1591056" cy="1005840"/>
          </a:xfrm>
          <a:prstGeom prst="rect">
            <a:avLst/>
          </a:prstGeom>
          <a:noFill/>
          <a:ln/>
        </p:spPr>
        <p:txBody>
          <a:bodyPr wrap="square" lIns="0" tIns="0" rIns="0" bIns="0" rtlCol="0" anchor="t"/>
          <a:lstStyle/>
          <a:p>
            <a:pPr marL="0" indent="0">
              <a:lnSpc>
                <a:spcPts val="1700"/>
              </a:lnSpc>
              <a:buNone/>
            </a:pPr>
            <a:r>
              <a:rPr lang="en-US" sz="1200" dirty="0">
                <a:solidFill>
                  <a:srgbClr val="393939"/>
                </a:solidFill>
              </a:rPr>
              <a:t>IBM MQ Agent reads it and replies</a:t>
            </a:r>
            <a:endParaRPr lang="en-US" sz="1200" dirty="0"/>
          </a:p>
        </p:txBody>
      </p:sp>
      <p:sp>
        <p:nvSpPr>
          <p:cNvPr id="37" name="boundary"/>
          <p:cNvSpPr/>
          <p:nvPr/>
        </p:nvSpPr>
        <p:spPr>
          <a:xfrm>
            <a:off x="566928" y="4370832"/>
            <a:ext cx="11027664" cy="1097280"/>
          </a:xfrm>
          <a:prstGeom prst="rect">
            <a:avLst/>
          </a:prstGeom>
          <a:solidFill>
            <a:srgbClr val="161616"/>
          </a:solidFill>
          <a:ln w="12700">
            <a:solidFill>
              <a:srgbClr val="161616"/>
            </a:solidFill>
            <a:prstDash val="solid"/>
          </a:ln>
        </p:spPr>
      </p:sp>
      <p:sp>
        <p:nvSpPr>
          <p:cNvPr id="38" name="agent-mark"/>
          <p:cNvSpPr/>
          <p:nvPr/>
        </p:nvSpPr>
        <p:spPr>
          <a:xfrm>
            <a:off x="896112" y="4663440"/>
            <a:ext cx="512064" cy="512064"/>
          </a:xfrm>
          <a:prstGeom prst="rect">
            <a:avLst/>
          </a:prstGeom>
          <a:solidFill>
            <a:srgbClr val="161616"/>
          </a:solidFill>
          <a:ln w="15875">
            <a:solidFill>
              <a:srgbClr val="FFFFFF"/>
            </a:solidFill>
            <a:prstDash val="solid"/>
          </a:ln>
        </p:spPr>
      </p:sp>
      <p:sp>
        <p:nvSpPr>
          <p:cNvPr id="39" name="Text 37"/>
          <p:cNvSpPr txBox="1"/>
          <p:nvPr/>
        </p:nvSpPr>
        <p:spPr>
          <a:xfrm>
            <a:off x="896112" y="4663440"/>
            <a:ext cx="512064" cy="512064"/>
          </a:xfrm>
          <a:prstGeom prst="rect">
            <a:avLst/>
          </a:prstGeom>
          <a:noFill/>
          <a:ln/>
        </p:spPr>
        <p:txBody>
          <a:bodyPr wrap="square" lIns="0" tIns="0" rIns="0" bIns="0" rtlCol="0" anchor="ctr"/>
          <a:lstStyle/>
          <a:p>
            <a:pPr marL="0" indent="0" algn="ctr">
              <a:buNone/>
            </a:pPr>
            <a:r>
              <a:rPr lang="en-US" sz="1700" b="1" dirty="0">
                <a:solidFill>
                  <a:srgbClr val="FFFFFF"/>
                </a:solidFill>
              </a:rPr>
              <a:t>AI</a:t>
            </a:r>
            <a:endParaRPr lang="en-US" sz="1700" dirty="0"/>
          </a:p>
        </p:txBody>
      </p:sp>
      <p:sp>
        <p:nvSpPr>
          <p:cNvPr id="40" name="Text 38"/>
          <p:cNvSpPr txBox="1"/>
          <p:nvPr/>
        </p:nvSpPr>
        <p:spPr>
          <a:xfrm>
            <a:off x="1572768" y="4626864"/>
            <a:ext cx="9692640" cy="585216"/>
          </a:xfrm>
          <a:prstGeom prst="rect">
            <a:avLst/>
          </a:prstGeom>
          <a:noFill/>
          <a:ln/>
        </p:spPr>
        <p:txBody>
          <a:bodyPr wrap="square" lIns="0" tIns="0" rIns="0" bIns="0" rtlCol="0" anchor="ctr"/>
          <a:lstStyle/>
          <a:p>
            <a:pPr marL="0" indent="0">
              <a:lnSpc>
                <a:spcPts val="1900"/>
              </a:lnSpc>
              <a:buNone/>
            </a:pPr>
            <a:r>
              <a:rPr lang="en-US" sz="1400" b="1" dirty="0">
                <a:solidFill>
                  <a:srgbClr val="FFFFFF"/>
                </a:solidFill>
              </a:rPr>
              <a:t>Stages 2 to 4 are ours. </a:t>
            </a:r>
            <a:r>
              <a:rPr lang="en-US" sz="1400" dirty="0">
                <a:solidFill>
                  <a:srgbClr val="C6C6C6"/>
                </a:solidFill>
              </a:rPr>
              <a:t>Stage 5 is the IBM MQ Agent, </a:t>
            </a:r>
            <a:r>
              <a:rPr lang="en-US" sz="1400" b="1" dirty="0">
                <a:solidFill>
                  <a:srgbClr val="C6C6C6"/>
                </a:solidFill>
              </a:rPr>
              <a:t>running live in an IBM-provided sandbox — not a mock</a:t>
            </a:r>
            <a:r>
              <a:rPr lang="en-US" sz="1400" dirty="0">
                <a:solidFill>
                  <a:srgbClr val="C6C6C6"/>
                </a:solidFill>
              </a:rPr>
              <a:t>, not a recording.</a:t>
            </a:r>
            <a:endParaRPr lang="en-US" sz="1400" dirty="0"/>
          </a:p>
        </p:txBody>
      </p:sp>
      <p:sp>
        <p:nvSpPr>
          <p:cNvPr id="41" name="Slide Number Placeholder 0"/>
          <p:cNvSpPr>
            <a:spLocks noGrp="1"/>
          </p:cNvSpPr>
          <p:nvPr>
            <p:ph type="sldNum" sz="quarter" idx="4294967295"/>
          </p:nvPr>
        </p:nvSpPr>
        <p:spPr>
          <a:xfrm>
            <a:off x="11430000" y="6364224"/>
            <a:ext cx="365760"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A8A8A8"/>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66928" y="384048"/>
            <a:ext cx="10424160" cy="713232"/>
          </a:xfrm>
          <a:prstGeom prst="rect">
            <a:avLst/>
          </a:prstGeom>
          <a:noFill/>
          <a:ln/>
        </p:spPr>
        <p:txBody>
          <a:bodyPr wrap="square" rtlCol="0" anchor="t"/>
          <a:lstStyle/>
          <a:p>
            <a:pPr marL="0" indent="0" algn="l">
              <a:buNone/>
            </a:pPr>
            <a:r>
              <a:rPr lang="en-US" sz="3200" b="1" kern="0" spc="-40" dirty="0">
                <a:solidFill>
                  <a:srgbClr val="161616"/>
                </a:solidFill>
              </a:rPr>
              <a:t>Building a queue that nobody can drain</a:t>
            </a:r>
            <a:endParaRPr lang="en-US" sz="3200" dirty="0"/>
          </a:p>
        </p:txBody>
      </p:sp>
      <p:sp>
        <p:nvSpPr>
          <p:cNvPr id="3" name="code-block"/>
          <p:cNvSpPr/>
          <p:nvPr/>
        </p:nvSpPr>
        <p:spPr>
          <a:xfrm>
            <a:off x="566928" y="1536192"/>
            <a:ext cx="6400800" cy="3346704"/>
          </a:xfrm>
          <a:prstGeom prst="rect">
            <a:avLst/>
          </a:prstGeom>
          <a:solidFill>
            <a:srgbClr val="262626"/>
          </a:solidFill>
          <a:ln w="12700">
            <a:solidFill>
              <a:srgbClr val="262626"/>
            </a:solidFill>
            <a:prstDash val="solid"/>
          </a:ln>
        </p:spPr>
      </p:sp>
      <p:sp>
        <p:nvSpPr>
          <p:cNvPr id="4" name="Text 2"/>
          <p:cNvSpPr txBox="1"/>
          <p:nvPr/>
        </p:nvSpPr>
        <p:spPr>
          <a:xfrm>
            <a:off x="768096" y="1682496"/>
            <a:ext cx="5998464" cy="3054096"/>
          </a:xfrm>
          <a:prstGeom prst="rect">
            <a:avLst/>
          </a:prstGeom>
          <a:noFill/>
          <a:ln/>
        </p:spPr>
        <p:txBody>
          <a:bodyPr wrap="square" lIns="0" tIns="0" rIns="0" bIns="0" rtlCol="0" anchor="t"/>
          <a:lstStyle/>
          <a:p>
            <a:pPr marL="0" indent="0">
              <a:lnSpc>
                <a:spcPts val="1668"/>
              </a:lnSpc>
              <a:buNone/>
            </a:pPr>
            <a:r>
              <a:rPr lang="en-US" sz="1150" dirty="0">
                <a:solidFill>
                  <a:srgbClr val="A6C8FF"/>
                </a:solidFill>
                <a:latin typeface="Courier New" pitchFamily="34" charset="0"/>
                <a:ea typeface="Courier New" pitchFamily="34" charset="-122"/>
                <a:cs typeface="Courier New" pitchFamily="34" charset="-120"/>
              </a:rPr>
              <a:t>crtmqm QMS1  &amp;&amp;  strmqm QMS1
</a:t>
            </a:r>
            <a:r>
              <a:rPr lang="en-US" sz="1150" dirty="0">
                <a:solidFill>
                  <a:srgbClr val="F4F4F4"/>
                </a:solidFill>
                <a:latin typeface="Courier New" pitchFamily="34" charset="0"/>
                <a:ea typeface="Courier New" pitchFamily="34" charset="-122"/>
                <a:cs typeface="Courier New" pitchFamily="34" charset="-120"/>
              </a:rPr>
              <a:t>
</a:t>
            </a:r>
            <a:r>
              <a:rPr lang="en-US" sz="1150" dirty="0">
                <a:solidFill>
                  <a:srgbClr val="A6C8FF"/>
                </a:solidFill>
                <a:latin typeface="Courier New" pitchFamily="34" charset="0"/>
                <a:ea typeface="Courier New" pitchFamily="34" charset="-122"/>
                <a:cs typeface="Courier New" pitchFamily="34" charset="-120"/>
              </a:rPr>
              <a:t>runmqsc QMS1 &lt;&lt;EOF
</a:t>
            </a:r>
            <a:r>
              <a:rPr lang="en-US" sz="1150" dirty="0">
                <a:solidFill>
                  <a:srgbClr val="F4F4F4"/>
                </a:solidFill>
                <a:latin typeface="Courier New" pitchFamily="34" charset="0"/>
                <a:ea typeface="Courier New" pitchFamily="34" charset="-122"/>
                <a:cs typeface="Courier New" pitchFamily="34" charset="-120"/>
              </a:rPr>
              <a:t>  DEFINE QLOCAL('ACME.APPDATA.QUEUE') +
         MAXDEPTH(1000)
EOF
</a:t>
            </a:r>
            <a:r>
              <a:rPr lang="en-US" sz="1150" dirty="0">
                <a:solidFill>
                  <a:srgbClr val="8D8D8D"/>
                </a:solidFill>
                <a:latin typeface="Courier New" pitchFamily="34" charset="0"/>
                <a:ea typeface="Courier New" pitchFamily="34" charset="-122"/>
                <a:cs typeface="Courier New" pitchFamily="34" charset="-120"/>
              </a:rPr>
              <a:t># load the backlog with IBM's own utility
</a:t>
            </a:r>
            <a:r>
              <a:rPr lang="en-US" sz="1150" dirty="0">
                <a:solidFill>
                  <a:srgbClr val="A6C8FF"/>
                </a:solidFill>
                <a:latin typeface="Courier New" pitchFamily="34" charset="0"/>
                <a:ea typeface="Courier New" pitchFamily="34" charset="-122"/>
                <a:cs typeface="Courier New" pitchFamily="34" charset="-120"/>
              </a:rPr>
              <a:t>dmpmqmsg -m QMS1 -f appdata.msgs +
         -o ACME.APPDATA.QUEUE
</a:t>
            </a:r>
            <a:r>
              <a:rPr lang="en-US" sz="1150" dirty="0">
                <a:solidFill>
                  <a:srgbClr val="F4F4F4"/>
                </a:solidFill>
                <a:latin typeface="Courier New" pitchFamily="34" charset="0"/>
                <a:ea typeface="Courier New" pitchFamily="34" charset="-122"/>
                <a:cs typeface="Courier New" pitchFamily="34" charset="-120"/>
              </a:rPr>
              <a:t>
</a:t>
            </a:r>
            <a:r>
              <a:rPr lang="en-US" sz="1150" dirty="0">
                <a:solidFill>
                  <a:srgbClr val="8D8D8D"/>
                </a:solidFill>
                <a:latin typeface="Courier New" pitchFamily="34" charset="0"/>
                <a:ea typeface="Courier New" pitchFamily="34" charset="-122"/>
                <a:cs typeface="Courier New" pitchFamily="34" charset="-120"/>
              </a:rPr>
              <a:t># now break it
</a:t>
            </a:r>
            <a:r>
              <a:rPr lang="en-US" sz="1150" dirty="0">
                <a:solidFill>
                  <a:srgbClr val="A6C8FF"/>
                </a:solidFill>
                <a:latin typeface="Courier New" pitchFamily="34" charset="0"/>
                <a:ea typeface="Courier New" pitchFamily="34" charset="-122"/>
                <a:cs typeface="Courier New" pitchFamily="34" charset="-120"/>
              </a:rPr>
              <a:t>runmqsc QMS1 &lt;&lt;EOF
</a:t>
            </a:r>
            <a:r>
              <a:rPr lang="en-US" sz="1150" dirty="0">
                <a:solidFill>
                  <a:srgbClr val="FF8389"/>
                </a:solidFill>
                <a:latin typeface="Courier New" pitchFamily="34" charset="0"/>
                <a:ea typeface="Courier New" pitchFamily="34" charset="-122"/>
                <a:cs typeface="Courier New" pitchFamily="34" charset="-120"/>
              </a:rPr>
              <a:t>  ALTER QLOCAL('ACME.APPDATA.QUEUE') +
        GET(DISABLED)
</a:t>
            </a:r>
            <a:r>
              <a:rPr lang="en-US" sz="1150" dirty="0">
                <a:solidFill>
                  <a:srgbClr val="A6C8FF"/>
                </a:solidFill>
                <a:latin typeface="Courier New" pitchFamily="34" charset="0"/>
                <a:ea typeface="Courier New" pitchFamily="34" charset="-122"/>
                <a:cs typeface="Courier New" pitchFamily="34" charset="-120"/>
              </a:rPr>
              <a:t>EOF</a:t>
            </a:r>
            <a:endParaRPr lang="en-US" sz="1150" dirty="0"/>
          </a:p>
        </p:txBody>
      </p:sp>
      <p:sp>
        <p:nvSpPr>
          <p:cNvPr id="5" name="msg-square"/>
          <p:cNvSpPr/>
          <p:nvPr/>
        </p:nvSpPr>
        <p:spPr>
          <a:xfrm>
            <a:off x="7269480" y="1581912"/>
            <a:ext cx="137160" cy="137160"/>
          </a:xfrm>
          <a:prstGeom prst="rect">
            <a:avLst/>
          </a:prstGeom>
          <a:solidFill>
            <a:srgbClr val="0F62FE"/>
          </a:solidFill>
          <a:ln w="6350">
            <a:solidFill>
              <a:srgbClr val="0F62FE"/>
            </a:solidFill>
            <a:prstDash val="solid"/>
          </a:ln>
        </p:spPr>
      </p:sp>
      <p:sp>
        <p:nvSpPr>
          <p:cNvPr id="6" name="Text 4"/>
          <p:cNvSpPr txBox="1"/>
          <p:nvPr/>
        </p:nvSpPr>
        <p:spPr>
          <a:xfrm>
            <a:off x="7589520" y="1536192"/>
            <a:ext cx="4023360" cy="274320"/>
          </a:xfrm>
          <a:prstGeom prst="rect">
            <a:avLst/>
          </a:prstGeom>
          <a:noFill/>
          <a:ln/>
        </p:spPr>
        <p:txBody>
          <a:bodyPr wrap="square" lIns="0" tIns="0" rIns="0" bIns="0" rtlCol="0" anchor="ctr"/>
          <a:lstStyle/>
          <a:p>
            <a:pPr marL="0" indent="0">
              <a:buNone/>
            </a:pPr>
            <a:r>
              <a:rPr lang="en-US" sz="1500" b="1" dirty="0">
                <a:solidFill>
                  <a:srgbClr val="161616"/>
                </a:solidFill>
              </a:rPr>
              <a:t>Load first, disable second</a:t>
            </a:r>
            <a:endParaRPr lang="en-US" sz="1500" dirty="0"/>
          </a:p>
        </p:txBody>
      </p:sp>
      <p:sp>
        <p:nvSpPr>
          <p:cNvPr id="7" name="Text 5"/>
          <p:cNvSpPr txBox="1"/>
          <p:nvPr/>
        </p:nvSpPr>
        <p:spPr>
          <a:xfrm>
            <a:off x="7589520" y="1865376"/>
            <a:ext cx="4023360" cy="914400"/>
          </a:xfrm>
          <a:prstGeom prst="rect">
            <a:avLst/>
          </a:prstGeom>
          <a:noFill/>
          <a:ln/>
        </p:spPr>
        <p:txBody>
          <a:bodyPr wrap="square" lIns="0" tIns="0" rIns="0" bIns="0" rtlCol="0" anchor="ctr"/>
          <a:lstStyle/>
          <a:p>
            <a:pPr marL="0" indent="0">
              <a:lnSpc>
                <a:spcPts val="1800"/>
              </a:lnSpc>
              <a:buNone/>
            </a:pPr>
            <a:r>
              <a:rPr lang="en-US" sz="1250" dirty="0">
                <a:solidFill>
                  <a:srgbClr val="393939"/>
                </a:solidFill>
              </a:rPr>
              <a:t>GET(DISABLED) blocks consumers, not producers — so the order is not strictly required. We do it anyway, because it mirrors how the fault really happens.</a:t>
            </a:r>
            <a:endParaRPr lang="en-US" sz="1250" dirty="0"/>
          </a:p>
        </p:txBody>
      </p:sp>
      <p:sp>
        <p:nvSpPr>
          <p:cNvPr id="8" name="msg-square"/>
          <p:cNvSpPr/>
          <p:nvPr/>
        </p:nvSpPr>
        <p:spPr>
          <a:xfrm>
            <a:off x="7269480" y="2953512"/>
            <a:ext cx="137160" cy="137160"/>
          </a:xfrm>
          <a:prstGeom prst="rect">
            <a:avLst/>
          </a:prstGeom>
          <a:solidFill>
            <a:srgbClr val="0F62FE"/>
          </a:solidFill>
          <a:ln w="6350">
            <a:solidFill>
              <a:srgbClr val="0F62FE"/>
            </a:solidFill>
            <a:prstDash val="solid"/>
          </a:ln>
        </p:spPr>
      </p:sp>
      <p:sp>
        <p:nvSpPr>
          <p:cNvPr id="9" name="Text 7"/>
          <p:cNvSpPr txBox="1"/>
          <p:nvPr/>
        </p:nvSpPr>
        <p:spPr>
          <a:xfrm>
            <a:off x="7589520" y="2907792"/>
            <a:ext cx="4023360" cy="274320"/>
          </a:xfrm>
          <a:prstGeom prst="rect">
            <a:avLst/>
          </a:prstGeom>
          <a:noFill/>
          <a:ln/>
        </p:spPr>
        <p:txBody>
          <a:bodyPr wrap="square" lIns="0" tIns="0" rIns="0" bIns="0" rtlCol="0" anchor="ctr"/>
          <a:lstStyle/>
          <a:p>
            <a:pPr marL="0" indent="0">
              <a:buNone/>
            </a:pPr>
            <a:r>
              <a:rPr lang="en-US" sz="1500" b="1" dirty="0">
                <a:solidFill>
                  <a:srgbClr val="161616"/>
                </a:solidFill>
              </a:rPr>
              <a:t>dmpmqmsg is IBM's own tool</a:t>
            </a:r>
            <a:endParaRPr lang="en-US" sz="1500" dirty="0"/>
          </a:p>
        </p:txBody>
      </p:sp>
      <p:sp>
        <p:nvSpPr>
          <p:cNvPr id="10" name="Text 8"/>
          <p:cNvSpPr txBox="1"/>
          <p:nvPr/>
        </p:nvSpPr>
        <p:spPr>
          <a:xfrm>
            <a:off x="7589520" y="3236976"/>
            <a:ext cx="4023360" cy="914400"/>
          </a:xfrm>
          <a:prstGeom prst="rect">
            <a:avLst/>
          </a:prstGeom>
          <a:noFill/>
          <a:ln/>
        </p:spPr>
        <p:txBody>
          <a:bodyPr wrap="square" lIns="0" tIns="0" rIns="0" bIns="0" rtlCol="0" anchor="ctr"/>
          <a:lstStyle/>
          <a:p>
            <a:pPr marL="0" indent="0">
              <a:lnSpc>
                <a:spcPts val="1800"/>
              </a:lnSpc>
              <a:buNone/>
            </a:pPr>
            <a:r>
              <a:rPr lang="en-US" sz="1250" dirty="0">
                <a:solidFill>
                  <a:srgbClr val="393939"/>
                </a:solidFill>
              </a:rPr>
              <a:t>The queue load and unload utility, formerly qload, shipped with MQ since version 8.0. Reading a file onto a queue is a plain PUT.</a:t>
            </a:r>
            <a:endParaRPr lang="en-US" sz="1250" dirty="0"/>
          </a:p>
        </p:txBody>
      </p:sp>
      <p:sp>
        <p:nvSpPr>
          <p:cNvPr id="11" name="msg-square"/>
          <p:cNvSpPr/>
          <p:nvPr/>
        </p:nvSpPr>
        <p:spPr>
          <a:xfrm>
            <a:off x="7269480" y="4325112"/>
            <a:ext cx="137160" cy="137160"/>
          </a:xfrm>
          <a:prstGeom prst="rect">
            <a:avLst/>
          </a:prstGeom>
          <a:solidFill>
            <a:srgbClr val="0F62FE"/>
          </a:solidFill>
          <a:ln w="6350">
            <a:solidFill>
              <a:srgbClr val="0F62FE"/>
            </a:solidFill>
            <a:prstDash val="solid"/>
          </a:ln>
        </p:spPr>
      </p:sp>
      <p:sp>
        <p:nvSpPr>
          <p:cNvPr id="12" name="Text 10"/>
          <p:cNvSpPr txBox="1"/>
          <p:nvPr/>
        </p:nvSpPr>
        <p:spPr>
          <a:xfrm>
            <a:off x="7589520" y="4279392"/>
            <a:ext cx="4023360" cy="274320"/>
          </a:xfrm>
          <a:prstGeom prst="rect">
            <a:avLst/>
          </a:prstGeom>
          <a:noFill/>
          <a:ln/>
        </p:spPr>
        <p:txBody>
          <a:bodyPr wrap="square" lIns="0" tIns="0" rIns="0" bIns="0" rtlCol="0" anchor="ctr"/>
          <a:lstStyle/>
          <a:p>
            <a:pPr marL="0" indent="0">
              <a:buNone/>
            </a:pPr>
            <a:r>
              <a:rPr lang="en-US" sz="1500" b="1" dirty="0">
                <a:solidFill>
                  <a:srgbClr val="161616"/>
                </a:solidFill>
              </a:rPr>
              <a:t>No consumer is ever started</a:t>
            </a:r>
            <a:endParaRPr lang="en-US" sz="1500" dirty="0"/>
          </a:p>
        </p:txBody>
      </p:sp>
      <p:sp>
        <p:nvSpPr>
          <p:cNvPr id="13" name="Text 11"/>
          <p:cNvSpPr txBox="1"/>
          <p:nvPr/>
        </p:nvSpPr>
        <p:spPr>
          <a:xfrm>
            <a:off x="7589520" y="4608576"/>
            <a:ext cx="4023360" cy="914400"/>
          </a:xfrm>
          <a:prstGeom prst="rect">
            <a:avLst/>
          </a:prstGeom>
          <a:noFill/>
          <a:ln/>
        </p:spPr>
        <p:txBody>
          <a:bodyPr wrap="square" lIns="0" tIns="0" rIns="0" bIns="0" rtlCol="0" anchor="ctr"/>
          <a:lstStyle/>
          <a:p>
            <a:pPr marL="0" indent="0">
              <a:lnSpc>
                <a:spcPts val="1800"/>
              </a:lnSpc>
              <a:buNone/>
            </a:pPr>
            <a:r>
              <a:rPr lang="en-US" sz="1250" dirty="0">
                <a:solidFill>
                  <a:srgbClr val="393939"/>
                </a:solidFill>
              </a:rPr>
              <a:t>That is the whole point. IPPROCS stays at zero, and the depth has nowhere to go.</a:t>
            </a:r>
            <a:endParaRPr lang="en-US" sz="1250" dirty="0"/>
          </a:p>
        </p:txBody>
      </p:sp>
      <p:sp>
        <p:nvSpPr>
          <p:cNvPr id="25" name="Slide Number Placeholder 0"/>
          <p:cNvSpPr>
            <a:spLocks noGrp="1"/>
          </p:cNvSpPr>
          <p:nvPr>
            <p:ph type="sldNum" sz="quarter" idx="4294967295"/>
          </p:nvPr>
        </p:nvSpPr>
        <p:spPr>
          <a:xfrm>
            <a:off x="11430000" y="6364224"/>
            <a:ext cx="365760"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A8A8A8"/>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66928" y="384048"/>
            <a:ext cx="10424160" cy="713232"/>
          </a:xfrm>
          <a:prstGeom prst="rect">
            <a:avLst/>
          </a:prstGeom>
          <a:noFill/>
          <a:ln/>
        </p:spPr>
        <p:txBody>
          <a:bodyPr wrap="square" rtlCol="0" anchor="t"/>
          <a:lstStyle/>
          <a:p>
            <a:pPr marL="0" indent="0" algn="l">
              <a:buNone/>
            </a:pPr>
            <a:r>
              <a:rPr lang="en-US" sz="3200" b="1" kern="0" spc="-40" dirty="0">
                <a:solidFill>
                  <a:srgbClr val="FFFFFF"/>
                </a:solidFill>
              </a:rPr>
              <a:t>One sweep, every queue</a:t>
            </a:r>
            <a:endParaRPr lang="en-US" sz="3200" dirty="0"/>
          </a:p>
        </p:txBody>
      </p:sp>
      <p:sp>
        <p:nvSpPr>
          <p:cNvPr id="3" name="code-block"/>
          <p:cNvSpPr/>
          <p:nvPr/>
        </p:nvSpPr>
        <p:spPr>
          <a:xfrm>
            <a:off x="566928" y="1481328"/>
            <a:ext cx="5532120" cy="1261872"/>
          </a:xfrm>
          <a:prstGeom prst="rect">
            <a:avLst/>
          </a:prstGeom>
          <a:solidFill>
            <a:srgbClr val="000000"/>
          </a:solidFill>
          <a:ln w="12700">
            <a:solidFill>
              <a:srgbClr val="000000"/>
            </a:solidFill>
            <a:prstDash val="solid"/>
          </a:ln>
        </p:spPr>
      </p:sp>
      <p:sp>
        <p:nvSpPr>
          <p:cNvPr id="4" name="Text 2"/>
          <p:cNvSpPr txBox="1"/>
          <p:nvPr/>
        </p:nvSpPr>
        <p:spPr>
          <a:xfrm>
            <a:off x="768096" y="1627632"/>
            <a:ext cx="5129784" cy="969264"/>
          </a:xfrm>
          <a:prstGeom prst="rect">
            <a:avLst/>
          </a:prstGeom>
          <a:noFill/>
          <a:ln/>
        </p:spPr>
        <p:txBody>
          <a:bodyPr wrap="square" lIns="0" tIns="0" rIns="0" bIns="0" rtlCol="0" anchor="t"/>
          <a:lstStyle/>
          <a:p>
            <a:pPr marL="0" indent="0">
              <a:lnSpc>
                <a:spcPts val="1668"/>
              </a:lnSpc>
              <a:buNone/>
            </a:pPr>
            <a:r>
              <a:rPr lang="en-US" sz="1150" dirty="0">
                <a:solidFill>
                  <a:srgbClr val="A6C8FF"/>
                </a:solidFill>
                <a:latin typeface="Courier New" pitchFamily="34" charset="0"/>
                <a:ea typeface="Courier New" pitchFamily="34" charset="-122"/>
                <a:cs typeface="Courier New" pitchFamily="34" charset="-120"/>
              </a:rPr>
              <a:t>echo "DISPLAY QSTATUS(*) TYPE(QUEUE) \</a:t>
            </a:r>
            <a:endParaRPr lang="en-US" sz="1150" dirty="0"/>
          </a:p>
          <a:p>
            <a:pPr marL="0" indent="0">
              <a:lnSpc>
                <a:spcPts val="1668"/>
              </a:lnSpc>
              <a:buNone/>
            </a:pPr>
            <a:r>
              <a:rPr lang="en-US" sz="1150" dirty="0">
                <a:solidFill>
                  <a:srgbClr val="A6C8FF"/>
                </a:solidFill>
                <a:latin typeface="Courier New" pitchFamily="34" charset="0"/>
                <a:ea typeface="Courier New" pitchFamily="34" charset="-122"/>
                <a:cs typeface="Courier New" pitchFamily="34" charset="-120"/>
              </a:rPr>
              <a:t>      CURDEPTH IPPROCS OPPROCS" \</a:t>
            </a:r>
            <a:endParaRPr lang="en-US" sz="1150" dirty="0"/>
          </a:p>
          <a:p>
            <a:pPr marL="0" indent="0">
              <a:lnSpc>
                <a:spcPts val="1668"/>
              </a:lnSpc>
              <a:buNone/>
            </a:pPr>
            <a:r>
              <a:rPr lang="en-US" sz="1150" dirty="0">
                <a:solidFill>
                  <a:srgbClr val="A6C8FF"/>
                </a:solidFill>
                <a:latin typeface="Courier New" pitchFamily="34" charset="0"/>
                <a:ea typeface="Courier New" pitchFamily="34" charset="-122"/>
                <a:cs typeface="Courier New" pitchFamily="34" charset="-120"/>
              </a:rPr>
              <a:t>  | runmqsc QMS1</a:t>
            </a:r>
            <a:endParaRPr lang="en-US" sz="1150" dirty="0"/>
          </a:p>
        </p:txBody>
      </p:sp>
      <p:sp>
        <p:nvSpPr>
          <p:cNvPr id="5" name="rule"/>
          <p:cNvSpPr/>
          <p:nvPr/>
        </p:nvSpPr>
        <p:spPr>
          <a:xfrm>
            <a:off x="566928" y="2944368"/>
            <a:ext cx="5532120" cy="1371600"/>
          </a:xfrm>
          <a:prstGeom prst="rect">
            <a:avLst/>
          </a:prstGeom>
          <a:solidFill>
            <a:srgbClr val="262626"/>
          </a:solidFill>
          <a:ln w="12700">
            <a:solidFill>
              <a:srgbClr val="262626"/>
            </a:solidFill>
            <a:prstDash val="solid"/>
          </a:ln>
        </p:spPr>
      </p:sp>
      <p:sp>
        <p:nvSpPr>
          <p:cNvPr id="6" name="Text 4"/>
          <p:cNvSpPr txBox="1"/>
          <p:nvPr/>
        </p:nvSpPr>
        <p:spPr>
          <a:xfrm>
            <a:off x="804672" y="3127248"/>
            <a:ext cx="2743200" cy="237744"/>
          </a:xfrm>
          <a:prstGeom prst="rect">
            <a:avLst/>
          </a:prstGeom>
          <a:noFill/>
          <a:ln/>
        </p:spPr>
        <p:txBody>
          <a:bodyPr wrap="square" lIns="0" tIns="0" rIns="0" bIns="0" rtlCol="0" anchor="ctr"/>
          <a:lstStyle/>
          <a:p>
            <a:pPr marL="0" indent="0">
              <a:buNone/>
            </a:pPr>
            <a:r>
              <a:rPr lang="en-US" sz="950" kern="0" spc="140" dirty="0">
                <a:solidFill>
                  <a:srgbClr val="0F62FE"/>
                </a:solidFill>
                <a:latin typeface="Courier New" pitchFamily="34" charset="0"/>
                <a:ea typeface="Courier New" pitchFamily="34" charset="-122"/>
                <a:cs typeface="Courier New" pitchFamily="34" charset="-120"/>
              </a:rPr>
              <a:t>THE RULE</a:t>
            </a:r>
            <a:endParaRPr lang="en-US" sz="950" dirty="0"/>
          </a:p>
        </p:txBody>
      </p:sp>
      <p:sp>
        <p:nvSpPr>
          <p:cNvPr id="7" name="Text 5"/>
          <p:cNvSpPr txBox="1"/>
          <p:nvPr/>
        </p:nvSpPr>
        <p:spPr>
          <a:xfrm>
            <a:off x="804672" y="3401568"/>
            <a:ext cx="5029200" cy="310896"/>
          </a:xfrm>
          <a:prstGeom prst="rect">
            <a:avLst/>
          </a:prstGeom>
          <a:noFill/>
          <a:ln/>
        </p:spPr>
        <p:txBody>
          <a:bodyPr wrap="square" lIns="0" tIns="0" rIns="0" bIns="0" rtlCol="0" anchor="ctr"/>
          <a:lstStyle/>
          <a:p>
            <a:pPr marL="0" indent="0">
              <a:buNone/>
            </a:pPr>
            <a:r>
              <a:rPr lang="en-US" sz="1700" b="1" dirty="0">
                <a:solidFill>
                  <a:srgbClr val="FFFFFF"/>
                </a:solidFill>
                <a:latin typeface="Courier New" pitchFamily="34" charset="0"/>
                <a:ea typeface="Courier New" pitchFamily="34" charset="-122"/>
                <a:cs typeface="Courier New" pitchFamily="34" charset="-120"/>
              </a:rPr>
              <a:t>CURDEPTH &gt; 0   AND   IPPROCS = 0</a:t>
            </a:r>
            <a:endParaRPr lang="en-US" sz="1700" dirty="0"/>
          </a:p>
        </p:txBody>
      </p:sp>
      <p:sp>
        <p:nvSpPr>
          <p:cNvPr id="8" name="Text 6"/>
          <p:cNvSpPr txBox="1"/>
          <p:nvPr/>
        </p:nvSpPr>
        <p:spPr>
          <a:xfrm>
            <a:off x="804672" y="3767328"/>
            <a:ext cx="5029200" cy="420624"/>
          </a:xfrm>
          <a:prstGeom prst="rect">
            <a:avLst/>
          </a:prstGeom>
          <a:noFill/>
          <a:ln/>
        </p:spPr>
        <p:txBody>
          <a:bodyPr wrap="square" lIns="0" tIns="0" rIns="0" bIns="0" rtlCol="0" anchor="ctr"/>
          <a:lstStyle/>
          <a:p>
            <a:pPr marL="0" indent="0">
              <a:lnSpc>
                <a:spcPts val="1700"/>
              </a:lnSpc>
              <a:buNone/>
            </a:pPr>
            <a:r>
              <a:rPr lang="en-US" sz="1250" dirty="0">
                <a:solidFill>
                  <a:srgbClr val="C6C6C6"/>
                </a:solidFill>
              </a:rPr>
              <a:t>Work is waiting, and no application has the queue open for input. Nothing can drain it.</a:t>
            </a:r>
            <a:endParaRPr lang="en-US" sz="1250" dirty="0"/>
          </a:p>
        </p:txBody>
      </p:sp>
      <p:sp>
        <p:nvSpPr>
          <p:cNvPr id="9" name="Text 7"/>
          <p:cNvSpPr txBox="1"/>
          <p:nvPr/>
        </p:nvSpPr>
        <p:spPr>
          <a:xfrm>
            <a:off x="6510528" y="1481328"/>
            <a:ext cx="5084064" cy="237744"/>
          </a:xfrm>
          <a:prstGeom prst="rect">
            <a:avLst/>
          </a:prstGeom>
          <a:noFill/>
          <a:ln/>
        </p:spPr>
        <p:txBody>
          <a:bodyPr wrap="square" lIns="0" tIns="0" rIns="0" bIns="0" rtlCol="0" anchor="ctr"/>
          <a:lstStyle/>
          <a:p>
            <a:pPr marL="0" indent="0">
              <a:buNone/>
            </a:pPr>
            <a:r>
              <a:rPr lang="en-US" sz="950" kern="0" spc="140" dirty="0">
                <a:solidFill>
                  <a:srgbClr val="8D8D8D"/>
                </a:solidFill>
                <a:latin typeface="Courier New" pitchFamily="34" charset="0"/>
                <a:ea typeface="Courier New" pitchFamily="34" charset="-122"/>
                <a:cs typeface="Courier New" pitchFamily="34" charset="-120"/>
              </a:rPr>
              <a:t>SCANNER OUTPUT  ·  QMS1</a:t>
            </a:r>
            <a:endParaRPr lang="en-US" sz="950" dirty="0"/>
          </a:p>
        </p:txBody>
      </p:sp>
      <p:sp>
        <p:nvSpPr>
          <p:cNvPr id="10" name="Text 8"/>
          <p:cNvSpPr txBox="1"/>
          <p:nvPr/>
        </p:nvSpPr>
        <p:spPr>
          <a:xfrm>
            <a:off x="6510528" y="1810512"/>
            <a:ext cx="2615184" cy="310896"/>
          </a:xfrm>
          <a:prstGeom prst="rect">
            <a:avLst/>
          </a:prstGeom>
          <a:noFill/>
          <a:ln/>
        </p:spPr>
        <p:txBody>
          <a:bodyPr wrap="square" lIns="0" tIns="0" rIns="0" bIns="0" rtlCol="0" anchor="ctr"/>
          <a:lstStyle/>
          <a:p>
            <a:pPr marL="0" indent="0">
              <a:buNone/>
            </a:pPr>
            <a:r>
              <a:rPr lang="en-US" sz="950" b="1" kern="0" spc="120" dirty="0">
                <a:solidFill>
                  <a:srgbClr val="8D8D8D"/>
                </a:solidFill>
                <a:latin typeface="Courier New" pitchFamily="34" charset="0"/>
                <a:ea typeface="Courier New" pitchFamily="34" charset="-122"/>
                <a:cs typeface="Courier New" pitchFamily="34" charset="-120"/>
              </a:rPr>
              <a:t>QUEUE</a:t>
            </a:r>
            <a:endParaRPr lang="en-US" sz="950" dirty="0"/>
          </a:p>
        </p:txBody>
      </p:sp>
      <p:sp>
        <p:nvSpPr>
          <p:cNvPr id="11" name="Text 9"/>
          <p:cNvSpPr txBox="1"/>
          <p:nvPr/>
        </p:nvSpPr>
        <p:spPr>
          <a:xfrm>
            <a:off x="9180576" y="1810512"/>
            <a:ext cx="731520" cy="310896"/>
          </a:xfrm>
          <a:prstGeom prst="rect">
            <a:avLst/>
          </a:prstGeom>
          <a:noFill/>
          <a:ln/>
        </p:spPr>
        <p:txBody>
          <a:bodyPr wrap="square" lIns="0" tIns="0" rIns="0" bIns="0" rtlCol="0" anchor="ctr"/>
          <a:lstStyle/>
          <a:p>
            <a:pPr marL="0" indent="0" algn="r">
              <a:buNone/>
            </a:pPr>
            <a:r>
              <a:rPr lang="en-US" sz="950" b="1" kern="0" spc="120" dirty="0">
                <a:solidFill>
                  <a:srgbClr val="8D8D8D"/>
                </a:solidFill>
                <a:latin typeface="Courier New" pitchFamily="34" charset="0"/>
                <a:ea typeface="Courier New" pitchFamily="34" charset="-122"/>
                <a:cs typeface="Courier New" pitchFamily="34" charset="-120"/>
              </a:rPr>
              <a:t>DEPTH</a:t>
            </a:r>
            <a:endParaRPr lang="en-US" sz="950" dirty="0"/>
          </a:p>
        </p:txBody>
      </p:sp>
      <p:sp>
        <p:nvSpPr>
          <p:cNvPr id="12" name="Text 10"/>
          <p:cNvSpPr txBox="1"/>
          <p:nvPr/>
        </p:nvSpPr>
        <p:spPr>
          <a:xfrm>
            <a:off x="9966960" y="1810512"/>
            <a:ext cx="731520" cy="310896"/>
          </a:xfrm>
          <a:prstGeom prst="rect">
            <a:avLst/>
          </a:prstGeom>
          <a:noFill/>
          <a:ln/>
        </p:spPr>
        <p:txBody>
          <a:bodyPr wrap="square" lIns="0" tIns="0" rIns="0" bIns="0" rtlCol="0" anchor="ctr"/>
          <a:lstStyle/>
          <a:p>
            <a:pPr marL="0" indent="0" algn="r">
              <a:buNone/>
            </a:pPr>
            <a:r>
              <a:rPr lang="en-US" sz="950" b="1" kern="0" spc="120" dirty="0">
                <a:solidFill>
                  <a:srgbClr val="8D8D8D"/>
                </a:solidFill>
                <a:latin typeface="Courier New" pitchFamily="34" charset="0"/>
                <a:ea typeface="Courier New" pitchFamily="34" charset="-122"/>
                <a:cs typeface="Courier New" pitchFamily="34" charset="-120"/>
              </a:rPr>
              <a:t>IPPROCS</a:t>
            </a:r>
            <a:endParaRPr lang="en-US" sz="950" dirty="0"/>
          </a:p>
        </p:txBody>
      </p:sp>
      <p:sp>
        <p:nvSpPr>
          <p:cNvPr id="13" name="row"/>
          <p:cNvSpPr/>
          <p:nvPr/>
        </p:nvSpPr>
        <p:spPr>
          <a:xfrm>
            <a:off x="6364224" y="2103120"/>
            <a:ext cx="5376672" cy="475488"/>
          </a:xfrm>
          <a:prstGeom prst="rect">
            <a:avLst/>
          </a:prstGeom>
          <a:solidFill>
            <a:srgbClr val="2D0709"/>
          </a:solidFill>
          <a:ln w="12700">
            <a:solidFill>
              <a:srgbClr val="2D0709"/>
            </a:solidFill>
            <a:prstDash val="solid"/>
          </a:ln>
        </p:spPr>
      </p:sp>
      <p:sp>
        <p:nvSpPr>
          <p:cNvPr id="14" name="Text 12"/>
          <p:cNvSpPr txBox="1"/>
          <p:nvPr/>
        </p:nvSpPr>
        <p:spPr>
          <a:xfrm>
            <a:off x="6510528" y="2176272"/>
            <a:ext cx="2615184" cy="310896"/>
          </a:xfrm>
          <a:prstGeom prst="rect">
            <a:avLst/>
          </a:prstGeom>
          <a:noFill/>
          <a:ln/>
        </p:spPr>
        <p:txBody>
          <a:bodyPr wrap="square" lIns="0" tIns="0" rIns="0" bIns="0" rtlCol="0" anchor="ctr"/>
          <a:lstStyle/>
          <a:p>
            <a:pPr marL="0" indent="0">
              <a:buNone/>
            </a:pPr>
            <a:r>
              <a:rPr lang="en-US" sz="1100" dirty="0">
                <a:solidFill>
                  <a:srgbClr val="FFFFFF"/>
                </a:solidFill>
                <a:latin typeface="Courier New" pitchFamily="34" charset="0"/>
                <a:ea typeface="Courier New" pitchFamily="34" charset="-122"/>
                <a:cs typeface="Courier New" pitchFamily="34" charset="-120"/>
              </a:rPr>
              <a:t>ACME.APPDATA.QUEUE</a:t>
            </a:r>
            <a:endParaRPr lang="en-US" sz="1100" dirty="0"/>
          </a:p>
        </p:txBody>
      </p:sp>
      <p:sp>
        <p:nvSpPr>
          <p:cNvPr id="15" name="Text 13"/>
          <p:cNvSpPr txBox="1"/>
          <p:nvPr/>
        </p:nvSpPr>
        <p:spPr>
          <a:xfrm>
            <a:off x="9180576" y="2176272"/>
            <a:ext cx="731520" cy="310896"/>
          </a:xfrm>
          <a:prstGeom prst="rect">
            <a:avLst/>
          </a:prstGeom>
          <a:noFill/>
          <a:ln/>
        </p:spPr>
        <p:txBody>
          <a:bodyPr wrap="square" lIns="0" tIns="0" rIns="0" bIns="0" rtlCol="0" anchor="ctr"/>
          <a:lstStyle/>
          <a:p>
            <a:pPr marL="0" indent="0" algn="r">
              <a:buNone/>
            </a:pPr>
            <a:r>
              <a:rPr lang="en-US" sz="1100" dirty="0">
                <a:solidFill>
                  <a:srgbClr val="FFFFFF"/>
                </a:solidFill>
                <a:latin typeface="Courier New" pitchFamily="34" charset="0"/>
                <a:ea typeface="Courier New" pitchFamily="34" charset="-122"/>
                <a:cs typeface="Courier New" pitchFamily="34" charset="-120"/>
              </a:rPr>
              <a:t>850</a:t>
            </a:r>
            <a:endParaRPr lang="en-US" sz="1100" dirty="0"/>
          </a:p>
        </p:txBody>
      </p:sp>
      <p:sp>
        <p:nvSpPr>
          <p:cNvPr id="16" name="Text 14"/>
          <p:cNvSpPr txBox="1"/>
          <p:nvPr/>
        </p:nvSpPr>
        <p:spPr>
          <a:xfrm>
            <a:off x="9966960" y="2176272"/>
            <a:ext cx="731520" cy="310896"/>
          </a:xfrm>
          <a:prstGeom prst="rect">
            <a:avLst/>
          </a:prstGeom>
          <a:noFill/>
          <a:ln/>
        </p:spPr>
        <p:txBody>
          <a:bodyPr wrap="square" lIns="0" tIns="0" rIns="0" bIns="0" rtlCol="0" anchor="ctr"/>
          <a:lstStyle/>
          <a:p>
            <a:pPr marL="0" indent="0" algn="r">
              <a:buNone/>
            </a:pPr>
            <a:r>
              <a:rPr lang="en-US" sz="1100" dirty="0">
                <a:solidFill>
                  <a:srgbClr val="FFFFFF"/>
                </a:solidFill>
                <a:latin typeface="Courier New" pitchFamily="34" charset="0"/>
                <a:ea typeface="Courier New" pitchFamily="34" charset="-122"/>
                <a:cs typeface="Courier New" pitchFamily="34" charset="-120"/>
              </a:rPr>
              <a:t>0</a:t>
            </a:r>
            <a:endParaRPr lang="en-US" sz="1100" dirty="0"/>
          </a:p>
        </p:txBody>
      </p:sp>
      <p:sp>
        <p:nvSpPr>
          <p:cNvPr id="17" name="chip"/>
          <p:cNvSpPr/>
          <p:nvPr/>
        </p:nvSpPr>
        <p:spPr>
          <a:xfrm>
            <a:off x="10826496" y="2203704"/>
            <a:ext cx="768096" cy="256032"/>
          </a:xfrm>
          <a:prstGeom prst="rect">
            <a:avLst/>
          </a:prstGeom>
          <a:solidFill>
            <a:srgbClr val="DA1E28"/>
          </a:solidFill>
          <a:ln w="12700">
            <a:solidFill>
              <a:srgbClr val="DA1E28"/>
            </a:solidFill>
            <a:prstDash val="solid"/>
          </a:ln>
        </p:spPr>
      </p:sp>
      <p:sp>
        <p:nvSpPr>
          <p:cNvPr id="18" name="Text 16"/>
          <p:cNvSpPr txBox="1"/>
          <p:nvPr/>
        </p:nvSpPr>
        <p:spPr>
          <a:xfrm>
            <a:off x="10826496" y="2203704"/>
            <a:ext cx="768096" cy="256032"/>
          </a:xfrm>
          <a:prstGeom prst="rect">
            <a:avLst/>
          </a:prstGeom>
          <a:noFill/>
          <a:ln/>
        </p:spPr>
        <p:txBody>
          <a:bodyPr wrap="square" lIns="0" tIns="0" rIns="0" bIns="0" rtlCol="0" anchor="ctr"/>
          <a:lstStyle/>
          <a:p>
            <a:pPr marL="0" indent="0" algn="ctr">
              <a:buNone/>
            </a:pPr>
            <a:r>
              <a:rPr lang="en-US" sz="850" b="1" kern="0" spc="80" dirty="0">
                <a:solidFill>
                  <a:srgbClr val="FFFFFF"/>
                </a:solidFill>
              </a:rPr>
              <a:t>TICKET</a:t>
            </a:r>
            <a:endParaRPr lang="en-US" sz="850" dirty="0"/>
          </a:p>
        </p:txBody>
      </p:sp>
      <p:sp>
        <p:nvSpPr>
          <p:cNvPr id="19" name="row"/>
          <p:cNvSpPr/>
          <p:nvPr/>
        </p:nvSpPr>
        <p:spPr>
          <a:xfrm>
            <a:off x="6364224" y="2651760"/>
            <a:ext cx="5376672" cy="475488"/>
          </a:xfrm>
          <a:prstGeom prst="rect">
            <a:avLst/>
          </a:prstGeom>
          <a:solidFill>
            <a:srgbClr val="2D0709"/>
          </a:solidFill>
          <a:ln w="12700">
            <a:solidFill>
              <a:srgbClr val="2D0709"/>
            </a:solidFill>
            <a:prstDash val="solid"/>
          </a:ln>
        </p:spPr>
      </p:sp>
      <p:sp>
        <p:nvSpPr>
          <p:cNvPr id="20" name="Text 18"/>
          <p:cNvSpPr txBox="1"/>
          <p:nvPr/>
        </p:nvSpPr>
        <p:spPr>
          <a:xfrm>
            <a:off x="6510528" y="2724912"/>
            <a:ext cx="2615184" cy="310896"/>
          </a:xfrm>
          <a:prstGeom prst="rect">
            <a:avLst/>
          </a:prstGeom>
          <a:noFill/>
          <a:ln/>
        </p:spPr>
        <p:txBody>
          <a:bodyPr wrap="square" lIns="0" tIns="0" rIns="0" bIns="0" rtlCol="0" anchor="ctr"/>
          <a:lstStyle/>
          <a:p>
            <a:pPr marL="0" indent="0">
              <a:buNone/>
            </a:pPr>
            <a:r>
              <a:rPr lang="en-US" sz="1100" dirty="0">
                <a:solidFill>
                  <a:srgbClr val="FFFFFF"/>
                </a:solidFill>
                <a:latin typeface="Courier New" pitchFamily="34" charset="0"/>
                <a:ea typeface="Courier New" pitchFamily="34" charset="-122"/>
                <a:cs typeface="Courier New" pitchFamily="34" charset="-120"/>
              </a:rPr>
              <a:t>ACME.COMMERCE.QUEUE</a:t>
            </a:r>
            <a:endParaRPr lang="en-US" sz="1100" dirty="0"/>
          </a:p>
        </p:txBody>
      </p:sp>
      <p:sp>
        <p:nvSpPr>
          <p:cNvPr id="21" name="Text 19"/>
          <p:cNvSpPr txBox="1"/>
          <p:nvPr/>
        </p:nvSpPr>
        <p:spPr>
          <a:xfrm>
            <a:off x="9180576" y="2724912"/>
            <a:ext cx="731520" cy="310896"/>
          </a:xfrm>
          <a:prstGeom prst="rect">
            <a:avLst/>
          </a:prstGeom>
          <a:noFill/>
          <a:ln/>
        </p:spPr>
        <p:txBody>
          <a:bodyPr wrap="square" lIns="0" tIns="0" rIns="0" bIns="0" rtlCol="0" anchor="ctr"/>
          <a:lstStyle/>
          <a:p>
            <a:pPr marL="0" indent="0" algn="r">
              <a:buNone/>
            </a:pPr>
            <a:r>
              <a:rPr lang="en-US" sz="1100" dirty="0">
                <a:solidFill>
                  <a:srgbClr val="FFFFFF"/>
                </a:solidFill>
                <a:latin typeface="Courier New" pitchFamily="34" charset="0"/>
                <a:ea typeface="Courier New" pitchFamily="34" charset="-122"/>
                <a:cs typeface="Courier New" pitchFamily="34" charset="-120"/>
              </a:rPr>
              <a:t>3600</a:t>
            </a:r>
            <a:endParaRPr lang="en-US" sz="1100" dirty="0"/>
          </a:p>
        </p:txBody>
      </p:sp>
      <p:sp>
        <p:nvSpPr>
          <p:cNvPr id="22" name="Text 20"/>
          <p:cNvSpPr txBox="1"/>
          <p:nvPr/>
        </p:nvSpPr>
        <p:spPr>
          <a:xfrm>
            <a:off x="9966960" y="2724912"/>
            <a:ext cx="731520" cy="310896"/>
          </a:xfrm>
          <a:prstGeom prst="rect">
            <a:avLst/>
          </a:prstGeom>
          <a:noFill/>
          <a:ln/>
        </p:spPr>
        <p:txBody>
          <a:bodyPr wrap="square" lIns="0" tIns="0" rIns="0" bIns="0" rtlCol="0" anchor="ctr"/>
          <a:lstStyle/>
          <a:p>
            <a:pPr marL="0" indent="0" algn="r">
              <a:buNone/>
            </a:pPr>
            <a:r>
              <a:rPr lang="en-US" sz="1100" dirty="0">
                <a:solidFill>
                  <a:srgbClr val="FFFFFF"/>
                </a:solidFill>
                <a:latin typeface="Courier New" pitchFamily="34" charset="0"/>
                <a:ea typeface="Courier New" pitchFamily="34" charset="-122"/>
                <a:cs typeface="Courier New" pitchFamily="34" charset="-120"/>
              </a:rPr>
              <a:t>0</a:t>
            </a:r>
            <a:endParaRPr lang="en-US" sz="1100" dirty="0"/>
          </a:p>
        </p:txBody>
      </p:sp>
      <p:sp>
        <p:nvSpPr>
          <p:cNvPr id="23" name="chip"/>
          <p:cNvSpPr/>
          <p:nvPr/>
        </p:nvSpPr>
        <p:spPr>
          <a:xfrm>
            <a:off x="10826496" y="2752344"/>
            <a:ext cx="768096" cy="256032"/>
          </a:xfrm>
          <a:prstGeom prst="rect">
            <a:avLst/>
          </a:prstGeom>
          <a:solidFill>
            <a:srgbClr val="DA1E28"/>
          </a:solidFill>
          <a:ln w="12700">
            <a:solidFill>
              <a:srgbClr val="DA1E28"/>
            </a:solidFill>
            <a:prstDash val="solid"/>
          </a:ln>
        </p:spPr>
      </p:sp>
      <p:sp>
        <p:nvSpPr>
          <p:cNvPr id="24" name="Text 22"/>
          <p:cNvSpPr txBox="1"/>
          <p:nvPr/>
        </p:nvSpPr>
        <p:spPr>
          <a:xfrm>
            <a:off x="10826496" y="2752344"/>
            <a:ext cx="768096" cy="256032"/>
          </a:xfrm>
          <a:prstGeom prst="rect">
            <a:avLst/>
          </a:prstGeom>
          <a:noFill/>
          <a:ln/>
        </p:spPr>
        <p:txBody>
          <a:bodyPr wrap="square" lIns="0" tIns="0" rIns="0" bIns="0" rtlCol="0" anchor="ctr"/>
          <a:lstStyle/>
          <a:p>
            <a:pPr marL="0" indent="0" algn="ctr">
              <a:buNone/>
            </a:pPr>
            <a:r>
              <a:rPr lang="en-US" sz="850" b="1" kern="0" spc="80" dirty="0">
                <a:solidFill>
                  <a:srgbClr val="FFFFFF"/>
                </a:solidFill>
              </a:rPr>
              <a:t>TICKET</a:t>
            </a:r>
            <a:endParaRPr lang="en-US" sz="850" dirty="0"/>
          </a:p>
        </p:txBody>
      </p:sp>
      <p:sp>
        <p:nvSpPr>
          <p:cNvPr id="25" name="row"/>
          <p:cNvSpPr/>
          <p:nvPr/>
        </p:nvSpPr>
        <p:spPr>
          <a:xfrm>
            <a:off x="6364224" y="3200400"/>
            <a:ext cx="5376672" cy="475488"/>
          </a:xfrm>
          <a:prstGeom prst="rect">
            <a:avLst/>
          </a:prstGeom>
          <a:solidFill>
            <a:srgbClr val="1C1C1C"/>
          </a:solidFill>
          <a:ln w="12700">
            <a:solidFill>
              <a:srgbClr val="1C1C1C"/>
            </a:solidFill>
            <a:prstDash val="solid"/>
          </a:ln>
        </p:spPr>
      </p:sp>
      <p:sp>
        <p:nvSpPr>
          <p:cNvPr id="26" name="Text 24"/>
          <p:cNvSpPr txBox="1"/>
          <p:nvPr/>
        </p:nvSpPr>
        <p:spPr>
          <a:xfrm>
            <a:off x="6510528" y="3273552"/>
            <a:ext cx="2615184" cy="310896"/>
          </a:xfrm>
          <a:prstGeom prst="rect">
            <a:avLst/>
          </a:prstGeom>
          <a:noFill/>
          <a:ln/>
        </p:spPr>
        <p:txBody>
          <a:bodyPr wrap="square" lIns="0" tIns="0" rIns="0" bIns="0" rtlCol="0" anchor="ctr"/>
          <a:lstStyle/>
          <a:p>
            <a:pPr marL="0" indent="0">
              <a:buNone/>
            </a:pPr>
            <a:r>
              <a:rPr lang="en-US" sz="1100" dirty="0">
                <a:solidFill>
                  <a:srgbClr val="FFFFFF"/>
                </a:solidFill>
                <a:latin typeface="Courier New" pitchFamily="34" charset="0"/>
                <a:ea typeface="Courier New" pitchFamily="34" charset="-122"/>
                <a:cs typeface="Courier New" pitchFamily="34" charset="-120"/>
              </a:rPr>
              <a:t>SYSTEM.DEFAULT.LOCAL.QUEUE</a:t>
            </a:r>
            <a:endParaRPr lang="en-US" sz="1100" dirty="0"/>
          </a:p>
        </p:txBody>
      </p:sp>
      <p:sp>
        <p:nvSpPr>
          <p:cNvPr id="27" name="Text 25"/>
          <p:cNvSpPr txBox="1"/>
          <p:nvPr/>
        </p:nvSpPr>
        <p:spPr>
          <a:xfrm>
            <a:off x="9180576" y="3273552"/>
            <a:ext cx="731520" cy="310896"/>
          </a:xfrm>
          <a:prstGeom prst="rect">
            <a:avLst/>
          </a:prstGeom>
          <a:noFill/>
          <a:ln/>
        </p:spPr>
        <p:txBody>
          <a:bodyPr wrap="square" lIns="0" tIns="0" rIns="0" bIns="0" rtlCol="0" anchor="ctr"/>
          <a:lstStyle/>
          <a:p>
            <a:pPr marL="0" indent="0" algn="r">
              <a:buNone/>
            </a:pPr>
            <a:r>
              <a:rPr lang="en-US" sz="1100" dirty="0">
                <a:solidFill>
                  <a:srgbClr val="FFFFFF"/>
                </a:solidFill>
                <a:latin typeface="Courier New" pitchFamily="34" charset="0"/>
                <a:ea typeface="Courier New" pitchFamily="34" charset="-122"/>
                <a:cs typeface="Courier New" pitchFamily="34" charset="-120"/>
              </a:rPr>
              <a:t>0</a:t>
            </a:r>
            <a:endParaRPr lang="en-US" sz="1100" dirty="0"/>
          </a:p>
        </p:txBody>
      </p:sp>
      <p:sp>
        <p:nvSpPr>
          <p:cNvPr id="28" name="Text 26"/>
          <p:cNvSpPr txBox="1"/>
          <p:nvPr/>
        </p:nvSpPr>
        <p:spPr>
          <a:xfrm>
            <a:off x="9966960" y="3273552"/>
            <a:ext cx="731520" cy="310896"/>
          </a:xfrm>
          <a:prstGeom prst="rect">
            <a:avLst/>
          </a:prstGeom>
          <a:noFill/>
          <a:ln/>
        </p:spPr>
        <p:txBody>
          <a:bodyPr wrap="square" lIns="0" tIns="0" rIns="0" bIns="0" rtlCol="0" anchor="ctr"/>
          <a:lstStyle/>
          <a:p>
            <a:pPr marL="0" indent="0" algn="r">
              <a:buNone/>
            </a:pPr>
            <a:r>
              <a:rPr lang="en-US" sz="1100" dirty="0">
                <a:solidFill>
                  <a:srgbClr val="FFFFFF"/>
                </a:solidFill>
                <a:latin typeface="Courier New" pitchFamily="34" charset="0"/>
                <a:ea typeface="Courier New" pitchFamily="34" charset="-122"/>
                <a:cs typeface="Courier New" pitchFamily="34" charset="-120"/>
              </a:rPr>
              <a:t>0</a:t>
            </a:r>
            <a:endParaRPr lang="en-US" sz="1100" dirty="0"/>
          </a:p>
        </p:txBody>
      </p:sp>
      <p:sp>
        <p:nvSpPr>
          <p:cNvPr id="29" name="Text 27"/>
          <p:cNvSpPr txBox="1"/>
          <p:nvPr/>
        </p:nvSpPr>
        <p:spPr>
          <a:xfrm>
            <a:off x="10826496" y="3273552"/>
            <a:ext cx="768096" cy="310896"/>
          </a:xfrm>
          <a:prstGeom prst="rect">
            <a:avLst/>
          </a:prstGeom>
          <a:noFill/>
          <a:ln/>
        </p:spPr>
        <p:txBody>
          <a:bodyPr wrap="square" lIns="0" tIns="0" rIns="0" bIns="0" rtlCol="0" anchor="ctr"/>
          <a:lstStyle/>
          <a:p>
            <a:pPr marL="0" indent="0" algn="ctr">
              <a:buNone/>
            </a:pPr>
            <a:r>
              <a:rPr lang="en-US" sz="1000" dirty="0">
                <a:solidFill>
                  <a:srgbClr val="6F6F6F"/>
                </a:solidFill>
                <a:latin typeface="Courier New" pitchFamily="34" charset="0"/>
                <a:ea typeface="Courier New" pitchFamily="34" charset="-122"/>
                <a:cs typeface="Courier New" pitchFamily="34" charset="-120"/>
              </a:rPr>
              <a:t>ok</a:t>
            </a:r>
            <a:endParaRPr lang="en-US" sz="1000" dirty="0"/>
          </a:p>
        </p:txBody>
      </p:sp>
      <p:sp>
        <p:nvSpPr>
          <p:cNvPr id="30" name="finding"/>
          <p:cNvSpPr/>
          <p:nvPr/>
        </p:nvSpPr>
        <p:spPr>
          <a:xfrm>
            <a:off x="6364224" y="3767328"/>
            <a:ext cx="5376672" cy="804672"/>
          </a:xfrm>
          <a:prstGeom prst="rect">
            <a:avLst/>
          </a:prstGeom>
          <a:solidFill>
            <a:srgbClr val="262626"/>
          </a:solidFill>
          <a:ln w="12700">
            <a:solidFill>
              <a:srgbClr val="262626"/>
            </a:solidFill>
            <a:prstDash val="solid"/>
          </a:ln>
        </p:spPr>
      </p:sp>
      <p:sp>
        <p:nvSpPr>
          <p:cNvPr id="31" name="Text 29"/>
          <p:cNvSpPr txBox="1"/>
          <p:nvPr/>
        </p:nvSpPr>
        <p:spPr>
          <a:xfrm>
            <a:off x="6601968" y="3931920"/>
            <a:ext cx="5010912" cy="512064"/>
          </a:xfrm>
          <a:prstGeom prst="rect">
            <a:avLst/>
          </a:prstGeom>
          <a:noFill/>
          <a:ln/>
        </p:spPr>
        <p:txBody>
          <a:bodyPr wrap="square" lIns="0" tIns="0" rIns="0" bIns="0" rtlCol="0" anchor="ctr"/>
          <a:lstStyle/>
          <a:p>
            <a:pPr marL="0" indent="0">
              <a:lnSpc>
                <a:spcPts val="1800"/>
              </a:lnSpc>
              <a:buNone/>
            </a:pPr>
            <a:r>
              <a:rPr lang="en-US" sz="1300" b="1" dirty="0">
                <a:solidFill>
                  <a:srgbClr val="FFFFFF"/>
                </a:solidFill>
              </a:rPr>
              <a:t>Two tickets, not one. </a:t>
            </a:r>
            <a:r>
              <a:rPr lang="en-US" sz="1300" dirty="0">
                <a:solidFill>
                  <a:srgbClr val="C6C6C6"/>
                </a:solidFill>
              </a:rPr>
              <a:t>The sweep found a queue we had not broken on purpose — stuck since last week.</a:t>
            </a:r>
            <a:endParaRPr lang="en-US" sz="1300" dirty="0"/>
          </a:p>
        </p:txBody>
      </p:sp>
      <p:sp>
        <p:nvSpPr>
          <p:cNvPr id="32" name="where"/>
          <p:cNvSpPr/>
          <p:nvPr/>
        </p:nvSpPr>
        <p:spPr>
          <a:xfrm>
            <a:off x="566928" y="4535424"/>
            <a:ext cx="5532120" cy="1188720"/>
          </a:xfrm>
          <a:prstGeom prst="rect">
            <a:avLst/>
          </a:prstGeom>
          <a:solidFill>
            <a:srgbClr val="262626"/>
          </a:solidFill>
          <a:ln w="12700">
            <a:solidFill>
              <a:srgbClr val="262626"/>
            </a:solidFill>
            <a:prstDash val="solid"/>
          </a:ln>
        </p:spPr>
      </p:sp>
      <p:sp>
        <p:nvSpPr>
          <p:cNvPr id="33" name="Text 31"/>
          <p:cNvSpPr txBox="1"/>
          <p:nvPr/>
        </p:nvSpPr>
        <p:spPr>
          <a:xfrm>
            <a:off x="804672" y="4718304"/>
            <a:ext cx="2743200" cy="237744"/>
          </a:xfrm>
          <a:prstGeom prst="rect">
            <a:avLst/>
          </a:prstGeom>
          <a:noFill/>
          <a:ln/>
        </p:spPr>
        <p:txBody>
          <a:bodyPr wrap="square" lIns="0" tIns="0" rIns="0" bIns="0" rtlCol="0" anchor="ctr"/>
          <a:lstStyle/>
          <a:p>
            <a:pPr marL="0" indent="0">
              <a:buNone/>
            </a:pPr>
            <a:r>
              <a:rPr lang="en-US" sz="950" kern="0" spc="140" dirty="0">
                <a:solidFill>
                  <a:srgbClr val="0F62FE"/>
                </a:solidFill>
                <a:latin typeface="Courier New" pitchFamily="34" charset="0"/>
                <a:ea typeface="Courier New" pitchFamily="34" charset="-122"/>
                <a:cs typeface="Courier New" pitchFamily="34" charset="-120"/>
              </a:rPr>
              <a:t>WHERE IT RUNS</a:t>
            </a:r>
            <a:endParaRPr lang="en-US" sz="950" dirty="0"/>
          </a:p>
        </p:txBody>
      </p:sp>
      <p:sp>
        <p:nvSpPr>
          <p:cNvPr id="34" name="Text 32"/>
          <p:cNvSpPr txBox="1"/>
          <p:nvPr/>
        </p:nvSpPr>
        <p:spPr>
          <a:xfrm>
            <a:off x="804672" y="4992624"/>
            <a:ext cx="5029200" cy="603504"/>
          </a:xfrm>
          <a:prstGeom prst="rect">
            <a:avLst/>
          </a:prstGeom>
          <a:noFill/>
          <a:ln/>
        </p:spPr>
        <p:txBody>
          <a:bodyPr wrap="square" lIns="0" tIns="0" rIns="0" bIns="0" rtlCol="0" anchor="ctr"/>
          <a:lstStyle/>
          <a:p>
            <a:pPr marL="0" indent="0">
              <a:lnSpc>
                <a:spcPts val="1700"/>
              </a:lnSpc>
              <a:buNone/>
            </a:pPr>
            <a:r>
              <a:rPr lang="en-US" sz="1250" dirty="0">
                <a:solidFill>
                  <a:srgbClr val="C6C6C6"/>
                </a:solidFill>
              </a:rPr>
              <a:t>One MQSC call per queue manager, on a schedule. The MQ Agent covers up to twenty queue managers; the sweep covers the same estate in one pass.</a:t>
            </a:r>
            <a:endParaRPr lang="en-US" sz="1250" dirty="0"/>
          </a:p>
        </p:txBody>
      </p:sp>
      <p:sp>
        <p:nvSpPr>
          <p:cNvPr id="35" name="Text 33"/>
          <p:cNvSpPr txBox="1"/>
          <p:nvPr/>
        </p:nvSpPr>
        <p:spPr>
          <a:xfrm>
            <a:off x="566928" y="5907024"/>
            <a:ext cx="9144000" cy="256032"/>
          </a:xfrm>
          <a:prstGeom prst="rect">
            <a:avLst/>
          </a:prstGeom>
          <a:noFill/>
          <a:ln/>
        </p:spPr>
        <p:txBody>
          <a:bodyPr wrap="square" lIns="0" tIns="0" rIns="0" bIns="0" rtlCol="0" anchor="ctr"/>
          <a:lstStyle/>
          <a:p>
            <a:pPr marL="0" indent="0">
              <a:buNone/>
            </a:pPr>
            <a:r>
              <a:rPr lang="en-US" sz="1000" dirty="0">
                <a:solidFill>
                  <a:srgbClr val="6F6F6F"/>
                </a:solidFill>
              </a:rPr>
              <a:t>Depths are live from QMS1.  No connected user applications — IBM MQ Console, Overview.</a:t>
            </a:r>
            <a:endParaRPr lang="en-US" sz="1000" dirty="0"/>
          </a:p>
        </p:txBody>
      </p:sp>
      <p:sp>
        <p:nvSpPr>
          <p:cNvPr id="36" name="Slide Number Placeholder 0"/>
          <p:cNvSpPr>
            <a:spLocks noGrp="1"/>
          </p:cNvSpPr>
          <p:nvPr>
            <p:ph type="sldNum" sz="quarter" idx="4294967295"/>
          </p:nvPr>
        </p:nvSpPr>
        <p:spPr>
          <a:xfrm>
            <a:off x="11430000" y="6364224"/>
            <a:ext cx="365760"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6F6F6F"/>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66928" y="384048"/>
            <a:ext cx="10424160" cy="713232"/>
          </a:xfrm>
          <a:prstGeom prst="rect">
            <a:avLst/>
          </a:prstGeom>
          <a:noFill/>
          <a:ln/>
        </p:spPr>
        <p:txBody>
          <a:bodyPr wrap="square" rtlCol="0" anchor="t"/>
          <a:lstStyle/>
          <a:p>
            <a:pPr marL="0" indent="0" algn="l">
              <a:buNone/>
            </a:pPr>
            <a:r>
              <a:rPr lang="en-US" sz="3200" b="1" kern="0" spc="-40" dirty="0">
                <a:solidFill>
                  <a:srgbClr val="161616"/>
                </a:solidFill>
              </a:rPr>
              <a:t>The enhancement is one line</a:t>
            </a:r>
            <a:endParaRPr lang="en-US" sz="3200" dirty="0"/>
          </a:p>
        </p:txBody>
      </p:sp>
      <p:sp>
        <p:nvSpPr>
          <p:cNvPr id="3" name="ticket-raw"/>
          <p:cNvSpPr/>
          <p:nvPr/>
        </p:nvSpPr>
        <p:spPr>
          <a:xfrm>
            <a:off x="566928" y="1536192"/>
            <a:ext cx="5358384" cy="3255264"/>
          </a:xfrm>
          <a:prstGeom prst="rect">
            <a:avLst/>
          </a:prstGeom>
          <a:solidFill>
            <a:srgbClr val="F4F4F4"/>
          </a:solidFill>
          <a:ln w="12700">
            <a:solidFill>
              <a:srgbClr val="F4F4F4"/>
            </a:solidFill>
            <a:prstDash val="solid"/>
          </a:ln>
        </p:spPr>
      </p:sp>
      <p:sp>
        <p:nvSpPr>
          <p:cNvPr id="4" name="Text 2"/>
          <p:cNvSpPr txBox="1"/>
          <p:nvPr/>
        </p:nvSpPr>
        <p:spPr>
          <a:xfrm>
            <a:off x="841248" y="1737360"/>
            <a:ext cx="3657600" cy="237744"/>
          </a:xfrm>
          <a:prstGeom prst="rect">
            <a:avLst/>
          </a:prstGeom>
          <a:noFill/>
          <a:ln/>
        </p:spPr>
        <p:txBody>
          <a:bodyPr wrap="square" lIns="0" tIns="0" rIns="0" bIns="0" rtlCol="0" anchor="ctr"/>
          <a:lstStyle/>
          <a:p>
            <a:pPr marL="0" indent="0">
              <a:buNone/>
            </a:pPr>
            <a:r>
              <a:rPr lang="en-US" sz="950" kern="0" spc="140" dirty="0">
                <a:solidFill>
                  <a:srgbClr val="6F6F6F"/>
                </a:solidFill>
                <a:latin typeface="Courier New" pitchFamily="34" charset="0"/>
                <a:ea typeface="Courier New" pitchFamily="34" charset="-122"/>
                <a:cs typeface="Courier New" pitchFamily="34" charset="-120"/>
              </a:rPr>
              <a:t>TICKET AS RAISED</a:t>
            </a:r>
            <a:endParaRPr lang="en-US" sz="950" dirty="0"/>
          </a:p>
        </p:txBody>
      </p:sp>
      <p:sp>
        <p:nvSpPr>
          <p:cNvPr id="5" name="Text 3"/>
          <p:cNvSpPr txBox="1"/>
          <p:nvPr/>
        </p:nvSpPr>
        <p:spPr>
          <a:xfrm>
            <a:off x="841248" y="2084832"/>
            <a:ext cx="4809744" cy="2103120"/>
          </a:xfrm>
          <a:prstGeom prst="rect">
            <a:avLst/>
          </a:prstGeom>
          <a:noFill/>
          <a:ln/>
        </p:spPr>
        <p:txBody>
          <a:bodyPr wrap="square" lIns="0" tIns="0" rIns="0" bIns="0" rtlCol="0" anchor="t"/>
          <a:lstStyle/>
          <a:p>
            <a:pPr marL="0" indent="0">
              <a:lnSpc>
                <a:spcPts val="2100"/>
              </a:lnSpc>
              <a:buNone/>
            </a:pPr>
            <a:r>
              <a:rPr lang="en-US" sz="1250" dirty="0">
                <a:solidFill>
                  <a:srgbClr val="8D8D8D"/>
                </a:solidFill>
                <a:latin typeface="Courier New" pitchFamily="34" charset="0"/>
                <a:ea typeface="Courier New" pitchFamily="34" charset="-122"/>
                <a:cs typeface="Courier New" pitchFamily="34" charset="-120"/>
              </a:rPr>
              <a:t>ID        </a:t>
            </a:r>
            <a:r>
              <a:rPr lang="en-US" sz="1250" dirty="0">
                <a:solidFill>
                  <a:srgbClr val="161616"/>
                </a:solidFill>
                <a:latin typeface="Courier New" pitchFamily="34" charset="0"/>
                <a:ea typeface="Courier New" pitchFamily="34" charset="-122"/>
                <a:cs typeface="Courier New" pitchFamily="34" charset="-120"/>
              </a:rPr>
              <a:t>INC-0042
</a:t>
            </a:r>
            <a:r>
              <a:rPr lang="en-US" sz="1250" dirty="0">
                <a:solidFill>
                  <a:srgbClr val="8D8D8D"/>
                </a:solidFill>
                <a:latin typeface="Courier New" pitchFamily="34" charset="0"/>
                <a:ea typeface="Courier New" pitchFamily="34" charset="-122"/>
                <a:cs typeface="Courier New" pitchFamily="34" charset="-120"/>
              </a:rPr>
              <a:t>SOURCE    </a:t>
            </a:r>
            <a:r>
              <a:rPr lang="en-US" sz="1250" dirty="0">
                <a:solidFill>
                  <a:srgbClr val="161616"/>
                </a:solidFill>
                <a:latin typeface="Courier New" pitchFamily="34" charset="0"/>
                <a:ea typeface="Courier New" pitchFamily="34" charset="-122"/>
                <a:cs typeface="Courier New" pitchFamily="34" charset="-120"/>
              </a:rPr>
              <a:t>qstatus sweep
</a:t>
            </a:r>
            <a:r>
              <a:rPr lang="en-US" sz="1250" dirty="0">
                <a:solidFill>
                  <a:srgbClr val="8D8D8D"/>
                </a:solidFill>
                <a:latin typeface="Courier New" pitchFamily="34" charset="0"/>
                <a:ea typeface="Courier New" pitchFamily="34" charset="-122"/>
                <a:cs typeface="Courier New" pitchFamily="34" charset="-120"/>
              </a:rPr>
              <a:t>QMGR      </a:t>
            </a:r>
            <a:r>
              <a:rPr lang="en-US" sz="1250" dirty="0">
                <a:solidFill>
                  <a:srgbClr val="161616"/>
                </a:solidFill>
                <a:latin typeface="Courier New" pitchFamily="34" charset="0"/>
                <a:ea typeface="Courier New" pitchFamily="34" charset="-122"/>
                <a:cs typeface="Courier New" pitchFamily="34" charset="-120"/>
              </a:rPr>
              <a:t>QMS1
</a:t>
            </a:r>
            <a:r>
              <a:rPr lang="en-US" sz="1250" dirty="0">
                <a:solidFill>
                  <a:srgbClr val="8D8D8D"/>
                </a:solidFill>
                <a:latin typeface="Courier New" pitchFamily="34" charset="0"/>
                <a:ea typeface="Courier New" pitchFamily="34" charset="-122"/>
                <a:cs typeface="Courier New" pitchFamily="34" charset="-120"/>
              </a:rPr>
              <a:t>QUEUE     </a:t>
            </a:r>
            <a:r>
              <a:rPr lang="en-US" sz="1250" dirty="0">
                <a:solidFill>
                  <a:srgbClr val="161616"/>
                </a:solidFill>
                <a:latin typeface="Courier New" pitchFamily="34" charset="0"/>
                <a:ea typeface="Courier New" pitchFamily="34" charset="-122"/>
                <a:cs typeface="Courier New" pitchFamily="34" charset="-120"/>
              </a:rPr>
              <a:t>ACME.APPDATA.QUEUE
</a:t>
            </a:r>
            <a:r>
              <a:rPr lang="en-US" sz="1250" dirty="0">
                <a:solidFill>
                  <a:srgbClr val="8D8D8D"/>
                </a:solidFill>
                <a:latin typeface="Courier New" pitchFamily="34" charset="0"/>
                <a:ea typeface="Courier New" pitchFamily="34" charset="-122"/>
                <a:cs typeface="Courier New" pitchFamily="34" charset="-120"/>
              </a:rPr>
              <a:t>CURDEPTH  </a:t>
            </a:r>
            <a:r>
              <a:rPr lang="en-US" sz="1250" dirty="0">
                <a:solidFill>
                  <a:srgbClr val="161616"/>
                </a:solidFill>
                <a:latin typeface="Courier New" pitchFamily="34" charset="0"/>
                <a:ea typeface="Courier New" pitchFamily="34" charset="-122"/>
                <a:cs typeface="Courier New" pitchFamily="34" charset="-120"/>
              </a:rPr>
              <a:t>850
</a:t>
            </a:r>
            <a:r>
              <a:rPr lang="en-US" sz="1250" dirty="0">
                <a:solidFill>
                  <a:srgbClr val="8D8D8D"/>
                </a:solidFill>
                <a:latin typeface="Courier New" pitchFamily="34" charset="0"/>
                <a:ea typeface="Courier New" pitchFamily="34" charset="-122"/>
                <a:cs typeface="Courier New" pitchFamily="34" charset="-120"/>
              </a:rPr>
              <a:t>IPPROCS   </a:t>
            </a:r>
            <a:r>
              <a:rPr lang="en-US" sz="1250" dirty="0">
                <a:solidFill>
                  <a:srgbClr val="161616"/>
                </a:solidFill>
                <a:latin typeface="Courier New" pitchFamily="34" charset="0"/>
                <a:ea typeface="Courier New" pitchFamily="34" charset="-122"/>
                <a:cs typeface="Courier New" pitchFamily="34" charset="-120"/>
              </a:rPr>
              <a:t>0
</a:t>
            </a:r>
            <a:r>
              <a:rPr lang="en-US" sz="1250" dirty="0">
                <a:solidFill>
                  <a:srgbClr val="8D8D8D"/>
                </a:solidFill>
                <a:latin typeface="Courier New" pitchFamily="34" charset="0"/>
                <a:ea typeface="Courier New" pitchFamily="34" charset="-122"/>
                <a:cs typeface="Courier New" pitchFamily="34" charset="-120"/>
              </a:rPr>
              <a:t>SEVERITY  </a:t>
            </a:r>
            <a:r>
              <a:rPr lang="en-US" sz="1250" dirty="0">
                <a:solidFill>
                  <a:srgbClr val="161616"/>
                </a:solidFill>
                <a:latin typeface="Courier New" pitchFamily="34" charset="0"/>
                <a:ea typeface="Courier New" pitchFamily="34" charset="-122"/>
                <a:cs typeface="Courier New" pitchFamily="34" charset="-120"/>
              </a:rPr>
              <a:t>High</a:t>
            </a:r>
            <a:endParaRPr lang="en-US" sz="1250" dirty="0"/>
          </a:p>
        </p:txBody>
      </p:sp>
      <p:sp>
        <p:nvSpPr>
          <p:cNvPr id="6" name="Text 4"/>
          <p:cNvSpPr txBox="1"/>
          <p:nvPr/>
        </p:nvSpPr>
        <p:spPr>
          <a:xfrm>
            <a:off x="841248" y="4315968"/>
            <a:ext cx="4809744" cy="274320"/>
          </a:xfrm>
          <a:prstGeom prst="rect">
            <a:avLst/>
          </a:prstGeom>
          <a:noFill/>
          <a:ln/>
        </p:spPr>
        <p:txBody>
          <a:bodyPr wrap="square" lIns="0" tIns="0" rIns="0" bIns="0" rtlCol="0" anchor="ctr"/>
          <a:lstStyle/>
          <a:p>
            <a:pPr marL="0" indent="0">
              <a:buNone/>
            </a:pPr>
            <a:r>
              <a:rPr lang="en-US" sz="1200" i="1" dirty="0">
                <a:solidFill>
                  <a:srgbClr val="6F6F6F"/>
                </a:solidFill>
              </a:rPr>
              <a:t>Accurate, and useless to an agent.</a:t>
            </a:r>
            <a:endParaRPr lang="en-US" sz="1200" dirty="0"/>
          </a:p>
        </p:txBody>
      </p:sp>
      <p:sp>
        <p:nvSpPr>
          <p:cNvPr id="7" name="arrow"/>
          <p:cNvSpPr/>
          <p:nvPr/>
        </p:nvSpPr>
        <p:spPr>
          <a:xfrm>
            <a:off x="5971032" y="3163824"/>
            <a:ext cx="219456" cy="0"/>
          </a:xfrm>
          <a:prstGeom prst="line">
            <a:avLst/>
          </a:prstGeom>
          <a:noFill/>
          <a:ln w="31750">
            <a:solidFill>
              <a:srgbClr val="161616"/>
            </a:solidFill>
            <a:prstDash val="solid"/>
            <a:tailEnd type="triangle"/>
          </a:ln>
        </p:spPr>
      </p:sp>
      <p:sp>
        <p:nvSpPr>
          <p:cNvPr id="8" name="ticket-enhanced"/>
          <p:cNvSpPr/>
          <p:nvPr/>
        </p:nvSpPr>
        <p:spPr>
          <a:xfrm>
            <a:off x="6236208" y="1536192"/>
            <a:ext cx="5358384" cy="3255264"/>
          </a:xfrm>
          <a:prstGeom prst="rect">
            <a:avLst/>
          </a:prstGeom>
          <a:solidFill>
            <a:srgbClr val="EDF5FF"/>
          </a:solidFill>
          <a:ln w="19050">
            <a:solidFill>
              <a:srgbClr val="0F62FE"/>
            </a:solidFill>
            <a:prstDash val="solid"/>
          </a:ln>
        </p:spPr>
      </p:sp>
      <p:sp>
        <p:nvSpPr>
          <p:cNvPr id="9" name="Text 7"/>
          <p:cNvSpPr txBox="1"/>
          <p:nvPr/>
        </p:nvSpPr>
        <p:spPr>
          <a:xfrm>
            <a:off x="6510528" y="1737360"/>
            <a:ext cx="3657600" cy="237744"/>
          </a:xfrm>
          <a:prstGeom prst="rect">
            <a:avLst/>
          </a:prstGeom>
          <a:noFill/>
          <a:ln/>
        </p:spPr>
        <p:txBody>
          <a:bodyPr wrap="square" lIns="0" tIns="0" rIns="0" bIns="0" rtlCol="0" anchor="ctr"/>
          <a:lstStyle/>
          <a:p>
            <a:pPr marL="0" indent="0">
              <a:buNone/>
            </a:pPr>
            <a:r>
              <a:rPr lang="en-US" sz="950" kern="0" spc="140" dirty="0">
                <a:solidFill>
                  <a:srgbClr val="0043CE"/>
                </a:solidFill>
                <a:latin typeface="Courier New" pitchFamily="34" charset="0"/>
                <a:ea typeface="Courier New" pitchFamily="34" charset="-122"/>
                <a:cs typeface="Courier New" pitchFamily="34" charset="-120"/>
              </a:rPr>
              <a:t>AFTER THE ENHANCER</a:t>
            </a:r>
            <a:endParaRPr lang="en-US" sz="950" dirty="0"/>
          </a:p>
        </p:txBody>
      </p:sp>
      <p:sp>
        <p:nvSpPr>
          <p:cNvPr id="10" name="Text 8"/>
          <p:cNvSpPr txBox="1"/>
          <p:nvPr/>
        </p:nvSpPr>
        <p:spPr>
          <a:xfrm>
            <a:off x="6510528" y="2084832"/>
            <a:ext cx="4809744" cy="1225296"/>
          </a:xfrm>
          <a:prstGeom prst="rect">
            <a:avLst/>
          </a:prstGeom>
          <a:noFill/>
          <a:ln/>
        </p:spPr>
        <p:txBody>
          <a:bodyPr wrap="square" lIns="0" tIns="0" rIns="0" bIns="0" rtlCol="0" anchor="t"/>
          <a:lstStyle/>
          <a:p>
            <a:pPr marL="0" indent="0">
              <a:lnSpc>
                <a:spcPts val="2100"/>
              </a:lnSpc>
              <a:buNone/>
            </a:pPr>
            <a:r>
              <a:rPr lang="en-US" sz="1250" dirty="0">
                <a:solidFill>
                  <a:srgbClr val="8D8D8D"/>
                </a:solidFill>
                <a:latin typeface="Courier New" pitchFamily="34" charset="0"/>
                <a:ea typeface="Courier New" pitchFamily="34" charset="-122"/>
                <a:cs typeface="Courier New" pitchFamily="34" charset="-120"/>
              </a:rPr>
              <a:t>ID        </a:t>
            </a:r>
            <a:r>
              <a:rPr lang="en-US" sz="1250" dirty="0">
                <a:solidFill>
                  <a:srgbClr val="4D5358"/>
                </a:solidFill>
                <a:latin typeface="Courier New" pitchFamily="34" charset="0"/>
                <a:ea typeface="Courier New" pitchFamily="34" charset="-122"/>
                <a:cs typeface="Courier New" pitchFamily="34" charset="-120"/>
              </a:rPr>
              <a:t>INC-0042
</a:t>
            </a:r>
            <a:r>
              <a:rPr lang="en-US" sz="1250" dirty="0">
                <a:solidFill>
                  <a:srgbClr val="8D8D8D"/>
                </a:solidFill>
                <a:latin typeface="Courier New" pitchFamily="34" charset="0"/>
                <a:ea typeface="Courier New" pitchFamily="34" charset="-122"/>
                <a:cs typeface="Courier New" pitchFamily="34" charset="-120"/>
              </a:rPr>
              <a:t>QMGR      </a:t>
            </a:r>
            <a:r>
              <a:rPr lang="en-US" sz="1250" dirty="0">
                <a:solidFill>
                  <a:srgbClr val="4D5358"/>
                </a:solidFill>
                <a:latin typeface="Courier New" pitchFamily="34" charset="0"/>
                <a:ea typeface="Courier New" pitchFamily="34" charset="-122"/>
                <a:cs typeface="Courier New" pitchFamily="34" charset="-120"/>
              </a:rPr>
              <a:t>QMS1
</a:t>
            </a:r>
            <a:r>
              <a:rPr lang="en-US" sz="1250" dirty="0">
                <a:solidFill>
                  <a:srgbClr val="8D8D8D"/>
                </a:solidFill>
                <a:latin typeface="Courier New" pitchFamily="34" charset="0"/>
                <a:ea typeface="Courier New" pitchFamily="34" charset="-122"/>
                <a:cs typeface="Courier New" pitchFamily="34" charset="-120"/>
              </a:rPr>
              <a:t>QUEUE     </a:t>
            </a:r>
            <a:r>
              <a:rPr lang="en-US" sz="1250" dirty="0">
                <a:solidFill>
                  <a:srgbClr val="4D5358"/>
                </a:solidFill>
                <a:latin typeface="Courier New" pitchFamily="34" charset="0"/>
                <a:ea typeface="Courier New" pitchFamily="34" charset="-122"/>
                <a:cs typeface="Courier New" pitchFamily="34" charset="-120"/>
              </a:rPr>
              <a:t>ACME.APPDATA.QUEUE
</a:t>
            </a:r>
            <a:r>
              <a:rPr lang="en-US" sz="1250" dirty="0">
                <a:solidFill>
                  <a:srgbClr val="8D8D8D"/>
                </a:solidFill>
                <a:latin typeface="Courier New" pitchFamily="34" charset="0"/>
                <a:ea typeface="Courier New" pitchFamily="34" charset="-122"/>
                <a:cs typeface="Courier New" pitchFamily="34" charset="-120"/>
              </a:rPr>
              <a:t>CURDEPTH  </a:t>
            </a:r>
            <a:r>
              <a:rPr lang="en-US" sz="1250" dirty="0">
                <a:solidFill>
                  <a:srgbClr val="4D5358"/>
                </a:solidFill>
                <a:latin typeface="Courier New" pitchFamily="34" charset="0"/>
                <a:ea typeface="Courier New" pitchFamily="34" charset="-122"/>
                <a:cs typeface="Courier New" pitchFamily="34" charset="-120"/>
              </a:rPr>
              <a:t>850
</a:t>
            </a:r>
            <a:endParaRPr lang="en-US" sz="1250" dirty="0"/>
          </a:p>
        </p:txBody>
      </p:sp>
      <p:sp>
        <p:nvSpPr>
          <p:cNvPr id="11" name="code-block"/>
          <p:cNvSpPr/>
          <p:nvPr/>
        </p:nvSpPr>
        <p:spPr>
          <a:xfrm>
            <a:off x="6510528" y="3291840"/>
            <a:ext cx="4809744" cy="950976"/>
          </a:xfrm>
          <a:prstGeom prst="rect">
            <a:avLst/>
          </a:prstGeom>
          <a:solidFill>
            <a:srgbClr val="262626"/>
          </a:solidFill>
          <a:ln w="12700">
            <a:solidFill>
              <a:srgbClr val="262626"/>
            </a:solidFill>
            <a:prstDash val="solid"/>
          </a:ln>
        </p:spPr>
      </p:sp>
      <p:sp>
        <p:nvSpPr>
          <p:cNvPr id="12" name="Text 10"/>
          <p:cNvSpPr txBox="1"/>
          <p:nvPr/>
        </p:nvSpPr>
        <p:spPr>
          <a:xfrm>
            <a:off x="6711696" y="3438144"/>
            <a:ext cx="4407408" cy="658368"/>
          </a:xfrm>
          <a:prstGeom prst="rect">
            <a:avLst/>
          </a:prstGeom>
          <a:noFill/>
          <a:ln/>
        </p:spPr>
        <p:txBody>
          <a:bodyPr wrap="square" lIns="0" tIns="0" rIns="0" bIns="0" rtlCol="0" anchor="t"/>
          <a:lstStyle/>
          <a:p>
            <a:pPr marL="0" indent="0">
              <a:lnSpc>
                <a:spcPts val="1740"/>
              </a:lnSpc>
              <a:buNone/>
            </a:pPr>
            <a:r>
              <a:rPr lang="en-US" sz="1200" dirty="0">
                <a:solidFill>
                  <a:srgbClr val="78A9FF"/>
                </a:solidFill>
                <a:latin typeface="Courier New" pitchFamily="34" charset="0"/>
                <a:ea typeface="Courier New" pitchFamily="34" charset="-122"/>
                <a:cs typeface="Courier New" pitchFamily="34" charset="-120"/>
              </a:rPr>
              <a:t>INSTRUCTION
</a:t>
            </a:r>
            <a:r>
              <a:rPr lang="en-US" sz="1200" b="1" dirty="0">
                <a:solidFill>
                  <a:srgbClr val="FFFFFF"/>
                </a:solidFill>
                <a:latin typeface="Courier New" pitchFamily="34" charset="0"/>
                <a:ea typeface="Courier New" pitchFamily="34" charset="-122"/>
                <a:cs typeface="Courier New" pitchFamily="34" charset="-120"/>
              </a:rPr>
              <a:t>Diagnose Q ACME.APPDATA.QUEUE</a:t>
            </a:r>
            <a:endParaRPr lang="en-US" sz="1200" dirty="0"/>
          </a:p>
          <a:p>
            <a:pPr marL="0" indent="0">
              <a:lnSpc>
                <a:spcPts val="1740"/>
              </a:lnSpc>
              <a:buNone/>
            </a:pPr>
            <a:r>
              <a:rPr lang="en-US" sz="1200" b="1" dirty="0">
                <a:solidFill>
                  <a:srgbClr val="FFFFFF"/>
                </a:solidFill>
                <a:latin typeface="Courier New" pitchFamily="34" charset="0"/>
                <a:ea typeface="Courier New" pitchFamily="34" charset="-122"/>
                <a:cs typeface="Courier New" pitchFamily="34" charset="-120"/>
              </a:rPr>
              <a:t>on Q Manager QMS1</a:t>
            </a:r>
            <a:endParaRPr lang="en-US" sz="1200" dirty="0"/>
          </a:p>
        </p:txBody>
      </p:sp>
      <p:sp>
        <p:nvSpPr>
          <p:cNvPr id="13" name="Text 11"/>
          <p:cNvSpPr txBox="1"/>
          <p:nvPr/>
        </p:nvSpPr>
        <p:spPr>
          <a:xfrm>
            <a:off x="6510528" y="4315968"/>
            <a:ext cx="4809744" cy="274320"/>
          </a:xfrm>
          <a:prstGeom prst="rect">
            <a:avLst/>
          </a:prstGeom>
          <a:noFill/>
          <a:ln/>
        </p:spPr>
        <p:txBody>
          <a:bodyPr wrap="square" lIns="0" tIns="0" rIns="0" bIns="0" rtlCol="0" anchor="ctr"/>
          <a:lstStyle/>
          <a:p>
            <a:pPr marL="0" indent="0">
              <a:buNone/>
            </a:pPr>
            <a:r>
              <a:rPr lang="en-US" sz="1200" i="1" dirty="0">
                <a:solidFill>
                  <a:srgbClr val="0043CE"/>
                </a:solidFill>
              </a:rPr>
              <a:t>Two field substitutions. That is the whole enhancer.</a:t>
            </a:r>
            <a:endParaRPr lang="en-US" sz="1200" dirty="0"/>
          </a:p>
        </p:txBody>
      </p:sp>
      <p:sp>
        <p:nvSpPr>
          <p:cNvPr id="14" name="template"/>
          <p:cNvSpPr/>
          <p:nvPr/>
        </p:nvSpPr>
        <p:spPr>
          <a:xfrm>
            <a:off x="566928" y="5029200"/>
            <a:ext cx="11027664" cy="786384"/>
          </a:xfrm>
          <a:prstGeom prst="rect">
            <a:avLst/>
          </a:prstGeom>
          <a:solidFill>
            <a:srgbClr val="F4F4F4"/>
          </a:solidFill>
          <a:ln w="12700">
            <a:solidFill>
              <a:srgbClr val="F4F4F4"/>
            </a:solidFill>
            <a:prstDash val="solid"/>
          </a:ln>
        </p:spPr>
      </p:sp>
      <p:sp>
        <p:nvSpPr>
          <p:cNvPr id="15" name="Text 13"/>
          <p:cNvSpPr txBox="1"/>
          <p:nvPr/>
        </p:nvSpPr>
        <p:spPr>
          <a:xfrm>
            <a:off x="841248" y="5029200"/>
            <a:ext cx="10479024" cy="786384"/>
          </a:xfrm>
          <a:prstGeom prst="rect">
            <a:avLst/>
          </a:prstGeom>
          <a:noFill/>
          <a:ln/>
        </p:spPr>
        <p:txBody>
          <a:bodyPr wrap="square" lIns="0" tIns="0" rIns="0" bIns="0" rtlCol="0" anchor="ctr"/>
          <a:lstStyle/>
          <a:p>
            <a:pPr marL="0" indent="0">
              <a:buNone/>
            </a:pPr>
            <a:r>
              <a:rPr lang="en-US" sz="1400" dirty="0">
                <a:solidFill>
                  <a:srgbClr val="6F6F6F"/>
                </a:solidFill>
                <a:latin typeface="Arial" pitchFamily="34" charset="0"/>
                <a:ea typeface="Arial" pitchFamily="34" charset="-122"/>
                <a:cs typeface="Arial" pitchFamily="34" charset="-120"/>
              </a:rPr>
              <a:t>Template:   </a:t>
            </a:r>
            <a:r>
              <a:rPr lang="en-US" sz="1400" dirty="0">
                <a:solidFill>
                  <a:srgbClr val="161616"/>
                </a:solidFill>
                <a:latin typeface="Courier New" pitchFamily="34" charset="0"/>
                <a:ea typeface="Courier New" pitchFamily="34" charset="-122"/>
                <a:cs typeface="Courier New" pitchFamily="34" charset="-120"/>
              </a:rPr>
              <a:t>Diagnose Q </a:t>
            </a:r>
            <a:r>
              <a:rPr lang="en-US" sz="1400" b="1" dirty="0">
                <a:solidFill>
                  <a:srgbClr val="0F62FE"/>
                </a:solidFill>
                <a:latin typeface="Courier New" pitchFamily="34" charset="0"/>
                <a:ea typeface="Courier New" pitchFamily="34" charset="-122"/>
                <a:cs typeface="Courier New" pitchFamily="34" charset="-120"/>
              </a:rPr>
              <a:t>&lt;queue from ticket&gt;</a:t>
            </a:r>
            <a:r>
              <a:rPr lang="en-US" sz="1400" dirty="0">
                <a:solidFill>
                  <a:srgbClr val="161616"/>
                </a:solidFill>
                <a:latin typeface="Courier New" pitchFamily="34" charset="0"/>
                <a:ea typeface="Courier New" pitchFamily="34" charset="-122"/>
                <a:cs typeface="Courier New" pitchFamily="34" charset="-120"/>
              </a:rPr>
              <a:t> on Q Manager </a:t>
            </a:r>
            <a:r>
              <a:rPr lang="en-US" sz="1400" b="1" dirty="0">
                <a:solidFill>
                  <a:srgbClr val="0F62FE"/>
                </a:solidFill>
                <a:latin typeface="Courier New" pitchFamily="34" charset="0"/>
                <a:ea typeface="Courier New" pitchFamily="34" charset="-122"/>
                <a:cs typeface="Courier New" pitchFamily="34" charset="-120"/>
              </a:rPr>
              <a:t>&lt;queue manager from ticket&gt;</a:t>
            </a:r>
            <a:endParaRPr lang="en-US" sz="1400" dirty="0"/>
          </a:p>
        </p:txBody>
      </p:sp>
      <p:sp>
        <p:nvSpPr>
          <p:cNvPr id="25" name="Slide Number Placeholder 0"/>
          <p:cNvSpPr>
            <a:spLocks noGrp="1"/>
          </p:cNvSpPr>
          <p:nvPr>
            <p:ph type="sldNum" sz="quarter" idx="4294967295"/>
          </p:nvPr>
        </p:nvSpPr>
        <p:spPr>
          <a:xfrm>
            <a:off x="11430000" y="6364224"/>
            <a:ext cx="365760"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A8A8A8"/>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66928" y="384048"/>
            <a:ext cx="10424160" cy="713232"/>
          </a:xfrm>
          <a:prstGeom prst="rect">
            <a:avLst/>
          </a:prstGeom>
          <a:noFill/>
          <a:ln/>
        </p:spPr>
        <p:txBody>
          <a:bodyPr wrap="square" rtlCol="0" anchor="t"/>
          <a:lstStyle/>
          <a:p>
            <a:pPr marL="0" indent="0" algn="l">
              <a:buNone/>
            </a:pPr>
            <a:r>
              <a:rPr lang="en-US" sz="3200" b="1" kern="0" spc="-40" dirty="0">
                <a:solidFill>
                  <a:srgbClr val="FFFFFF"/>
                </a:solidFill>
              </a:rPr>
              <a:t>The answer</a:t>
            </a:r>
            <a:endParaRPr lang="en-US" sz="3200" dirty="0"/>
          </a:p>
        </p:txBody>
      </p:sp>
      <p:sp>
        <p:nvSpPr>
          <p:cNvPr id="3" name="chip"/>
          <p:cNvSpPr/>
          <p:nvPr/>
        </p:nvSpPr>
        <p:spPr>
          <a:xfrm>
            <a:off x="3291840" y="502920"/>
            <a:ext cx="1371600" cy="310896"/>
          </a:xfrm>
          <a:prstGeom prst="rect">
            <a:avLst/>
          </a:prstGeom>
          <a:solidFill>
            <a:srgbClr val="DA1E28"/>
          </a:solidFill>
          <a:ln w="12700">
            <a:solidFill>
              <a:srgbClr val="DA1E28"/>
            </a:solidFill>
            <a:prstDash val="solid"/>
          </a:ln>
        </p:spPr>
      </p:sp>
      <p:sp>
        <p:nvSpPr>
          <p:cNvPr id="4" name="Text 2"/>
          <p:cNvSpPr txBox="1"/>
          <p:nvPr/>
        </p:nvSpPr>
        <p:spPr>
          <a:xfrm>
            <a:off x="3291840" y="502920"/>
            <a:ext cx="1371600" cy="310896"/>
          </a:xfrm>
          <a:prstGeom prst="rect">
            <a:avLst/>
          </a:prstGeom>
          <a:noFill/>
          <a:ln/>
        </p:spPr>
        <p:txBody>
          <a:bodyPr wrap="square" lIns="0" tIns="0" rIns="0" bIns="0" rtlCol="0" anchor="ctr"/>
          <a:lstStyle/>
          <a:p>
            <a:pPr marL="0" indent="0" algn="ctr">
              <a:buNone/>
            </a:pPr>
            <a:r>
              <a:rPr lang="en-US" sz="900" b="1" kern="0" spc="80" dirty="0">
                <a:solidFill>
                  <a:srgbClr val="FFFFFF"/>
                </a:solidFill>
              </a:rPr>
              <a:t>SEVERITY HIGH</a:t>
            </a:r>
            <a:endParaRPr lang="en-US" sz="900" dirty="0"/>
          </a:p>
        </p:txBody>
      </p:sp>
      <p:sp>
        <p:nvSpPr>
          <p:cNvPr id="5" name="Text 3"/>
          <p:cNvSpPr txBox="1"/>
          <p:nvPr/>
        </p:nvSpPr>
        <p:spPr>
          <a:xfrm>
            <a:off x="566928" y="1389888"/>
            <a:ext cx="2743200" cy="219456"/>
          </a:xfrm>
          <a:prstGeom prst="rect">
            <a:avLst/>
          </a:prstGeom>
          <a:noFill/>
          <a:ln/>
        </p:spPr>
        <p:txBody>
          <a:bodyPr wrap="square" lIns="0" tIns="0" rIns="0" bIns="0" rtlCol="0" anchor="ctr"/>
          <a:lstStyle/>
          <a:p>
            <a:pPr marL="0" indent="0">
              <a:buNone/>
            </a:pPr>
            <a:r>
              <a:rPr lang="en-US" sz="950" kern="0" spc="140" dirty="0">
                <a:solidFill>
                  <a:srgbClr val="DA1E28"/>
                </a:solidFill>
                <a:latin typeface="Courier New" pitchFamily="34" charset="0"/>
                <a:ea typeface="Courier New" pitchFamily="34" charset="-122"/>
                <a:cs typeface="Courier New" pitchFamily="34" charset="-120"/>
              </a:rPr>
              <a:t>PRIMARY ISSUE</a:t>
            </a:r>
            <a:endParaRPr lang="en-US" sz="950" dirty="0"/>
          </a:p>
        </p:txBody>
      </p:sp>
      <p:sp>
        <p:nvSpPr>
          <p:cNvPr id="6" name="Text 4"/>
          <p:cNvSpPr txBox="1"/>
          <p:nvPr/>
        </p:nvSpPr>
        <p:spPr>
          <a:xfrm>
            <a:off x="566928" y="1645920"/>
            <a:ext cx="6492240" cy="603504"/>
          </a:xfrm>
          <a:prstGeom prst="rect">
            <a:avLst/>
          </a:prstGeom>
          <a:noFill/>
          <a:ln/>
        </p:spPr>
        <p:txBody>
          <a:bodyPr wrap="square" lIns="0" tIns="0" rIns="0" bIns="0" rtlCol="0" anchor="ctr"/>
          <a:lstStyle/>
          <a:p>
            <a:pPr marL="0" indent="0">
              <a:lnSpc>
                <a:spcPts val="2400"/>
              </a:lnSpc>
              <a:buNone/>
            </a:pPr>
            <a:r>
              <a:rPr lang="en-US" sz="1700" b="1" dirty="0">
                <a:solidFill>
                  <a:srgbClr val="FFFFFF"/>
                </a:solidFill>
              </a:rPr>
              <a:t>The queue is GET-DISABLED, so applications cannot retrieve messages. This is why the depth is growing.</a:t>
            </a:r>
            <a:endParaRPr lang="en-US" sz="1700" dirty="0"/>
          </a:p>
        </p:txBody>
      </p:sp>
      <p:sp>
        <p:nvSpPr>
          <p:cNvPr id="7" name="Text 5"/>
          <p:cNvSpPr txBox="1"/>
          <p:nvPr/>
        </p:nvSpPr>
        <p:spPr>
          <a:xfrm>
            <a:off x="566928" y="2395728"/>
            <a:ext cx="2743200" cy="219456"/>
          </a:xfrm>
          <a:prstGeom prst="rect">
            <a:avLst/>
          </a:prstGeom>
          <a:noFill/>
          <a:ln/>
        </p:spPr>
        <p:txBody>
          <a:bodyPr wrap="square" lIns="0" tIns="0" rIns="0" bIns="0" rtlCol="0" anchor="ctr"/>
          <a:lstStyle/>
          <a:p>
            <a:pPr marL="0" indent="0">
              <a:buNone/>
            </a:pPr>
            <a:r>
              <a:rPr lang="en-US" sz="950" kern="0" spc="140" dirty="0">
                <a:solidFill>
                  <a:srgbClr val="0F62FE"/>
                </a:solidFill>
                <a:latin typeface="Courier New" pitchFamily="34" charset="0"/>
                <a:ea typeface="Courier New" pitchFamily="34" charset="-122"/>
                <a:cs typeface="Courier New" pitchFamily="34" charset="-120"/>
              </a:rPr>
              <a:t>CURRENT METRICS</a:t>
            </a:r>
            <a:endParaRPr lang="en-US" sz="950" dirty="0"/>
          </a:p>
        </p:txBody>
      </p:sp>
      <p:sp>
        <p:nvSpPr>
          <p:cNvPr id="8" name="meter-track"/>
          <p:cNvSpPr/>
          <p:nvPr/>
        </p:nvSpPr>
        <p:spPr>
          <a:xfrm>
            <a:off x="566928" y="2706624"/>
            <a:ext cx="6492240" cy="182880"/>
          </a:xfrm>
          <a:prstGeom prst="rect">
            <a:avLst/>
          </a:prstGeom>
          <a:solidFill>
            <a:srgbClr val="393939"/>
          </a:solidFill>
          <a:ln w="12700">
            <a:solidFill>
              <a:srgbClr val="393939"/>
            </a:solidFill>
            <a:prstDash val="solid"/>
          </a:ln>
        </p:spPr>
      </p:sp>
      <p:sp>
        <p:nvSpPr>
          <p:cNvPr id="9" name="meter-fill"/>
          <p:cNvSpPr/>
          <p:nvPr/>
        </p:nvSpPr>
        <p:spPr>
          <a:xfrm>
            <a:off x="566928" y="2706624"/>
            <a:ext cx="5518404" cy="182880"/>
          </a:xfrm>
          <a:prstGeom prst="rect">
            <a:avLst/>
          </a:prstGeom>
          <a:solidFill>
            <a:srgbClr val="DA1E28"/>
          </a:solidFill>
          <a:ln w="12700">
            <a:solidFill>
              <a:srgbClr val="DA1E28"/>
            </a:solidFill>
            <a:prstDash val="solid"/>
          </a:ln>
        </p:spPr>
      </p:sp>
      <p:sp>
        <p:nvSpPr>
          <p:cNvPr id="10" name="Text 8"/>
          <p:cNvSpPr txBox="1"/>
          <p:nvPr/>
        </p:nvSpPr>
        <p:spPr>
          <a:xfrm>
            <a:off x="566928" y="2944368"/>
            <a:ext cx="6492240" cy="256032"/>
          </a:xfrm>
          <a:prstGeom prst="rect">
            <a:avLst/>
          </a:prstGeom>
          <a:noFill/>
          <a:ln/>
        </p:spPr>
        <p:txBody>
          <a:bodyPr wrap="square" lIns="0" tIns="0" rIns="0" bIns="0" rtlCol="0" anchor="ctr"/>
          <a:lstStyle/>
          <a:p>
            <a:pPr marL="0" indent="0">
              <a:buNone/>
            </a:pPr>
            <a:r>
              <a:rPr lang="en-US" sz="1150" dirty="0">
                <a:solidFill>
                  <a:srgbClr val="FFFFFF"/>
                </a:solidFill>
                <a:latin typeface="Courier New" pitchFamily="34" charset="0"/>
                <a:ea typeface="Courier New" pitchFamily="34" charset="-122"/>
                <a:cs typeface="Courier New" pitchFamily="34" charset="-120"/>
              </a:rPr>
              <a:t>CURDEPTH 850   /   MAXDEPTH 1000</a:t>
            </a:r>
            <a:r>
              <a:rPr lang="en-US" sz="1150" b="1" dirty="0">
                <a:solidFill>
                  <a:srgbClr val="FF8389"/>
                </a:solidFill>
                <a:latin typeface="Courier New" pitchFamily="34" charset="0"/>
                <a:ea typeface="Courier New" pitchFamily="34" charset="-122"/>
                <a:cs typeface="Courier New" pitchFamily="34" charset="-120"/>
              </a:rPr>
              <a:t>   85% full</a:t>
            </a:r>
            <a:endParaRPr lang="en-US" sz="1150" dirty="0"/>
          </a:p>
        </p:txBody>
      </p:sp>
      <p:sp>
        <p:nvSpPr>
          <p:cNvPr id="11" name="Text 9"/>
          <p:cNvSpPr txBox="1"/>
          <p:nvPr/>
        </p:nvSpPr>
        <p:spPr>
          <a:xfrm>
            <a:off x="566928" y="3218688"/>
            <a:ext cx="6492240" cy="256032"/>
          </a:xfrm>
          <a:prstGeom prst="rect">
            <a:avLst/>
          </a:prstGeom>
          <a:noFill/>
          <a:ln/>
        </p:spPr>
        <p:txBody>
          <a:bodyPr wrap="square" lIns="0" tIns="0" rIns="0" bIns="0" rtlCol="0" anchor="ctr"/>
          <a:lstStyle/>
          <a:p>
            <a:pPr marL="0" indent="0">
              <a:buNone/>
            </a:pPr>
            <a:r>
              <a:rPr lang="en-US" sz="1150" dirty="0">
                <a:solidFill>
                  <a:srgbClr val="C6C6C6"/>
                </a:solidFill>
                <a:latin typeface="Courier New" pitchFamily="34" charset="0"/>
                <a:ea typeface="Courier New" pitchFamily="34" charset="-122"/>
                <a:cs typeface="Courier New" pitchFamily="34" charset="-120"/>
              </a:rPr>
              <a:t>UNCOM 0</a:t>
            </a:r>
            <a:r>
              <a:rPr lang="en-US" sz="1150" dirty="0">
                <a:solidFill>
                  <a:srgbClr val="6F6F6F"/>
                </a:solidFill>
                <a:latin typeface="Courier New" pitchFamily="34" charset="0"/>
                <a:ea typeface="Courier New" pitchFamily="34" charset="-122"/>
                <a:cs typeface="Courier New" pitchFamily="34" charset="-120"/>
              </a:rPr>
              <a:t>  no in-flight transactions        </a:t>
            </a:r>
            <a:r>
              <a:rPr lang="en-US" sz="1150" dirty="0">
                <a:solidFill>
                  <a:srgbClr val="F1C21B"/>
                </a:solidFill>
                <a:latin typeface="Courier New" pitchFamily="34" charset="0"/>
                <a:ea typeface="Courier New" pitchFamily="34" charset="-122"/>
                <a:cs typeface="Courier New" pitchFamily="34" charset="-120"/>
              </a:rPr>
              <a:t>MONQ off</a:t>
            </a:r>
            <a:r>
              <a:rPr lang="en-US" sz="1150" dirty="0">
                <a:solidFill>
                  <a:srgbClr val="6F6F6F"/>
                </a:solidFill>
                <a:latin typeface="Courier New" pitchFamily="34" charset="0"/>
                <a:ea typeface="Courier New" pitchFamily="34" charset="-122"/>
                <a:cs typeface="Courier New" pitchFamily="34" charset="-120"/>
              </a:rPr>
              <a:t>  no put/get timestamps</a:t>
            </a:r>
            <a:endParaRPr lang="en-US" sz="1150" dirty="0"/>
          </a:p>
        </p:txBody>
      </p:sp>
      <p:sp>
        <p:nvSpPr>
          <p:cNvPr id="12" name="ruled-out"/>
          <p:cNvSpPr/>
          <p:nvPr/>
        </p:nvSpPr>
        <p:spPr>
          <a:xfrm>
            <a:off x="566928" y="3602736"/>
            <a:ext cx="6492240" cy="585216"/>
          </a:xfrm>
          <a:prstGeom prst="rect">
            <a:avLst/>
          </a:prstGeom>
          <a:solidFill>
            <a:srgbClr val="262626"/>
          </a:solidFill>
          <a:ln w="12700">
            <a:solidFill>
              <a:srgbClr val="262626"/>
            </a:solidFill>
            <a:prstDash val="solid"/>
          </a:ln>
        </p:spPr>
      </p:sp>
      <p:sp>
        <p:nvSpPr>
          <p:cNvPr id="13" name="Text 11"/>
          <p:cNvSpPr txBox="1"/>
          <p:nvPr/>
        </p:nvSpPr>
        <p:spPr>
          <a:xfrm>
            <a:off x="786384" y="3602736"/>
            <a:ext cx="6053328" cy="585216"/>
          </a:xfrm>
          <a:prstGeom prst="rect">
            <a:avLst/>
          </a:prstGeom>
          <a:noFill/>
          <a:ln/>
        </p:spPr>
        <p:txBody>
          <a:bodyPr wrap="square" lIns="0" tIns="0" rIns="0" bIns="0" rtlCol="0" anchor="ctr"/>
          <a:lstStyle/>
          <a:p>
            <a:pPr marL="0" indent="0">
              <a:buNone/>
            </a:pPr>
            <a:r>
              <a:rPr lang="en-US" sz="1200" b="1" dirty="0">
                <a:solidFill>
                  <a:srgbClr val="24A148"/>
                </a:solidFill>
              </a:rPr>
              <a:t>Ruled out:  </a:t>
            </a:r>
            <a:r>
              <a:rPr lang="en-US" sz="1200" dirty="0">
                <a:solidFill>
                  <a:srgbClr val="C6C6C6"/>
                </a:solidFill>
              </a:rPr>
              <a:t>high uncommitted counts, trigger issues, dead-letter routing</a:t>
            </a:r>
            <a:endParaRPr lang="en-US" sz="1200" dirty="0"/>
          </a:p>
        </p:txBody>
      </p:sp>
      <p:sp>
        <p:nvSpPr>
          <p:cNvPr id="14" name="Text 12"/>
          <p:cNvSpPr txBox="1"/>
          <p:nvPr/>
        </p:nvSpPr>
        <p:spPr>
          <a:xfrm>
            <a:off x="566928" y="4352544"/>
            <a:ext cx="3108960" cy="219456"/>
          </a:xfrm>
          <a:prstGeom prst="rect">
            <a:avLst/>
          </a:prstGeom>
          <a:noFill/>
          <a:ln/>
        </p:spPr>
        <p:txBody>
          <a:bodyPr wrap="square" lIns="0" tIns="0" rIns="0" bIns="0" rtlCol="0" anchor="ctr"/>
          <a:lstStyle/>
          <a:p>
            <a:pPr marL="0" indent="0">
              <a:buNone/>
            </a:pPr>
            <a:r>
              <a:rPr lang="en-US" sz="950" kern="0" spc="140" dirty="0">
                <a:solidFill>
                  <a:srgbClr val="24A148"/>
                </a:solidFill>
                <a:latin typeface="Courier New" pitchFamily="34" charset="0"/>
                <a:ea typeface="Courier New" pitchFamily="34" charset="-122"/>
                <a:cs typeface="Courier New" pitchFamily="34" charset="-120"/>
              </a:rPr>
              <a:t>RECOMMENDED ACTIONS</a:t>
            </a:r>
            <a:endParaRPr lang="en-US" sz="950" dirty="0"/>
          </a:p>
        </p:txBody>
      </p:sp>
      <p:sp>
        <p:nvSpPr>
          <p:cNvPr id="15" name="code-block"/>
          <p:cNvSpPr/>
          <p:nvPr/>
        </p:nvSpPr>
        <p:spPr>
          <a:xfrm>
            <a:off x="566928" y="4626864"/>
            <a:ext cx="6492240" cy="530352"/>
          </a:xfrm>
          <a:prstGeom prst="rect">
            <a:avLst/>
          </a:prstGeom>
          <a:solidFill>
            <a:srgbClr val="000000"/>
          </a:solidFill>
          <a:ln w="12700">
            <a:solidFill>
              <a:srgbClr val="000000"/>
            </a:solidFill>
            <a:prstDash val="solid"/>
          </a:ln>
        </p:spPr>
      </p:sp>
      <p:sp>
        <p:nvSpPr>
          <p:cNvPr id="16" name="Text 14"/>
          <p:cNvSpPr txBox="1"/>
          <p:nvPr/>
        </p:nvSpPr>
        <p:spPr>
          <a:xfrm>
            <a:off x="768096" y="4773168"/>
            <a:ext cx="6089904" cy="237744"/>
          </a:xfrm>
          <a:prstGeom prst="rect">
            <a:avLst/>
          </a:prstGeom>
          <a:noFill/>
          <a:ln/>
        </p:spPr>
        <p:txBody>
          <a:bodyPr wrap="square" lIns="0" tIns="0" rIns="0" bIns="0" rtlCol="0" anchor="t"/>
          <a:lstStyle/>
          <a:p>
            <a:pPr marL="0" indent="0">
              <a:lnSpc>
                <a:spcPts val="1740"/>
              </a:lnSpc>
              <a:buNone/>
            </a:pPr>
            <a:r>
              <a:rPr lang="en-US" sz="1200" dirty="0">
                <a:solidFill>
                  <a:srgbClr val="42BE65"/>
                </a:solidFill>
                <a:latin typeface="Courier New" pitchFamily="34" charset="0"/>
                <a:ea typeface="Courier New" pitchFamily="34" charset="-122"/>
                <a:cs typeface="Courier New" pitchFamily="34" charset="-120"/>
              </a:rPr>
              <a:t>ALTER QLOCAL('ACME.APPDATA.QUEUE') GET(ENABLED)</a:t>
            </a:r>
            <a:endParaRPr lang="en-US" sz="1200" dirty="0"/>
          </a:p>
        </p:txBody>
      </p:sp>
      <p:sp>
        <p:nvSpPr>
          <p:cNvPr id="17" name="Text 15"/>
          <p:cNvSpPr txBox="1"/>
          <p:nvPr/>
        </p:nvSpPr>
        <p:spPr>
          <a:xfrm>
            <a:off x="566928" y="5285232"/>
            <a:ext cx="6492240" cy="420624"/>
          </a:xfrm>
          <a:prstGeom prst="rect">
            <a:avLst/>
          </a:prstGeom>
          <a:noFill/>
          <a:ln/>
        </p:spPr>
        <p:txBody>
          <a:bodyPr wrap="square" lIns="0" tIns="0" rIns="0" bIns="0" rtlCol="0" anchor="ctr"/>
          <a:lstStyle/>
          <a:p>
            <a:pPr marL="0" indent="0">
              <a:lnSpc>
                <a:spcPts val="1700"/>
              </a:lnSpc>
              <a:buNone/>
            </a:pPr>
            <a:r>
              <a:rPr lang="en-US" sz="1200" dirty="0">
                <a:solidFill>
                  <a:srgbClr val="C6C6C6"/>
                </a:solidFill>
              </a:rPr>
              <a:t>Then: investigate why GET was disabled — recent config changes, deployments, or operational procedures.</a:t>
            </a:r>
            <a:endParaRPr lang="en-US" sz="1200" dirty="0"/>
          </a:p>
        </p:txBody>
      </p:sp>
      <p:sp>
        <p:nvSpPr>
          <p:cNvPr id="18" name="Text 16"/>
          <p:cNvSpPr txBox="1"/>
          <p:nvPr/>
        </p:nvSpPr>
        <p:spPr>
          <a:xfrm>
            <a:off x="566928" y="5907024"/>
            <a:ext cx="6766560" cy="256032"/>
          </a:xfrm>
          <a:prstGeom prst="rect">
            <a:avLst/>
          </a:prstGeom>
          <a:noFill/>
          <a:ln/>
        </p:spPr>
        <p:txBody>
          <a:bodyPr wrap="square" lIns="0" tIns="0" rIns="0" bIns="0" rtlCol="0" anchor="ctr"/>
          <a:lstStyle/>
          <a:p>
            <a:pPr marL="0" indent="0">
              <a:buNone/>
            </a:pPr>
            <a:r>
              <a:rPr lang="en-US" sz="1000" dirty="0">
                <a:solidFill>
                  <a:srgbClr val="6F6F6F"/>
                </a:solidFill>
              </a:rPr>
              <a:t>Decomposed from the live reply. The unedited transcript is in the appendix.</a:t>
            </a:r>
            <a:endParaRPr lang="en-US" sz="1000" dirty="0"/>
          </a:p>
        </p:txBody>
      </p:sp>
      <p:pic>
        <p:nvPicPr>
          <p:cNvPr id="19" name="Image 0" descr="/tmp/claude-1000/-mnt-c-users-ajaro-claude-mq-ai-agent/c53c6715-f279-413a-824c-5ac25e45cef0/scratchpad/agent-panel.png"/>
          <p:cNvPicPr>
            <a:picLocks noChangeAspect="1"/>
          </p:cNvPicPr>
          <p:nvPr/>
        </p:nvPicPr>
        <p:blipFill>
          <a:blip r:embed="rId3"/>
          <a:stretch>
            <a:fillRect/>
          </a:stretch>
        </p:blipFill>
        <p:spPr>
          <a:xfrm>
            <a:off x="7370064" y="1188720"/>
            <a:ext cx="1993392" cy="4334256"/>
          </a:xfrm>
          <a:prstGeom prst="rect">
            <a:avLst/>
          </a:prstGeom>
        </p:spPr>
      </p:pic>
      <p:sp>
        <p:nvSpPr>
          <p:cNvPr id="20" name="shot-frame"/>
          <p:cNvSpPr/>
          <p:nvPr/>
        </p:nvSpPr>
        <p:spPr>
          <a:xfrm>
            <a:off x="7370064" y="1188720"/>
            <a:ext cx="1993392" cy="4334256"/>
          </a:xfrm>
          <a:prstGeom prst="rect">
            <a:avLst/>
          </a:prstGeom>
          <a:solidFill>
            <a:srgbClr val="FFFFFF">
              <a:alpha val="0"/>
            </a:srgbClr>
          </a:solidFill>
          <a:ln w="12700">
            <a:solidFill>
              <a:srgbClr val="525252"/>
            </a:solidFill>
            <a:prstDash val="solid"/>
          </a:ln>
        </p:spPr>
      </p:sp>
      <p:sp>
        <p:nvSpPr>
          <p:cNvPr id="21" name="Text 18"/>
          <p:cNvSpPr txBox="1"/>
          <p:nvPr/>
        </p:nvSpPr>
        <p:spPr>
          <a:xfrm>
            <a:off x="7370064" y="5596128"/>
            <a:ext cx="1993392" cy="237744"/>
          </a:xfrm>
          <a:prstGeom prst="rect">
            <a:avLst/>
          </a:prstGeom>
          <a:noFill/>
          <a:ln/>
        </p:spPr>
        <p:txBody>
          <a:bodyPr wrap="square" lIns="0" tIns="0" rIns="0" bIns="0" rtlCol="0" anchor="ctr"/>
          <a:lstStyle/>
          <a:p>
            <a:pPr marL="0" indent="0" algn="ctr">
              <a:buNone/>
            </a:pPr>
            <a:r>
              <a:rPr lang="en-US" sz="950" dirty="0">
                <a:solidFill>
                  <a:srgbClr val="6F6F6F"/>
                </a:solidFill>
              </a:rPr>
              <a:t>as it appeared</a:t>
            </a:r>
            <a:endParaRPr lang="en-US" sz="950" dirty="0"/>
          </a:p>
        </p:txBody>
      </p:sp>
      <p:sp>
        <p:nvSpPr>
          <p:cNvPr id="22" name="takeaway"/>
          <p:cNvSpPr/>
          <p:nvPr/>
        </p:nvSpPr>
        <p:spPr>
          <a:xfrm>
            <a:off x="9692640" y="1188720"/>
            <a:ext cx="1901952" cy="4334256"/>
          </a:xfrm>
          <a:prstGeom prst="rect">
            <a:avLst/>
          </a:prstGeom>
          <a:solidFill>
            <a:srgbClr val="262626"/>
          </a:solidFill>
          <a:ln w="12700">
            <a:solidFill>
              <a:srgbClr val="262626"/>
            </a:solidFill>
            <a:prstDash val="solid"/>
          </a:ln>
        </p:spPr>
      </p:sp>
      <p:sp>
        <p:nvSpPr>
          <p:cNvPr id="23" name="agent-mark"/>
          <p:cNvSpPr/>
          <p:nvPr/>
        </p:nvSpPr>
        <p:spPr>
          <a:xfrm>
            <a:off x="9930384" y="1444752"/>
            <a:ext cx="457200" cy="457200"/>
          </a:xfrm>
          <a:prstGeom prst="rect">
            <a:avLst/>
          </a:prstGeom>
          <a:solidFill>
            <a:srgbClr val="161616"/>
          </a:solidFill>
          <a:ln w="15875">
            <a:solidFill>
              <a:srgbClr val="FFFFFF"/>
            </a:solidFill>
            <a:prstDash val="solid"/>
          </a:ln>
        </p:spPr>
      </p:sp>
      <p:sp>
        <p:nvSpPr>
          <p:cNvPr id="24" name="Text 21"/>
          <p:cNvSpPr txBox="1"/>
          <p:nvPr/>
        </p:nvSpPr>
        <p:spPr>
          <a:xfrm>
            <a:off x="9930384" y="1444752"/>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rPr>
              <a:t>AI</a:t>
            </a:r>
            <a:endParaRPr lang="en-US" sz="1500" dirty="0"/>
          </a:p>
        </p:txBody>
      </p:sp>
      <p:sp>
        <p:nvSpPr>
          <p:cNvPr id="25" name="Text 22"/>
          <p:cNvSpPr txBox="1"/>
          <p:nvPr/>
        </p:nvSpPr>
        <p:spPr>
          <a:xfrm>
            <a:off x="9930384" y="2066544"/>
            <a:ext cx="1463040" cy="365760"/>
          </a:xfrm>
          <a:prstGeom prst="rect">
            <a:avLst/>
          </a:prstGeom>
          <a:noFill/>
          <a:ln/>
        </p:spPr>
        <p:txBody>
          <a:bodyPr wrap="square" lIns="0" tIns="0" rIns="0" bIns="0" rtlCol="0" anchor="ctr"/>
          <a:lstStyle/>
          <a:p>
            <a:pPr marL="0" indent="0">
              <a:buNone/>
            </a:pPr>
            <a:r>
              <a:rPr lang="en-US" sz="2100" b="1" dirty="0">
                <a:solidFill>
                  <a:srgbClr val="FFFFFF"/>
                </a:solidFill>
              </a:rPr>
              <a:t>20 seconds</a:t>
            </a:r>
            <a:endParaRPr lang="en-US" sz="2100" dirty="0"/>
          </a:p>
        </p:txBody>
      </p:sp>
      <p:sp>
        <p:nvSpPr>
          <p:cNvPr id="26" name="Text 23"/>
          <p:cNvSpPr txBox="1"/>
          <p:nvPr/>
        </p:nvSpPr>
        <p:spPr>
          <a:xfrm>
            <a:off x="9930384" y="2505456"/>
            <a:ext cx="1463040" cy="1188720"/>
          </a:xfrm>
          <a:prstGeom prst="rect">
            <a:avLst/>
          </a:prstGeom>
          <a:noFill/>
          <a:ln/>
        </p:spPr>
        <p:txBody>
          <a:bodyPr wrap="square" lIns="0" tIns="0" rIns="0" bIns="0" rtlCol="0" anchor="ctr"/>
          <a:lstStyle/>
          <a:p>
            <a:pPr marL="0" indent="0">
              <a:lnSpc>
                <a:spcPts val="1700"/>
              </a:lnSpc>
              <a:buNone/>
            </a:pPr>
            <a:r>
              <a:rPr lang="en-US" sz="1200" dirty="0">
                <a:solidFill>
                  <a:srgbClr val="C6C6C6"/>
                </a:solidFill>
              </a:rPr>
              <a:t>from the enhanced ticket to a named root cause and the exact command that fixes it.</a:t>
            </a:r>
            <a:endParaRPr lang="en-US" sz="1200" dirty="0"/>
          </a:p>
        </p:txBody>
      </p:sp>
      <p:sp>
        <p:nvSpPr>
          <p:cNvPr id="27" name="Text 24"/>
          <p:cNvSpPr txBox="1"/>
          <p:nvPr/>
        </p:nvSpPr>
        <p:spPr>
          <a:xfrm>
            <a:off x="9930384" y="3803904"/>
            <a:ext cx="1463040" cy="786384"/>
          </a:xfrm>
          <a:prstGeom prst="rect">
            <a:avLst/>
          </a:prstGeom>
          <a:noFill/>
          <a:ln/>
        </p:spPr>
        <p:txBody>
          <a:bodyPr wrap="square" lIns="0" tIns="0" rIns="0" bIns="0" rtlCol="0" anchor="ctr"/>
          <a:lstStyle/>
          <a:p>
            <a:pPr marL="0" indent="0">
              <a:lnSpc>
                <a:spcPts val="1700"/>
              </a:lnSpc>
              <a:buNone/>
            </a:pPr>
            <a:r>
              <a:rPr lang="en-US" sz="1200" dirty="0">
                <a:solidFill>
                  <a:srgbClr val="C6C6C6"/>
                </a:solidFill>
              </a:rPr>
              <a:t>Three other causes ruled out without being asked.</a:t>
            </a:r>
            <a:endParaRPr lang="en-US" sz="1200" dirty="0"/>
          </a:p>
        </p:txBody>
      </p:sp>
      <p:sp>
        <p:nvSpPr>
          <p:cNvPr id="28" name="Text 25"/>
          <p:cNvSpPr txBox="1"/>
          <p:nvPr/>
        </p:nvSpPr>
        <p:spPr>
          <a:xfrm>
            <a:off x="9930384" y="4736592"/>
            <a:ext cx="1463040" cy="603504"/>
          </a:xfrm>
          <a:prstGeom prst="rect">
            <a:avLst/>
          </a:prstGeom>
          <a:noFill/>
          <a:ln/>
        </p:spPr>
        <p:txBody>
          <a:bodyPr wrap="square" lIns="0" tIns="0" rIns="0" bIns="0" rtlCol="0" anchor="ctr"/>
          <a:lstStyle/>
          <a:p>
            <a:pPr marL="0" indent="0">
              <a:lnSpc>
                <a:spcPts val="1600"/>
              </a:lnSpc>
              <a:buNone/>
            </a:pPr>
            <a:r>
              <a:rPr lang="en-US" sz="1150" i="1" dirty="0">
                <a:solidFill>
                  <a:srgbClr val="78A9FF"/>
                </a:solidFill>
              </a:rPr>
              <a:t>Nobody ran a single MQSC command.</a:t>
            </a:r>
            <a:endParaRPr lang="en-US" sz="1150" dirty="0"/>
          </a:p>
        </p:txBody>
      </p:sp>
      <p:sp>
        <p:nvSpPr>
          <p:cNvPr id="29" name="Slide Number Placeholder 0"/>
          <p:cNvSpPr>
            <a:spLocks noGrp="1"/>
          </p:cNvSpPr>
          <p:nvPr>
            <p:ph type="sldNum" sz="quarter" idx="4294967295"/>
          </p:nvPr>
        </p:nvSpPr>
        <p:spPr>
          <a:xfrm>
            <a:off x="11430000" y="6364224"/>
            <a:ext cx="365760"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6F6F6F"/>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66928" y="384048"/>
            <a:ext cx="10424160" cy="713232"/>
          </a:xfrm>
          <a:prstGeom prst="rect">
            <a:avLst/>
          </a:prstGeom>
          <a:noFill/>
          <a:ln/>
        </p:spPr>
        <p:txBody>
          <a:bodyPr wrap="square" rtlCol="0" anchor="t"/>
          <a:lstStyle/>
          <a:p>
            <a:pPr marL="0" indent="0" algn="l">
              <a:buNone/>
            </a:pPr>
            <a:r>
              <a:rPr lang="en-US" sz="3200" b="1" kern="0" spc="-40" dirty="0">
                <a:solidFill>
                  <a:srgbClr val="161616"/>
                </a:solidFill>
              </a:rPr>
              <a:t>QMS1, as the agent found it</a:t>
            </a:r>
            <a:endParaRPr lang="en-US" sz="3200" dirty="0"/>
          </a:p>
        </p:txBody>
      </p:sp>
      <p:sp>
        <p:nvSpPr>
          <p:cNvPr id="3" name="qmgr"/>
          <p:cNvSpPr/>
          <p:nvPr/>
        </p:nvSpPr>
        <p:spPr>
          <a:xfrm>
            <a:off x="2240280" y="1280160"/>
            <a:ext cx="7699248" cy="4498848"/>
          </a:xfrm>
          <a:prstGeom prst="rect">
            <a:avLst/>
          </a:prstGeom>
          <a:solidFill>
            <a:srgbClr val="FFFFFF"/>
          </a:solidFill>
          <a:ln w="22225">
            <a:solidFill>
              <a:srgbClr val="A8A8A8"/>
            </a:solidFill>
            <a:prstDash val="solid"/>
          </a:ln>
        </p:spPr>
      </p:sp>
      <p:sp>
        <p:nvSpPr>
          <p:cNvPr id="4" name="chip"/>
          <p:cNvSpPr/>
          <p:nvPr/>
        </p:nvSpPr>
        <p:spPr>
          <a:xfrm>
            <a:off x="2240280" y="1280160"/>
            <a:ext cx="1828800" cy="310896"/>
          </a:xfrm>
          <a:prstGeom prst="rect">
            <a:avLst/>
          </a:prstGeom>
          <a:solidFill>
            <a:srgbClr val="A8A8A8"/>
          </a:solidFill>
          <a:ln w="12700">
            <a:solidFill>
              <a:srgbClr val="A8A8A8"/>
            </a:solidFill>
            <a:prstDash val="solid"/>
          </a:ln>
        </p:spPr>
      </p:sp>
      <p:sp>
        <p:nvSpPr>
          <p:cNvPr id="5" name="Text 3"/>
          <p:cNvSpPr txBox="1"/>
          <p:nvPr/>
        </p:nvSpPr>
        <p:spPr>
          <a:xfrm>
            <a:off x="2240280" y="1280160"/>
            <a:ext cx="1828800" cy="310896"/>
          </a:xfrm>
          <a:prstGeom prst="rect">
            <a:avLst/>
          </a:prstGeom>
          <a:noFill/>
          <a:ln/>
        </p:spPr>
        <p:txBody>
          <a:bodyPr wrap="square" lIns="0" tIns="0" rIns="0" bIns="0" rtlCol="0" anchor="ctr"/>
          <a:lstStyle/>
          <a:p>
            <a:pPr marL="0" indent="0" algn="ctr">
              <a:buNone/>
            </a:pPr>
            <a:r>
              <a:rPr lang="en-US" sz="850" b="1" kern="0" spc="80" dirty="0">
                <a:solidFill>
                  <a:srgbClr val="FFFFFF"/>
                </a:solidFill>
              </a:rPr>
              <a:t>QUEUE MANAGER</a:t>
            </a:r>
            <a:endParaRPr lang="en-US" sz="850" dirty="0"/>
          </a:p>
        </p:txBody>
      </p:sp>
      <p:sp>
        <p:nvSpPr>
          <p:cNvPr id="6" name="Text 4"/>
          <p:cNvSpPr txBox="1"/>
          <p:nvPr/>
        </p:nvSpPr>
        <p:spPr>
          <a:xfrm>
            <a:off x="4251960" y="1298448"/>
            <a:ext cx="2743200" cy="292608"/>
          </a:xfrm>
          <a:prstGeom prst="rect">
            <a:avLst/>
          </a:prstGeom>
          <a:noFill/>
          <a:ln/>
        </p:spPr>
        <p:txBody>
          <a:bodyPr wrap="square" lIns="0" tIns="0" rIns="0" bIns="0" rtlCol="0" anchor="ctr"/>
          <a:lstStyle/>
          <a:p>
            <a:pPr marL="0" indent="0">
              <a:buNone/>
            </a:pPr>
            <a:r>
              <a:rPr lang="en-US" sz="1500" b="1" dirty="0">
                <a:solidFill>
                  <a:srgbClr val="161616"/>
                </a:solidFill>
              </a:rPr>
              <a:t>QMS1</a:t>
            </a:r>
            <a:endParaRPr lang="en-US" sz="1500" dirty="0"/>
          </a:p>
        </p:txBody>
      </p:sp>
      <p:sp>
        <p:nvSpPr>
          <p:cNvPr id="7" name="running-dot"/>
          <p:cNvSpPr/>
          <p:nvPr/>
        </p:nvSpPr>
        <p:spPr>
          <a:xfrm>
            <a:off x="9555480" y="1389888"/>
            <a:ext cx="128016" cy="128016"/>
          </a:xfrm>
          <a:prstGeom prst="ellipse">
            <a:avLst/>
          </a:prstGeom>
          <a:solidFill>
            <a:srgbClr val="24A148"/>
          </a:solidFill>
          <a:ln w="12700">
            <a:solidFill>
              <a:srgbClr val="24A148"/>
            </a:solidFill>
            <a:prstDash val="solid"/>
          </a:ln>
        </p:spPr>
      </p:sp>
      <p:sp>
        <p:nvSpPr>
          <p:cNvPr id="8" name="Text 6"/>
          <p:cNvSpPr txBox="1"/>
          <p:nvPr/>
        </p:nvSpPr>
        <p:spPr>
          <a:xfrm>
            <a:off x="8641080" y="1316736"/>
            <a:ext cx="804672" cy="274320"/>
          </a:xfrm>
          <a:prstGeom prst="rect">
            <a:avLst/>
          </a:prstGeom>
          <a:noFill/>
          <a:ln/>
        </p:spPr>
        <p:txBody>
          <a:bodyPr wrap="square" lIns="0" tIns="0" rIns="0" bIns="0" rtlCol="0" anchor="ctr"/>
          <a:lstStyle/>
          <a:p>
            <a:pPr marL="0" indent="0" algn="r">
              <a:buNone/>
            </a:pPr>
            <a:r>
              <a:rPr lang="en-US" sz="1000" dirty="0">
                <a:solidFill>
                  <a:srgbClr val="6F6F6F"/>
                </a:solidFill>
              </a:rPr>
              <a:t>running</a:t>
            </a:r>
            <a:endParaRPr lang="en-US" sz="1000" dirty="0"/>
          </a:p>
        </p:txBody>
      </p:sp>
      <p:sp>
        <p:nvSpPr>
          <p:cNvPr id="9" name="queue-appdata"/>
          <p:cNvSpPr/>
          <p:nvPr/>
        </p:nvSpPr>
        <p:spPr>
          <a:xfrm>
            <a:off x="2551176" y="1810512"/>
            <a:ext cx="7077456" cy="2395728"/>
          </a:xfrm>
          <a:prstGeom prst="rect">
            <a:avLst/>
          </a:prstGeom>
          <a:solidFill>
            <a:srgbClr val="F4F4F4"/>
          </a:solidFill>
          <a:ln w="12700">
            <a:solidFill>
              <a:srgbClr val="F4F4F4"/>
            </a:solidFill>
            <a:prstDash val="solid"/>
          </a:ln>
        </p:spPr>
      </p:sp>
      <p:sp>
        <p:nvSpPr>
          <p:cNvPr id="10" name="Text 8"/>
          <p:cNvSpPr txBox="1"/>
          <p:nvPr/>
        </p:nvSpPr>
        <p:spPr>
          <a:xfrm>
            <a:off x="2788920" y="1993392"/>
            <a:ext cx="3840480" cy="274320"/>
          </a:xfrm>
          <a:prstGeom prst="rect">
            <a:avLst/>
          </a:prstGeom>
          <a:noFill/>
          <a:ln/>
        </p:spPr>
        <p:txBody>
          <a:bodyPr wrap="square" lIns="0" tIns="0" rIns="0" bIns="0" rtlCol="0" anchor="ctr"/>
          <a:lstStyle/>
          <a:p>
            <a:pPr marL="0" indent="0">
              <a:buNone/>
            </a:pPr>
            <a:r>
              <a:rPr lang="en-US" sz="1400" b="1" dirty="0">
                <a:solidFill>
                  <a:srgbClr val="161616"/>
                </a:solidFill>
                <a:latin typeface="Courier New" pitchFamily="34" charset="0"/>
                <a:ea typeface="Courier New" pitchFamily="34" charset="-122"/>
                <a:cs typeface="Courier New" pitchFamily="34" charset="-120"/>
              </a:rPr>
              <a:t>ACME.APPDATA.QUEUE</a:t>
            </a:r>
            <a:endParaRPr lang="en-US" sz="1400" dirty="0"/>
          </a:p>
        </p:txBody>
      </p:sp>
      <p:sp>
        <p:nvSpPr>
          <p:cNvPr id="11" name="chip"/>
          <p:cNvSpPr/>
          <p:nvPr/>
        </p:nvSpPr>
        <p:spPr>
          <a:xfrm>
            <a:off x="8001000" y="1975104"/>
            <a:ext cx="1389888" cy="292608"/>
          </a:xfrm>
          <a:prstGeom prst="rect">
            <a:avLst/>
          </a:prstGeom>
          <a:solidFill>
            <a:srgbClr val="DA1E28"/>
          </a:solidFill>
          <a:ln w="12700">
            <a:solidFill>
              <a:srgbClr val="DA1E28"/>
            </a:solidFill>
            <a:prstDash val="solid"/>
          </a:ln>
        </p:spPr>
      </p:sp>
      <p:sp>
        <p:nvSpPr>
          <p:cNvPr id="12" name="Text 10"/>
          <p:cNvSpPr txBox="1"/>
          <p:nvPr/>
        </p:nvSpPr>
        <p:spPr>
          <a:xfrm>
            <a:off x="8001000" y="1975104"/>
            <a:ext cx="1389888" cy="292608"/>
          </a:xfrm>
          <a:prstGeom prst="rect">
            <a:avLst/>
          </a:prstGeom>
          <a:noFill/>
          <a:ln/>
        </p:spPr>
        <p:txBody>
          <a:bodyPr wrap="square" lIns="0" tIns="0" rIns="0" bIns="0" rtlCol="0" anchor="ctr"/>
          <a:lstStyle/>
          <a:p>
            <a:pPr marL="0" indent="0" algn="ctr">
              <a:buNone/>
            </a:pPr>
            <a:r>
              <a:rPr lang="en-US" sz="900" b="1" kern="0" spc="80" dirty="0">
                <a:solidFill>
                  <a:srgbClr val="FFFFFF"/>
                </a:solidFill>
              </a:rPr>
              <a:t>GET(DISABLED)</a:t>
            </a:r>
            <a:endParaRPr lang="en-US" sz="900" dirty="0"/>
          </a:p>
        </p:txBody>
      </p:sp>
      <p:sp>
        <p:nvSpPr>
          <p:cNvPr id="13" name="msg-square"/>
          <p:cNvSpPr/>
          <p:nvPr/>
        </p:nvSpPr>
        <p:spPr>
          <a:xfrm>
            <a:off x="3242462" y="2414016"/>
            <a:ext cx="164592" cy="164592"/>
          </a:xfrm>
          <a:prstGeom prst="rect">
            <a:avLst/>
          </a:prstGeom>
          <a:solidFill>
            <a:srgbClr val="0F62FE"/>
          </a:solidFill>
          <a:ln w="6350">
            <a:solidFill>
              <a:srgbClr val="0F62FE"/>
            </a:solidFill>
            <a:prstDash val="solid"/>
          </a:ln>
        </p:spPr>
      </p:sp>
      <p:sp>
        <p:nvSpPr>
          <p:cNvPr id="14" name="msg-square"/>
          <p:cNvSpPr/>
          <p:nvPr/>
        </p:nvSpPr>
        <p:spPr>
          <a:xfrm>
            <a:off x="3472891" y="2414016"/>
            <a:ext cx="164592" cy="164592"/>
          </a:xfrm>
          <a:prstGeom prst="rect">
            <a:avLst/>
          </a:prstGeom>
          <a:solidFill>
            <a:srgbClr val="0F62FE"/>
          </a:solidFill>
          <a:ln w="6350">
            <a:solidFill>
              <a:srgbClr val="0F62FE"/>
            </a:solidFill>
            <a:prstDash val="solid"/>
          </a:ln>
        </p:spPr>
      </p:sp>
      <p:sp>
        <p:nvSpPr>
          <p:cNvPr id="15" name="msg-square"/>
          <p:cNvSpPr/>
          <p:nvPr/>
        </p:nvSpPr>
        <p:spPr>
          <a:xfrm>
            <a:off x="3703320" y="2414016"/>
            <a:ext cx="164592" cy="164592"/>
          </a:xfrm>
          <a:prstGeom prst="rect">
            <a:avLst/>
          </a:prstGeom>
          <a:solidFill>
            <a:srgbClr val="0F62FE"/>
          </a:solidFill>
          <a:ln w="6350">
            <a:solidFill>
              <a:srgbClr val="0F62FE"/>
            </a:solidFill>
            <a:prstDash val="solid"/>
          </a:ln>
        </p:spPr>
      </p:sp>
      <p:sp>
        <p:nvSpPr>
          <p:cNvPr id="16" name="msg-square"/>
          <p:cNvSpPr/>
          <p:nvPr/>
        </p:nvSpPr>
        <p:spPr>
          <a:xfrm>
            <a:off x="3933749" y="2414016"/>
            <a:ext cx="164592" cy="164592"/>
          </a:xfrm>
          <a:prstGeom prst="rect">
            <a:avLst/>
          </a:prstGeom>
          <a:solidFill>
            <a:srgbClr val="0F62FE"/>
          </a:solidFill>
          <a:ln w="6350">
            <a:solidFill>
              <a:srgbClr val="0F62FE"/>
            </a:solidFill>
            <a:prstDash val="solid"/>
          </a:ln>
        </p:spPr>
      </p:sp>
      <p:sp>
        <p:nvSpPr>
          <p:cNvPr id="17" name="msg-square"/>
          <p:cNvSpPr/>
          <p:nvPr/>
        </p:nvSpPr>
        <p:spPr>
          <a:xfrm>
            <a:off x="4164178" y="2414016"/>
            <a:ext cx="164592" cy="164592"/>
          </a:xfrm>
          <a:prstGeom prst="rect">
            <a:avLst/>
          </a:prstGeom>
          <a:solidFill>
            <a:srgbClr val="0F62FE"/>
          </a:solidFill>
          <a:ln w="6350">
            <a:solidFill>
              <a:srgbClr val="0F62FE"/>
            </a:solidFill>
            <a:prstDash val="solid"/>
          </a:ln>
        </p:spPr>
      </p:sp>
      <p:sp>
        <p:nvSpPr>
          <p:cNvPr id="18" name="msg-square"/>
          <p:cNvSpPr/>
          <p:nvPr/>
        </p:nvSpPr>
        <p:spPr>
          <a:xfrm>
            <a:off x="4394606" y="2414016"/>
            <a:ext cx="164592" cy="164592"/>
          </a:xfrm>
          <a:prstGeom prst="rect">
            <a:avLst/>
          </a:prstGeom>
          <a:solidFill>
            <a:srgbClr val="0F62FE"/>
          </a:solidFill>
          <a:ln w="6350">
            <a:solidFill>
              <a:srgbClr val="0F62FE"/>
            </a:solidFill>
            <a:prstDash val="solid"/>
          </a:ln>
        </p:spPr>
      </p:sp>
      <p:sp>
        <p:nvSpPr>
          <p:cNvPr id="19" name="msg-square"/>
          <p:cNvSpPr/>
          <p:nvPr/>
        </p:nvSpPr>
        <p:spPr>
          <a:xfrm>
            <a:off x="4625035" y="2414016"/>
            <a:ext cx="164592" cy="164592"/>
          </a:xfrm>
          <a:prstGeom prst="rect">
            <a:avLst/>
          </a:prstGeom>
          <a:solidFill>
            <a:srgbClr val="0F62FE"/>
          </a:solidFill>
          <a:ln w="6350">
            <a:solidFill>
              <a:srgbClr val="0F62FE"/>
            </a:solidFill>
            <a:prstDash val="solid"/>
          </a:ln>
        </p:spPr>
      </p:sp>
      <p:sp>
        <p:nvSpPr>
          <p:cNvPr id="20" name="msg-square"/>
          <p:cNvSpPr/>
          <p:nvPr/>
        </p:nvSpPr>
        <p:spPr>
          <a:xfrm>
            <a:off x="4855464" y="2414016"/>
            <a:ext cx="164592" cy="164592"/>
          </a:xfrm>
          <a:prstGeom prst="rect">
            <a:avLst/>
          </a:prstGeom>
          <a:solidFill>
            <a:srgbClr val="0F62FE"/>
          </a:solidFill>
          <a:ln w="6350">
            <a:solidFill>
              <a:srgbClr val="0F62FE"/>
            </a:solidFill>
            <a:prstDash val="solid"/>
          </a:ln>
        </p:spPr>
      </p:sp>
      <p:sp>
        <p:nvSpPr>
          <p:cNvPr id="21" name="msg-square"/>
          <p:cNvSpPr/>
          <p:nvPr/>
        </p:nvSpPr>
        <p:spPr>
          <a:xfrm>
            <a:off x="5085893" y="2414016"/>
            <a:ext cx="164592" cy="164592"/>
          </a:xfrm>
          <a:prstGeom prst="rect">
            <a:avLst/>
          </a:prstGeom>
          <a:solidFill>
            <a:srgbClr val="0F62FE"/>
          </a:solidFill>
          <a:ln w="6350">
            <a:solidFill>
              <a:srgbClr val="0F62FE"/>
            </a:solidFill>
            <a:prstDash val="solid"/>
          </a:ln>
        </p:spPr>
      </p:sp>
      <p:sp>
        <p:nvSpPr>
          <p:cNvPr id="22" name="msg-square"/>
          <p:cNvSpPr/>
          <p:nvPr/>
        </p:nvSpPr>
        <p:spPr>
          <a:xfrm>
            <a:off x="5316322" y="2414016"/>
            <a:ext cx="164592" cy="164592"/>
          </a:xfrm>
          <a:prstGeom prst="rect">
            <a:avLst/>
          </a:prstGeom>
          <a:solidFill>
            <a:srgbClr val="0F62FE"/>
          </a:solidFill>
          <a:ln w="6350">
            <a:solidFill>
              <a:srgbClr val="0F62FE"/>
            </a:solidFill>
            <a:prstDash val="solid"/>
          </a:ln>
        </p:spPr>
      </p:sp>
      <p:sp>
        <p:nvSpPr>
          <p:cNvPr id="23" name="msg-square"/>
          <p:cNvSpPr/>
          <p:nvPr/>
        </p:nvSpPr>
        <p:spPr>
          <a:xfrm>
            <a:off x="5546750" y="2414016"/>
            <a:ext cx="164592" cy="164592"/>
          </a:xfrm>
          <a:prstGeom prst="rect">
            <a:avLst/>
          </a:prstGeom>
          <a:solidFill>
            <a:srgbClr val="0F62FE"/>
          </a:solidFill>
          <a:ln w="6350">
            <a:solidFill>
              <a:srgbClr val="0F62FE"/>
            </a:solidFill>
            <a:prstDash val="solid"/>
          </a:ln>
        </p:spPr>
      </p:sp>
      <p:sp>
        <p:nvSpPr>
          <p:cNvPr id="24" name="msg-square"/>
          <p:cNvSpPr/>
          <p:nvPr/>
        </p:nvSpPr>
        <p:spPr>
          <a:xfrm>
            <a:off x="5777179" y="2414016"/>
            <a:ext cx="164592" cy="164592"/>
          </a:xfrm>
          <a:prstGeom prst="rect">
            <a:avLst/>
          </a:prstGeom>
          <a:solidFill>
            <a:srgbClr val="0F62FE"/>
          </a:solidFill>
          <a:ln w="6350">
            <a:solidFill>
              <a:srgbClr val="0F62FE"/>
            </a:solidFill>
            <a:prstDash val="solid"/>
          </a:ln>
        </p:spPr>
      </p:sp>
      <p:sp>
        <p:nvSpPr>
          <p:cNvPr id="25" name="msg-square"/>
          <p:cNvSpPr/>
          <p:nvPr/>
        </p:nvSpPr>
        <p:spPr>
          <a:xfrm>
            <a:off x="6007608" y="2414016"/>
            <a:ext cx="164592" cy="164592"/>
          </a:xfrm>
          <a:prstGeom prst="rect">
            <a:avLst/>
          </a:prstGeom>
          <a:solidFill>
            <a:srgbClr val="0F62FE"/>
          </a:solidFill>
          <a:ln w="6350">
            <a:solidFill>
              <a:srgbClr val="0F62FE"/>
            </a:solidFill>
            <a:prstDash val="solid"/>
          </a:ln>
        </p:spPr>
      </p:sp>
      <p:sp>
        <p:nvSpPr>
          <p:cNvPr id="26" name="msg-square"/>
          <p:cNvSpPr/>
          <p:nvPr/>
        </p:nvSpPr>
        <p:spPr>
          <a:xfrm>
            <a:off x="6238037" y="2414016"/>
            <a:ext cx="164592" cy="164592"/>
          </a:xfrm>
          <a:prstGeom prst="rect">
            <a:avLst/>
          </a:prstGeom>
          <a:solidFill>
            <a:srgbClr val="0F62FE"/>
          </a:solidFill>
          <a:ln w="6350">
            <a:solidFill>
              <a:srgbClr val="0F62FE"/>
            </a:solidFill>
            <a:prstDash val="solid"/>
          </a:ln>
        </p:spPr>
      </p:sp>
      <p:sp>
        <p:nvSpPr>
          <p:cNvPr id="27" name="msg-square"/>
          <p:cNvSpPr/>
          <p:nvPr/>
        </p:nvSpPr>
        <p:spPr>
          <a:xfrm>
            <a:off x="6468466" y="2414016"/>
            <a:ext cx="164592" cy="164592"/>
          </a:xfrm>
          <a:prstGeom prst="rect">
            <a:avLst/>
          </a:prstGeom>
          <a:solidFill>
            <a:srgbClr val="0F62FE"/>
          </a:solidFill>
          <a:ln w="6350">
            <a:solidFill>
              <a:srgbClr val="0F62FE"/>
            </a:solidFill>
            <a:prstDash val="solid"/>
          </a:ln>
        </p:spPr>
      </p:sp>
      <p:sp>
        <p:nvSpPr>
          <p:cNvPr id="28" name="msg-square"/>
          <p:cNvSpPr/>
          <p:nvPr/>
        </p:nvSpPr>
        <p:spPr>
          <a:xfrm>
            <a:off x="6698894" y="2414016"/>
            <a:ext cx="164592" cy="164592"/>
          </a:xfrm>
          <a:prstGeom prst="rect">
            <a:avLst/>
          </a:prstGeom>
          <a:solidFill>
            <a:srgbClr val="0F62FE"/>
          </a:solidFill>
          <a:ln w="6350">
            <a:solidFill>
              <a:srgbClr val="0F62FE"/>
            </a:solidFill>
            <a:prstDash val="solid"/>
          </a:ln>
        </p:spPr>
      </p:sp>
      <p:sp>
        <p:nvSpPr>
          <p:cNvPr id="29" name="msg-square"/>
          <p:cNvSpPr/>
          <p:nvPr/>
        </p:nvSpPr>
        <p:spPr>
          <a:xfrm>
            <a:off x="6929323" y="2414016"/>
            <a:ext cx="164592" cy="164592"/>
          </a:xfrm>
          <a:prstGeom prst="rect">
            <a:avLst/>
          </a:prstGeom>
          <a:solidFill>
            <a:srgbClr val="0F62FE"/>
          </a:solidFill>
          <a:ln w="6350">
            <a:solidFill>
              <a:srgbClr val="0F62FE"/>
            </a:solidFill>
            <a:prstDash val="solid"/>
          </a:ln>
        </p:spPr>
      </p:sp>
      <p:sp>
        <p:nvSpPr>
          <p:cNvPr id="30" name="msg-square"/>
          <p:cNvSpPr/>
          <p:nvPr/>
        </p:nvSpPr>
        <p:spPr>
          <a:xfrm>
            <a:off x="7159752" y="2414016"/>
            <a:ext cx="164592" cy="164592"/>
          </a:xfrm>
          <a:prstGeom prst="rect">
            <a:avLst/>
          </a:prstGeom>
          <a:solidFill>
            <a:srgbClr val="0F62FE"/>
          </a:solidFill>
          <a:ln w="6350">
            <a:solidFill>
              <a:srgbClr val="0F62FE"/>
            </a:solidFill>
            <a:prstDash val="solid"/>
          </a:ln>
        </p:spPr>
      </p:sp>
      <p:sp>
        <p:nvSpPr>
          <p:cNvPr id="31" name="msg-square"/>
          <p:cNvSpPr/>
          <p:nvPr/>
        </p:nvSpPr>
        <p:spPr>
          <a:xfrm>
            <a:off x="7390181" y="2414016"/>
            <a:ext cx="164592" cy="164592"/>
          </a:xfrm>
          <a:prstGeom prst="rect">
            <a:avLst/>
          </a:prstGeom>
          <a:solidFill>
            <a:srgbClr val="0F62FE"/>
          </a:solidFill>
          <a:ln w="6350">
            <a:solidFill>
              <a:srgbClr val="0F62FE"/>
            </a:solidFill>
            <a:prstDash val="solid"/>
          </a:ln>
        </p:spPr>
      </p:sp>
      <p:sp>
        <p:nvSpPr>
          <p:cNvPr id="32" name="msg-square"/>
          <p:cNvSpPr/>
          <p:nvPr/>
        </p:nvSpPr>
        <p:spPr>
          <a:xfrm>
            <a:off x="7620610" y="2414016"/>
            <a:ext cx="164592" cy="164592"/>
          </a:xfrm>
          <a:prstGeom prst="rect">
            <a:avLst/>
          </a:prstGeom>
          <a:solidFill>
            <a:srgbClr val="0F62FE"/>
          </a:solidFill>
          <a:ln w="6350">
            <a:solidFill>
              <a:srgbClr val="0F62FE"/>
            </a:solidFill>
            <a:prstDash val="solid"/>
          </a:ln>
        </p:spPr>
      </p:sp>
      <p:sp>
        <p:nvSpPr>
          <p:cNvPr id="33" name="msg-square"/>
          <p:cNvSpPr/>
          <p:nvPr/>
        </p:nvSpPr>
        <p:spPr>
          <a:xfrm>
            <a:off x="7851038" y="2414016"/>
            <a:ext cx="164592" cy="164592"/>
          </a:xfrm>
          <a:prstGeom prst="rect">
            <a:avLst/>
          </a:prstGeom>
          <a:solidFill>
            <a:srgbClr val="0F62FE"/>
          </a:solidFill>
          <a:ln w="6350">
            <a:solidFill>
              <a:srgbClr val="0F62FE"/>
            </a:solidFill>
            <a:prstDash val="solid"/>
          </a:ln>
        </p:spPr>
      </p:sp>
      <p:sp>
        <p:nvSpPr>
          <p:cNvPr id="34" name="msg-square"/>
          <p:cNvSpPr/>
          <p:nvPr/>
        </p:nvSpPr>
        <p:spPr>
          <a:xfrm>
            <a:off x="8081467" y="2414016"/>
            <a:ext cx="164592" cy="164592"/>
          </a:xfrm>
          <a:prstGeom prst="rect">
            <a:avLst/>
          </a:prstGeom>
          <a:solidFill>
            <a:srgbClr val="0F62FE"/>
          </a:solidFill>
          <a:ln w="6350">
            <a:solidFill>
              <a:srgbClr val="0F62FE"/>
            </a:solidFill>
            <a:prstDash val="solid"/>
          </a:ln>
        </p:spPr>
      </p:sp>
      <p:sp>
        <p:nvSpPr>
          <p:cNvPr id="35" name="msg-square"/>
          <p:cNvSpPr/>
          <p:nvPr/>
        </p:nvSpPr>
        <p:spPr>
          <a:xfrm>
            <a:off x="8311896" y="2414016"/>
            <a:ext cx="164592" cy="164592"/>
          </a:xfrm>
          <a:prstGeom prst="rect">
            <a:avLst/>
          </a:prstGeom>
          <a:solidFill>
            <a:srgbClr val="0F62FE"/>
          </a:solidFill>
          <a:ln w="6350">
            <a:solidFill>
              <a:srgbClr val="0F62FE"/>
            </a:solidFill>
            <a:prstDash val="solid"/>
          </a:ln>
        </p:spPr>
      </p:sp>
      <p:sp>
        <p:nvSpPr>
          <p:cNvPr id="36" name="msg-square"/>
          <p:cNvSpPr/>
          <p:nvPr/>
        </p:nvSpPr>
        <p:spPr>
          <a:xfrm>
            <a:off x="8542325" y="2414016"/>
            <a:ext cx="164592" cy="164592"/>
          </a:xfrm>
          <a:prstGeom prst="rect">
            <a:avLst/>
          </a:prstGeom>
          <a:solidFill>
            <a:srgbClr val="0F62FE"/>
          </a:solidFill>
          <a:ln w="6350">
            <a:solidFill>
              <a:srgbClr val="0F62FE"/>
            </a:solidFill>
            <a:prstDash val="solid"/>
          </a:ln>
        </p:spPr>
      </p:sp>
      <p:sp>
        <p:nvSpPr>
          <p:cNvPr id="37" name="msg-square"/>
          <p:cNvSpPr/>
          <p:nvPr/>
        </p:nvSpPr>
        <p:spPr>
          <a:xfrm>
            <a:off x="8772754" y="2414016"/>
            <a:ext cx="164592" cy="164592"/>
          </a:xfrm>
          <a:prstGeom prst="rect">
            <a:avLst/>
          </a:prstGeom>
          <a:solidFill>
            <a:srgbClr val="0F62FE"/>
          </a:solidFill>
          <a:ln w="6350">
            <a:solidFill>
              <a:srgbClr val="0F62FE"/>
            </a:solidFill>
            <a:prstDash val="solid"/>
          </a:ln>
        </p:spPr>
      </p:sp>
      <p:sp>
        <p:nvSpPr>
          <p:cNvPr id="38" name="msg-square"/>
          <p:cNvSpPr/>
          <p:nvPr/>
        </p:nvSpPr>
        <p:spPr>
          <a:xfrm>
            <a:off x="3242462" y="2644445"/>
            <a:ext cx="164592" cy="164592"/>
          </a:xfrm>
          <a:prstGeom prst="rect">
            <a:avLst/>
          </a:prstGeom>
          <a:solidFill>
            <a:srgbClr val="0F62FE"/>
          </a:solidFill>
          <a:ln w="6350">
            <a:solidFill>
              <a:srgbClr val="0F62FE"/>
            </a:solidFill>
            <a:prstDash val="solid"/>
          </a:ln>
        </p:spPr>
      </p:sp>
      <p:sp>
        <p:nvSpPr>
          <p:cNvPr id="39" name="msg-square"/>
          <p:cNvSpPr/>
          <p:nvPr/>
        </p:nvSpPr>
        <p:spPr>
          <a:xfrm>
            <a:off x="3472891" y="2644445"/>
            <a:ext cx="164592" cy="164592"/>
          </a:xfrm>
          <a:prstGeom prst="rect">
            <a:avLst/>
          </a:prstGeom>
          <a:solidFill>
            <a:srgbClr val="0F62FE"/>
          </a:solidFill>
          <a:ln w="6350">
            <a:solidFill>
              <a:srgbClr val="0F62FE"/>
            </a:solidFill>
            <a:prstDash val="solid"/>
          </a:ln>
        </p:spPr>
      </p:sp>
      <p:sp>
        <p:nvSpPr>
          <p:cNvPr id="40" name="msg-square"/>
          <p:cNvSpPr/>
          <p:nvPr/>
        </p:nvSpPr>
        <p:spPr>
          <a:xfrm>
            <a:off x="3703320" y="2644445"/>
            <a:ext cx="164592" cy="164592"/>
          </a:xfrm>
          <a:prstGeom prst="rect">
            <a:avLst/>
          </a:prstGeom>
          <a:solidFill>
            <a:srgbClr val="0F62FE"/>
          </a:solidFill>
          <a:ln w="6350">
            <a:solidFill>
              <a:srgbClr val="0F62FE"/>
            </a:solidFill>
            <a:prstDash val="solid"/>
          </a:ln>
        </p:spPr>
      </p:sp>
      <p:sp>
        <p:nvSpPr>
          <p:cNvPr id="41" name="msg-square"/>
          <p:cNvSpPr/>
          <p:nvPr/>
        </p:nvSpPr>
        <p:spPr>
          <a:xfrm>
            <a:off x="3933749" y="2644445"/>
            <a:ext cx="164592" cy="164592"/>
          </a:xfrm>
          <a:prstGeom prst="rect">
            <a:avLst/>
          </a:prstGeom>
          <a:solidFill>
            <a:srgbClr val="0F62FE"/>
          </a:solidFill>
          <a:ln w="6350">
            <a:solidFill>
              <a:srgbClr val="0F62FE"/>
            </a:solidFill>
            <a:prstDash val="solid"/>
          </a:ln>
        </p:spPr>
      </p:sp>
      <p:sp>
        <p:nvSpPr>
          <p:cNvPr id="42" name="msg-square"/>
          <p:cNvSpPr/>
          <p:nvPr/>
        </p:nvSpPr>
        <p:spPr>
          <a:xfrm>
            <a:off x="4164178" y="2644445"/>
            <a:ext cx="164592" cy="164592"/>
          </a:xfrm>
          <a:prstGeom prst="rect">
            <a:avLst/>
          </a:prstGeom>
          <a:solidFill>
            <a:srgbClr val="0F62FE"/>
          </a:solidFill>
          <a:ln w="6350">
            <a:solidFill>
              <a:srgbClr val="0F62FE"/>
            </a:solidFill>
            <a:prstDash val="solid"/>
          </a:ln>
        </p:spPr>
      </p:sp>
      <p:sp>
        <p:nvSpPr>
          <p:cNvPr id="43" name="msg-square"/>
          <p:cNvSpPr/>
          <p:nvPr/>
        </p:nvSpPr>
        <p:spPr>
          <a:xfrm>
            <a:off x="4394606" y="2644445"/>
            <a:ext cx="164592" cy="164592"/>
          </a:xfrm>
          <a:prstGeom prst="rect">
            <a:avLst/>
          </a:prstGeom>
          <a:solidFill>
            <a:srgbClr val="0F62FE"/>
          </a:solidFill>
          <a:ln w="6350">
            <a:solidFill>
              <a:srgbClr val="0F62FE"/>
            </a:solidFill>
            <a:prstDash val="solid"/>
          </a:ln>
        </p:spPr>
      </p:sp>
      <p:sp>
        <p:nvSpPr>
          <p:cNvPr id="44" name="msg-square"/>
          <p:cNvSpPr/>
          <p:nvPr/>
        </p:nvSpPr>
        <p:spPr>
          <a:xfrm>
            <a:off x="4625035" y="2644445"/>
            <a:ext cx="164592" cy="164592"/>
          </a:xfrm>
          <a:prstGeom prst="rect">
            <a:avLst/>
          </a:prstGeom>
          <a:solidFill>
            <a:srgbClr val="0F62FE"/>
          </a:solidFill>
          <a:ln w="6350">
            <a:solidFill>
              <a:srgbClr val="0F62FE"/>
            </a:solidFill>
            <a:prstDash val="solid"/>
          </a:ln>
        </p:spPr>
      </p:sp>
      <p:sp>
        <p:nvSpPr>
          <p:cNvPr id="45" name="msg-square"/>
          <p:cNvSpPr/>
          <p:nvPr/>
        </p:nvSpPr>
        <p:spPr>
          <a:xfrm>
            <a:off x="4855464" y="2644445"/>
            <a:ext cx="164592" cy="164592"/>
          </a:xfrm>
          <a:prstGeom prst="rect">
            <a:avLst/>
          </a:prstGeom>
          <a:solidFill>
            <a:srgbClr val="0F62FE"/>
          </a:solidFill>
          <a:ln w="6350">
            <a:solidFill>
              <a:srgbClr val="0F62FE"/>
            </a:solidFill>
            <a:prstDash val="solid"/>
          </a:ln>
        </p:spPr>
      </p:sp>
      <p:sp>
        <p:nvSpPr>
          <p:cNvPr id="46" name="msg-square"/>
          <p:cNvSpPr/>
          <p:nvPr/>
        </p:nvSpPr>
        <p:spPr>
          <a:xfrm>
            <a:off x="5085893" y="2644445"/>
            <a:ext cx="164592" cy="164592"/>
          </a:xfrm>
          <a:prstGeom prst="rect">
            <a:avLst/>
          </a:prstGeom>
          <a:solidFill>
            <a:srgbClr val="0F62FE"/>
          </a:solidFill>
          <a:ln w="6350">
            <a:solidFill>
              <a:srgbClr val="0F62FE"/>
            </a:solidFill>
            <a:prstDash val="solid"/>
          </a:ln>
        </p:spPr>
      </p:sp>
      <p:sp>
        <p:nvSpPr>
          <p:cNvPr id="47" name="msg-square"/>
          <p:cNvSpPr/>
          <p:nvPr/>
        </p:nvSpPr>
        <p:spPr>
          <a:xfrm>
            <a:off x="5316322" y="2644445"/>
            <a:ext cx="164592" cy="164592"/>
          </a:xfrm>
          <a:prstGeom prst="rect">
            <a:avLst/>
          </a:prstGeom>
          <a:solidFill>
            <a:srgbClr val="0F62FE"/>
          </a:solidFill>
          <a:ln w="6350">
            <a:solidFill>
              <a:srgbClr val="0F62FE"/>
            </a:solidFill>
            <a:prstDash val="solid"/>
          </a:ln>
        </p:spPr>
      </p:sp>
      <p:sp>
        <p:nvSpPr>
          <p:cNvPr id="48" name="msg-square"/>
          <p:cNvSpPr/>
          <p:nvPr/>
        </p:nvSpPr>
        <p:spPr>
          <a:xfrm>
            <a:off x="5546750" y="2644445"/>
            <a:ext cx="164592" cy="164592"/>
          </a:xfrm>
          <a:prstGeom prst="rect">
            <a:avLst/>
          </a:prstGeom>
          <a:solidFill>
            <a:srgbClr val="0F62FE"/>
          </a:solidFill>
          <a:ln w="6350">
            <a:solidFill>
              <a:srgbClr val="0F62FE"/>
            </a:solidFill>
            <a:prstDash val="solid"/>
          </a:ln>
        </p:spPr>
      </p:sp>
      <p:sp>
        <p:nvSpPr>
          <p:cNvPr id="49" name="msg-square"/>
          <p:cNvSpPr/>
          <p:nvPr/>
        </p:nvSpPr>
        <p:spPr>
          <a:xfrm>
            <a:off x="5777179" y="2644445"/>
            <a:ext cx="164592" cy="164592"/>
          </a:xfrm>
          <a:prstGeom prst="rect">
            <a:avLst/>
          </a:prstGeom>
          <a:solidFill>
            <a:srgbClr val="0F62FE"/>
          </a:solidFill>
          <a:ln w="6350">
            <a:solidFill>
              <a:srgbClr val="0F62FE"/>
            </a:solidFill>
            <a:prstDash val="solid"/>
          </a:ln>
        </p:spPr>
      </p:sp>
      <p:sp>
        <p:nvSpPr>
          <p:cNvPr id="50" name="msg-square"/>
          <p:cNvSpPr/>
          <p:nvPr/>
        </p:nvSpPr>
        <p:spPr>
          <a:xfrm>
            <a:off x="6007608" y="2644445"/>
            <a:ext cx="164592" cy="164592"/>
          </a:xfrm>
          <a:prstGeom prst="rect">
            <a:avLst/>
          </a:prstGeom>
          <a:solidFill>
            <a:srgbClr val="0F62FE"/>
          </a:solidFill>
          <a:ln w="6350">
            <a:solidFill>
              <a:srgbClr val="0F62FE"/>
            </a:solidFill>
            <a:prstDash val="solid"/>
          </a:ln>
        </p:spPr>
      </p:sp>
      <p:sp>
        <p:nvSpPr>
          <p:cNvPr id="51" name="msg-square"/>
          <p:cNvSpPr/>
          <p:nvPr/>
        </p:nvSpPr>
        <p:spPr>
          <a:xfrm>
            <a:off x="6238037" y="2644445"/>
            <a:ext cx="164592" cy="164592"/>
          </a:xfrm>
          <a:prstGeom prst="rect">
            <a:avLst/>
          </a:prstGeom>
          <a:solidFill>
            <a:srgbClr val="0F62FE"/>
          </a:solidFill>
          <a:ln w="6350">
            <a:solidFill>
              <a:srgbClr val="0F62FE"/>
            </a:solidFill>
            <a:prstDash val="solid"/>
          </a:ln>
        </p:spPr>
      </p:sp>
      <p:sp>
        <p:nvSpPr>
          <p:cNvPr id="52" name="msg-square"/>
          <p:cNvSpPr/>
          <p:nvPr/>
        </p:nvSpPr>
        <p:spPr>
          <a:xfrm>
            <a:off x="6468466" y="2644445"/>
            <a:ext cx="164592" cy="164592"/>
          </a:xfrm>
          <a:prstGeom prst="rect">
            <a:avLst/>
          </a:prstGeom>
          <a:solidFill>
            <a:srgbClr val="0F62FE"/>
          </a:solidFill>
          <a:ln w="6350">
            <a:solidFill>
              <a:srgbClr val="0F62FE"/>
            </a:solidFill>
            <a:prstDash val="solid"/>
          </a:ln>
        </p:spPr>
      </p:sp>
      <p:sp>
        <p:nvSpPr>
          <p:cNvPr id="53" name="msg-square"/>
          <p:cNvSpPr/>
          <p:nvPr/>
        </p:nvSpPr>
        <p:spPr>
          <a:xfrm>
            <a:off x="6698894" y="2644445"/>
            <a:ext cx="164592" cy="164592"/>
          </a:xfrm>
          <a:prstGeom prst="rect">
            <a:avLst/>
          </a:prstGeom>
          <a:solidFill>
            <a:srgbClr val="0F62FE"/>
          </a:solidFill>
          <a:ln w="6350">
            <a:solidFill>
              <a:srgbClr val="0F62FE"/>
            </a:solidFill>
            <a:prstDash val="solid"/>
          </a:ln>
        </p:spPr>
      </p:sp>
      <p:sp>
        <p:nvSpPr>
          <p:cNvPr id="54" name="msg-square"/>
          <p:cNvSpPr/>
          <p:nvPr/>
        </p:nvSpPr>
        <p:spPr>
          <a:xfrm>
            <a:off x="6929323" y="2644445"/>
            <a:ext cx="164592" cy="164592"/>
          </a:xfrm>
          <a:prstGeom prst="rect">
            <a:avLst/>
          </a:prstGeom>
          <a:solidFill>
            <a:srgbClr val="0F62FE"/>
          </a:solidFill>
          <a:ln w="6350">
            <a:solidFill>
              <a:srgbClr val="0F62FE"/>
            </a:solidFill>
            <a:prstDash val="solid"/>
          </a:ln>
        </p:spPr>
      </p:sp>
      <p:sp>
        <p:nvSpPr>
          <p:cNvPr id="55" name="msg-square"/>
          <p:cNvSpPr/>
          <p:nvPr/>
        </p:nvSpPr>
        <p:spPr>
          <a:xfrm>
            <a:off x="7159752" y="2644445"/>
            <a:ext cx="164592" cy="164592"/>
          </a:xfrm>
          <a:prstGeom prst="rect">
            <a:avLst/>
          </a:prstGeom>
          <a:solidFill>
            <a:srgbClr val="0F62FE"/>
          </a:solidFill>
          <a:ln w="6350">
            <a:solidFill>
              <a:srgbClr val="0F62FE"/>
            </a:solidFill>
            <a:prstDash val="solid"/>
          </a:ln>
        </p:spPr>
      </p:sp>
      <p:sp>
        <p:nvSpPr>
          <p:cNvPr id="56" name="msg-square"/>
          <p:cNvSpPr/>
          <p:nvPr/>
        </p:nvSpPr>
        <p:spPr>
          <a:xfrm>
            <a:off x="7390181" y="2644445"/>
            <a:ext cx="164592" cy="164592"/>
          </a:xfrm>
          <a:prstGeom prst="rect">
            <a:avLst/>
          </a:prstGeom>
          <a:solidFill>
            <a:srgbClr val="0F62FE"/>
          </a:solidFill>
          <a:ln w="6350">
            <a:solidFill>
              <a:srgbClr val="0F62FE"/>
            </a:solidFill>
            <a:prstDash val="solid"/>
          </a:ln>
        </p:spPr>
      </p:sp>
      <p:sp>
        <p:nvSpPr>
          <p:cNvPr id="57" name="msg-square"/>
          <p:cNvSpPr/>
          <p:nvPr/>
        </p:nvSpPr>
        <p:spPr>
          <a:xfrm>
            <a:off x="7620610" y="2644445"/>
            <a:ext cx="164592" cy="164592"/>
          </a:xfrm>
          <a:prstGeom prst="rect">
            <a:avLst/>
          </a:prstGeom>
          <a:solidFill>
            <a:srgbClr val="0F62FE"/>
          </a:solidFill>
          <a:ln w="6350">
            <a:solidFill>
              <a:srgbClr val="0F62FE"/>
            </a:solidFill>
            <a:prstDash val="solid"/>
          </a:ln>
        </p:spPr>
      </p:sp>
      <p:sp>
        <p:nvSpPr>
          <p:cNvPr id="58" name="msg-square"/>
          <p:cNvSpPr/>
          <p:nvPr/>
        </p:nvSpPr>
        <p:spPr>
          <a:xfrm>
            <a:off x="7851038" y="2644445"/>
            <a:ext cx="164592" cy="164592"/>
          </a:xfrm>
          <a:prstGeom prst="rect">
            <a:avLst/>
          </a:prstGeom>
          <a:solidFill>
            <a:srgbClr val="0F62FE"/>
          </a:solidFill>
          <a:ln w="6350">
            <a:solidFill>
              <a:srgbClr val="0F62FE"/>
            </a:solidFill>
            <a:prstDash val="solid"/>
          </a:ln>
        </p:spPr>
      </p:sp>
      <p:sp>
        <p:nvSpPr>
          <p:cNvPr id="59" name="msg-square"/>
          <p:cNvSpPr/>
          <p:nvPr/>
        </p:nvSpPr>
        <p:spPr>
          <a:xfrm>
            <a:off x="8081467" y="2644445"/>
            <a:ext cx="164592" cy="164592"/>
          </a:xfrm>
          <a:prstGeom prst="rect">
            <a:avLst/>
          </a:prstGeom>
          <a:solidFill>
            <a:srgbClr val="0F62FE"/>
          </a:solidFill>
          <a:ln w="6350">
            <a:solidFill>
              <a:srgbClr val="0F62FE"/>
            </a:solidFill>
            <a:prstDash val="solid"/>
          </a:ln>
        </p:spPr>
      </p:sp>
      <p:sp>
        <p:nvSpPr>
          <p:cNvPr id="60" name="msg-square"/>
          <p:cNvSpPr/>
          <p:nvPr/>
        </p:nvSpPr>
        <p:spPr>
          <a:xfrm>
            <a:off x="8311896" y="2644445"/>
            <a:ext cx="164592" cy="164592"/>
          </a:xfrm>
          <a:prstGeom prst="rect">
            <a:avLst/>
          </a:prstGeom>
          <a:solidFill>
            <a:srgbClr val="0F62FE"/>
          </a:solidFill>
          <a:ln w="6350">
            <a:solidFill>
              <a:srgbClr val="0F62FE"/>
            </a:solidFill>
            <a:prstDash val="solid"/>
          </a:ln>
        </p:spPr>
      </p:sp>
      <p:sp>
        <p:nvSpPr>
          <p:cNvPr id="61" name="msg-square"/>
          <p:cNvSpPr/>
          <p:nvPr/>
        </p:nvSpPr>
        <p:spPr>
          <a:xfrm>
            <a:off x="8542325" y="2644445"/>
            <a:ext cx="164592" cy="164592"/>
          </a:xfrm>
          <a:prstGeom prst="rect">
            <a:avLst/>
          </a:prstGeom>
          <a:solidFill>
            <a:srgbClr val="0F62FE"/>
          </a:solidFill>
          <a:ln w="6350">
            <a:solidFill>
              <a:srgbClr val="0F62FE"/>
            </a:solidFill>
            <a:prstDash val="solid"/>
          </a:ln>
        </p:spPr>
      </p:sp>
      <p:sp>
        <p:nvSpPr>
          <p:cNvPr id="62" name="msg-square"/>
          <p:cNvSpPr/>
          <p:nvPr/>
        </p:nvSpPr>
        <p:spPr>
          <a:xfrm>
            <a:off x="8772754" y="2644445"/>
            <a:ext cx="164592" cy="164592"/>
          </a:xfrm>
          <a:prstGeom prst="rect">
            <a:avLst/>
          </a:prstGeom>
          <a:solidFill>
            <a:srgbClr val="0F62FE"/>
          </a:solidFill>
          <a:ln w="6350">
            <a:solidFill>
              <a:srgbClr val="0F62FE"/>
            </a:solidFill>
            <a:prstDash val="solid"/>
          </a:ln>
        </p:spPr>
      </p:sp>
      <p:sp>
        <p:nvSpPr>
          <p:cNvPr id="63" name="msg-square"/>
          <p:cNvSpPr/>
          <p:nvPr/>
        </p:nvSpPr>
        <p:spPr>
          <a:xfrm>
            <a:off x="3242462" y="2874874"/>
            <a:ext cx="164592" cy="164592"/>
          </a:xfrm>
          <a:prstGeom prst="rect">
            <a:avLst/>
          </a:prstGeom>
          <a:solidFill>
            <a:srgbClr val="0F62FE"/>
          </a:solidFill>
          <a:ln w="6350">
            <a:solidFill>
              <a:srgbClr val="0F62FE"/>
            </a:solidFill>
            <a:prstDash val="solid"/>
          </a:ln>
        </p:spPr>
      </p:sp>
      <p:sp>
        <p:nvSpPr>
          <p:cNvPr id="64" name="msg-square"/>
          <p:cNvSpPr/>
          <p:nvPr/>
        </p:nvSpPr>
        <p:spPr>
          <a:xfrm>
            <a:off x="3472891" y="2874874"/>
            <a:ext cx="164592" cy="164592"/>
          </a:xfrm>
          <a:prstGeom prst="rect">
            <a:avLst/>
          </a:prstGeom>
          <a:solidFill>
            <a:srgbClr val="0F62FE"/>
          </a:solidFill>
          <a:ln w="6350">
            <a:solidFill>
              <a:srgbClr val="0F62FE"/>
            </a:solidFill>
            <a:prstDash val="solid"/>
          </a:ln>
        </p:spPr>
      </p:sp>
      <p:sp>
        <p:nvSpPr>
          <p:cNvPr id="65" name="msg-square"/>
          <p:cNvSpPr/>
          <p:nvPr/>
        </p:nvSpPr>
        <p:spPr>
          <a:xfrm>
            <a:off x="3703320" y="2874874"/>
            <a:ext cx="164592" cy="164592"/>
          </a:xfrm>
          <a:prstGeom prst="rect">
            <a:avLst/>
          </a:prstGeom>
          <a:solidFill>
            <a:srgbClr val="0F62FE"/>
          </a:solidFill>
          <a:ln w="6350">
            <a:solidFill>
              <a:srgbClr val="0F62FE"/>
            </a:solidFill>
            <a:prstDash val="solid"/>
          </a:ln>
        </p:spPr>
      </p:sp>
      <p:sp>
        <p:nvSpPr>
          <p:cNvPr id="66" name="msg-square"/>
          <p:cNvSpPr/>
          <p:nvPr/>
        </p:nvSpPr>
        <p:spPr>
          <a:xfrm>
            <a:off x="3933749" y="2874874"/>
            <a:ext cx="164592" cy="164592"/>
          </a:xfrm>
          <a:prstGeom prst="rect">
            <a:avLst/>
          </a:prstGeom>
          <a:solidFill>
            <a:srgbClr val="0F62FE"/>
          </a:solidFill>
          <a:ln w="6350">
            <a:solidFill>
              <a:srgbClr val="0F62FE"/>
            </a:solidFill>
            <a:prstDash val="solid"/>
          </a:ln>
        </p:spPr>
      </p:sp>
      <p:sp>
        <p:nvSpPr>
          <p:cNvPr id="67" name="msg-square"/>
          <p:cNvSpPr/>
          <p:nvPr/>
        </p:nvSpPr>
        <p:spPr>
          <a:xfrm>
            <a:off x="4164178" y="2874874"/>
            <a:ext cx="164592" cy="164592"/>
          </a:xfrm>
          <a:prstGeom prst="rect">
            <a:avLst/>
          </a:prstGeom>
          <a:solidFill>
            <a:srgbClr val="0F62FE"/>
          </a:solidFill>
          <a:ln w="6350">
            <a:solidFill>
              <a:srgbClr val="0F62FE"/>
            </a:solidFill>
            <a:prstDash val="solid"/>
          </a:ln>
        </p:spPr>
      </p:sp>
      <p:sp>
        <p:nvSpPr>
          <p:cNvPr id="68" name="msg-square"/>
          <p:cNvSpPr/>
          <p:nvPr/>
        </p:nvSpPr>
        <p:spPr>
          <a:xfrm>
            <a:off x="4394606" y="2874874"/>
            <a:ext cx="164592" cy="164592"/>
          </a:xfrm>
          <a:prstGeom prst="rect">
            <a:avLst/>
          </a:prstGeom>
          <a:solidFill>
            <a:srgbClr val="0F62FE"/>
          </a:solidFill>
          <a:ln w="6350">
            <a:solidFill>
              <a:srgbClr val="0F62FE"/>
            </a:solidFill>
            <a:prstDash val="solid"/>
          </a:ln>
        </p:spPr>
      </p:sp>
      <p:sp>
        <p:nvSpPr>
          <p:cNvPr id="69" name="msg-square"/>
          <p:cNvSpPr/>
          <p:nvPr/>
        </p:nvSpPr>
        <p:spPr>
          <a:xfrm>
            <a:off x="4625035" y="2874874"/>
            <a:ext cx="164592" cy="164592"/>
          </a:xfrm>
          <a:prstGeom prst="rect">
            <a:avLst/>
          </a:prstGeom>
          <a:solidFill>
            <a:srgbClr val="0F62FE"/>
          </a:solidFill>
          <a:ln w="6350">
            <a:solidFill>
              <a:srgbClr val="0F62FE"/>
            </a:solidFill>
            <a:prstDash val="solid"/>
          </a:ln>
        </p:spPr>
      </p:sp>
      <p:sp>
        <p:nvSpPr>
          <p:cNvPr id="70" name="msg-square"/>
          <p:cNvSpPr/>
          <p:nvPr/>
        </p:nvSpPr>
        <p:spPr>
          <a:xfrm>
            <a:off x="4855464" y="2874874"/>
            <a:ext cx="164592" cy="164592"/>
          </a:xfrm>
          <a:prstGeom prst="rect">
            <a:avLst/>
          </a:prstGeom>
          <a:solidFill>
            <a:srgbClr val="0F62FE"/>
          </a:solidFill>
          <a:ln w="6350">
            <a:solidFill>
              <a:srgbClr val="0F62FE"/>
            </a:solidFill>
            <a:prstDash val="solid"/>
          </a:ln>
        </p:spPr>
      </p:sp>
      <p:sp>
        <p:nvSpPr>
          <p:cNvPr id="71" name="msg-square"/>
          <p:cNvSpPr/>
          <p:nvPr/>
        </p:nvSpPr>
        <p:spPr>
          <a:xfrm>
            <a:off x="5085893" y="2874874"/>
            <a:ext cx="164592" cy="164592"/>
          </a:xfrm>
          <a:prstGeom prst="rect">
            <a:avLst/>
          </a:prstGeom>
          <a:solidFill>
            <a:srgbClr val="0F62FE"/>
          </a:solidFill>
          <a:ln w="6350">
            <a:solidFill>
              <a:srgbClr val="0F62FE"/>
            </a:solidFill>
            <a:prstDash val="solid"/>
          </a:ln>
        </p:spPr>
      </p:sp>
      <p:sp>
        <p:nvSpPr>
          <p:cNvPr id="72" name="msg-square"/>
          <p:cNvSpPr/>
          <p:nvPr/>
        </p:nvSpPr>
        <p:spPr>
          <a:xfrm>
            <a:off x="5316322" y="2874874"/>
            <a:ext cx="164592" cy="164592"/>
          </a:xfrm>
          <a:prstGeom prst="rect">
            <a:avLst/>
          </a:prstGeom>
          <a:solidFill>
            <a:srgbClr val="0F62FE"/>
          </a:solidFill>
          <a:ln w="6350">
            <a:solidFill>
              <a:srgbClr val="0F62FE"/>
            </a:solidFill>
            <a:prstDash val="solid"/>
          </a:ln>
        </p:spPr>
      </p:sp>
      <p:sp>
        <p:nvSpPr>
          <p:cNvPr id="73" name="msg-square"/>
          <p:cNvSpPr/>
          <p:nvPr/>
        </p:nvSpPr>
        <p:spPr>
          <a:xfrm>
            <a:off x="5546750" y="2874874"/>
            <a:ext cx="164592" cy="164592"/>
          </a:xfrm>
          <a:prstGeom prst="rect">
            <a:avLst/>
          </a:prstGeom>
          <a:solidFill>
            <a:srgbClr val="0F62FE"/>
          </a:solidFill>
          <a:ln w="6350">
            <a:solidFill>
              <a:srgbClr val="0F62FE"/>
            </a:solidFill>
            <a:prstDash val="solid"/>
          </a:ln>
        </p:spPr>
      </p:sp>
      <p:sp>
        <p:nvSpPr>
          <p:cNvPr id="74" name="msg-square"/>
          <p:cNvSpPr/>
          <p:nvPr/>
        </p:nvSpPr>
        <p:spPr>
          <a:xfrm>
            <a:off x="5777179" y="2874874"/>
            <a:ext cx="164592" cy="164592"/>
          </a:xfrm>
          <a:prstGeom prst="rect">
            <a:avLst/>
          </a:prstGeom>
          <a:solidFill>
            <a:srgbClr val="0F62FE"/>
          </a:solidFill>
          <a:ln w="6350">
            <a:solidFill>
              <a:srgbClr val="0F62FE"/>
            </a:solidFill>
            <a:prstDash val="solid"/>
          </a:ln>
        </p:spPr>
      </p:sp>
      <p:sp>
        <p:nvSpPr>
          <p:cNvPr id="75" name="msg-square"/>
          <p:cNvSpPr/>
          <p:nvPr/>
        </p:nvSpPr>
        <p:spPr>
          <a:xfrm>
            <a:off x="6007608" y="2874874"/>
            <a:ext cx="164592" cy="164592"/>
          </a:xfrm>
          <a:prstGeom prst="rect">
            <a:avLst/>
          </a:prstGeom>
          <a:solidFill>
            <a:srgbClr val="0F62FE"/>
          </a:solidFill>
          <a:ln w="6350">
            <a:solidFill>
              <a:srgbClr val="0F62FE"/>
            </a:solidFill>
            <a:prstDash val="solid"/>
          </a:ln>
        </p:spPr>
      </p:sp>
      <p:sp>
        <p:nvSpPr>
          <p:cNvPr id="76" name="msg-square"/>
          <p:cNvSpPr/>
          <p:nvPr/>
        </p:nvSpPr>
        <p:spPr>
          <a:xfrm>
            <a:off x="6238037" y="2874874"/>
            <a:ext cx="164592" cy="164592"/>
          </a:xfrm>
          <a:prstGeom prst="rect">
            <a:avLst/>
          </a:prstGeom>
          <a:solidFill>
            <a:srgbClr val="0F62FE"/>
          </a:solidFill>
          <a:ln w="6350">
            <a:solidFill>
              <a:srgbClr val="0F62FE"/>
            </a:solidFill>
            <a:prstDash val="solid"/>
          </a:ln>
        </p:spPr>
      </p:sp>
      <p:sp>
        <p:nvSpPr>
          <p:cNvPr id="77" name="msg-square"/>
          <p:cNvSpPr/>
          <p:nvPr/>
        </p:nvSpPr>
        <p:spPr>
          <a:xfrm>
            <a:off x="6468466" y="2874874"/>
            <a:ext cx="164592" cy="164592"/>
          </a:xfrm>
          <a:prstGeom prst="rect">
            <a:avLst/>
          </a:prstGeom>
          <a:solidFill>
            <a:srgbClr val="0F62FE"/>
          </a:solidFill>
          <a:ln w="6350">
            <a:solidFill>
              <a:srgbClr val="0F62FE"/>
            </a:solidFill>
            <a:prstDash val="solid"/>
          </a:ln>
        </p:spPr>
      </p:sp>
      <p:sp>
        <p:nvSpPr>
          <p:cNvPr id="78" name="msg-square"/>
          <p:cNvSpPr/>
          <p:nvPr/>
        </p:nvSpPr>
        <p:spPr>
          <a:xfrm>
            <a:off x="6698894" y="2874874"/>
            <a:ext cx="164592" cy="164592"/>
          </a:xfrm>
          <a:prstGeom prst="rect">
            <a:avLst/>
          </a:prstGeom>
          <a:solidFill>
            <a:srgbClr val="0F62FE"/>
          </a:solidFill>
          <a:ln w="6350">
            <a:solidFill>
              <a:srgbClr val="0F62FE"/>
            </a:solidFill>
            <a:prstDash val="solid"/>
          </a:ln>
        </p:spPr>
      </p:sp>
      <p:sp>
        <p:nvSpPr>
          <p:cNvPr id="79" name="msg-square"/>
          <p:cNvSpPr/>
          <p:nvPr/>
        </p:nvSpPr>
        <p:spPr>
          <a:xfrm>
            <a:off x="6929323" y="2874874"/>
            <a:ext cx="164592" cy="164592"/>
          </a:xfrm>
          <a:prstGeom prst="rect">
            <a:avLst/>
          </a:prstGeom>
          <a:solidFill>
            <a:srgbClr val="0F62FE"/>
          </a:solidFill>
          <a:ln w="6350">
            <a:solidFill>
              <a:srgbClr val="0F62FE"/>
            </a:solidFill>
            <a:prstDash val="solid"/>
          </a:ln>
        </p:spPr>
      </p:sp>
      <p:sp>
        <p:nvSpPr>
          <p:cNvPr id="80" name="msg-square"/>
          <p:cNvSpPr/>
          <p:nvPr/>
        </p:nvSpPr>
        <p:spPr>
          <a:xfrm>
            <a:off x="7159752" y="2874874"/>
            <a:ext cx="164592" cy="164592"/>
          </a:xfrm>
          <a:prstGeom prst="rect">
            <a:avLst/>
          </a:prstGeom>
          <a:solidFill>
            <a:srgbClr val="0F62FE"/>
          </a:solidFill>
          <a:ln w="6350">
            <a:solidFill>
              <a:srgbClr val="0F62FE"/>
            </a:solidFill>
            <a:prstDash val="solid"/>
          </a:ln>
        </p:spPr>
      </p:sp>
      <p:sp>
        <p:nvSpPr>
          <p:cNvPr id="81" name="msg-square"/>
          <p:cNvSpPr/>
          <p:nvPr/>
        </p:nvSpPr>
        <p:spPr>
          <a:xfrm>
            <a:off x="7390181" y="2874874"/>
            <a:ext cx="164592" cy="164592"/>
          </a:xfrm>
          <a:prstGeom prst="rect">
            <a:avLst/>
          </a:prstGeom>
          <a:solidFill>
            <a:srgbClr val="0F62FE"/>
          </a:solidFill>
          <a:ln w="6350">
            <a:solidFill>
              <a:srgbClr val="0F62FE"/>
            </a:solidFill>
            <a:prstDash val="solid"/>
          </a:ln>
        </p:spPr>
      </p:sp>
      <p:sp>
        <p:nvSpPr>
          <p:cNvPr id="82" name="msg-square"/>
          <p:cNvSpPr/>
          <p:nvPr/>
        </p:nvSpPr>
        <p:spPr>
          <a:xfrm>
            <a:off x="7620610" y="2874874"/>
            <a:ext cx="164592" cy="164592"/>
          </a:xfrm>
          <a:prstGeom prst="rect">
            <a:avLst/>
          </a:prstGeom>
          <a:solidFill>
            <a:srgbClr val="0F62FE"/>
          </a:solidFill>
          <a:ln w="6350">
            <a:solidFill>
              <a:srgbClr val="0F62FE"/>
            </a:solidFill>
            <a:prstDash val="solid"/>
          </a:ln>
        </p:spPr>
      </p:sp>
      <p:sp>
        <p:nvSpPr>
          <p:cNvPr id="83" name="msg-square"/>
          <p:cNvSpPr/>
          <p:nvPr/>
        </p:nvSpPr>
        <p:spPr>
          <a:xfrm>
            <a:off x="7851038" y="2874874"/>
            <a:ext cx="164592" cy="164592"/>
          </a:xfrm>
          <a:prstGeom prst="rect">
            <a:avLst/>
          </a:prstGeom>
          <a:solidFill>
            <a:srgbClr val="0F62FE"/>
          </a:solidFill>
          <a:ln w="6350">
            <a:solidFill>
              <a:srgbClr val="0F62FE"/>
            </a:solidFill>
            <a:prstDash val="solid"/>
          </a:ln>
        </p:spPr>
      </p:sp>
      <p:sp>
        <p:nvSpPr>
          <p:cNvPr id="84" name="msg-square"/>
          <p:cNvSpPr/>
          <p:nvPr/>
        </p:nvSpPr>
        <p:spPr>
          <a:xfrm>
            <a:off x="8081467" y="2874874"/>
            <a:ext cx="164592" cy="164592"/>
          </a:xfrm>
          <a:prstGeom prst="rect">
            <a:avLst/>
          </a:prstGeom>
          <a:solidFill>
            <a:srgbClr val="0F62FE"/>
          </a:solidFill>
          <a:ln w="6350">
            <a:solidFill>
              <a:srgbClr val="0F62FE"/>
            </a:solidFill>
            <a:prstDash val="solid"/>
          </a:ln>
        </p:spPr>
      </p:sp>
      <p:sp>
        <p:nvSpPr>
          <p:cNvPr id="85" name="msg-square"/>
          <p:cNvSpPr/>
          <p:nvPr/>
        </p:nvSpPr>
        <p:spPr>
          <a:xfrm>
            <a:off x="8311896" y="2874874"/>
            <a:ext cx="164592" cy="164592"/>
          </a:xfrm>
          <a:prstGeom prst="rect">
            <a:avLst/>
          </a:prstGeom>
          <a:solidFill>
            <a:srgbClr val="0F62FE"/>
          </a:solidFill>
          <a:ln w="6350">
            <a:solidFill>
              <a:srgbClr val="0F62FE"/>
            </a:solidFill>
            <a:prstDash val="solid"/>
          </a:ln>
        </p:spPr>
      </p:sp>
      <p:sp>
        <p:nvSpPr>
          <p:cNvPr id="86" name="msg-square"/>
          <p:cNvSpPr/>
          <p:nvPr/>
        </p:nvSpPr>
        <p:spPr>
          <a:xfrm>
            <a:off x="8542325" y="2874874"/>
            <a:ext cx="164592" cy="164592"/>
          </a:xfrm>
          <a:prstGeom prst="rect">
            <a:avLst/>
          </a:prstGeom>
          <a:solidFill>
            <a:srgbClr val="0F62FE"/>
          </a:solidFill>
          <a:ln w="6350">
            <a:solidFill>
              <a:srgbClr val="0F62FE"/>
            </a:solidFill>
            <a:prstDash val="solid"/>
          </a:ln>
        </p:spPr>
      </p:sp>
      <p:sp>
        <p:nvSpPr>
          <p:cNvPr id="87" name="msg-square"/>
          <p:cNvSpPr/>
          <p:nvPr/>
        </p:nvSpPr>
        <p:spPr>
          <a:xfrm>
            <a:off x="8772754" y="2874874"/>
            <a:ext cx="164592" cy="164592"/>
          </a:xfrm>
          <a:prstGeom prst="rect">
            <a:avLst/>
          </a:prstGeom>
          <a:solidFill>
            <a:srgbClr val="0F62FE"/>
          </a:solidFill>
          <a:ln w="6350">
            <a:solidFill>
              <a:srgbClr val="0F62FE"/>
            </a:solidFill>
            <a:prstDash val="solid"/>
          </a:ln>
        </p:spPr>
      </p:sp>
      <p:sp>
        <p:nvSpPr>
          <p:cNvPr id="88" name="msg-square"/>
          <p:cNvSpPr/>
          <p:nvPr/>
        </p:nvSpPr>
        <p:spPr>
          <a:xfrm>
            <a:off x="3242462" y="3105302"/>
            <a:ext cx="164592" cy="164592"/>
          </a:xfrm>
          <a:prstGeom prst="rect">
            <a:avLst/>
          </a:prstGeom>
          <a:solidFill>
            <a:srgbClr val="0F62FE"/>
          </a:solidFill>
          <a:ln w="6350">
            <a:solidFill>
              <a:srgbClr val="0F62FE"/>
            </a:solidFill>
            <a:prstDash val="solid"/>
          </a:ln>
        </p:spPr>
      </p:sp>
      <p:sp>
        <p:nvSpPr>
          <p:cNvPr id="89" name="msg-square"/>
          <p:cNvSpPr/>
          <p:nvPr/>
        </p:nvSpPr>
        <p:spPr>
          <a:xfrm>
            <a:off x="3472891" y="3105302"/>
            <a:ext cx="164592" cy="164592"/>
          </a:xfrm>
          <a:prstGeom prst="rect">
            <a:avLst/>
          </a:prstGeom>
          <a:solidFill>
            <a:srgbClr val="0F62FE"/>
          </a:solidFill>
          <a:ln w="6350">
            <a:solidFill>
              <a:srgbClr val="0F62FE"/>
            </a:solidFill>
            <a:prstDash val="solid"/>
          </a:ln>
        </p:spPr>
      </p:sp>
      <p:sp>
        <p:nvSpPr>
          <p:cNvPr id="90" name="msg-square"/>
          <p:cNvSpPr/>
          <p:nvPr/>
        </p:nvSpPr>
        <p:spPr>
          <a:xfrm>
            <a:off x="3703320" y="3105302"/>
            <a:ext cx="164592" cy="164592"/>
          </a:xfrm>
          <a:prstGeom prst="rect">
            <a:avLst/>
          </a:prstGeom>
          <a:solidFill>
            <a:srgbClr val="0F62FE"/>
          </a:solidFill>
          <a:ln w="6350">
            <a:solidFill>
              <a:srgbClr val="0F62FE"/>
            </a:solidFill>
            <a:prstDash val="solid"/>
          </a:ln>
        </p:spPr>
      </p:sp>
      <p:sp>
        <p:nvSpPr>
          <p:cNvPr id="91" name="msg-square"/>
          <p:cNvSpPr/>
          <p:nvPr/>
        </p:nvSpPr>
        <p:spPr>
          <a:xfrm>
            <a:off x="3933749" y="3105302"/>
            <a:ext cx="164592" cy="164592"/>
          </a:xfrm>
          <a:prstGeom prst="rect">
            <a:avLst/>
          </a:prstGeom>
          <a:solidFill>
            <a:srgbClr val="0F62FE"/>
          </a:solidFill>
          <a:ln w="6350">
            <a:solidFill>
              <a:srgbClr val="0F62FE"/>
            </a:solidFill>
            <a:prstDash val="solid"/>
          </a:ln>
        </p:spPr>
      </p:sp>
      <p:sp>
        <p:nvSpPr>
          <p:cNvPr id="92" name="msg-square"/>
          <p:cNvSpPr/>
          <p:nvPr/>
        </p:nvSpPr>
        <p:spPr>
          <a:xfrm>
            <a:off x="4164178" y="3105302"/>
            <a:ext cx="164592" cy="164592"/>
          </a:xfrm>
          <a:prstGeom prst="rect">
            <a:avLst/>
          </a:prstGeom>
          <a:solidFill>
            <a:srgbClr val="0F62FE"/>
          </a:solidFill>
          <a:ln w="6350">
            <a:solidFill>
              <a:srgbClr val="0F62FE"/>
            </a:solidFill>
            <a:prstDash val="solid"/>
          </a:ln>
        </p:spPr>
      </p:sp>
      <p:sp>
        <p:nvSpPr>
          <p:cNvPr id="93" name="msg-square"/>
          <p:cNvSpPr/>
          <p:nvPr/>
        </p:nvSpPr>
        <p:spPr>
          <a:xfrm>
            <a:off x="4394606" y="3105302"/>
            <a:ext cx="164592" cy="164592"/>
          </a:xfrm>
          <a:prstGeom prst="rect">
            <a:avLst/>
          </a:prstGeom>
          <a:solidFill>
            <a:srgbClr val="0F62FE"/>
          </a:solidFill>
          <a:ln w="6350">
            <a:solidFill>
              <a:srgbClr val="0F62FE"/>
            </a:solidFill>
            <a:prstDash val="solid"/>
          </a:ln>
        </p:spPr>
      </p:sp>
      <p:sp>
        <p:nvSpPr>
          <p:cNvPr id="94" name="msg-square"/>
          <p:cNvSpPr/>
          <p:nvPr/>
        </p:nvSpPr>
        <p:spPr>
          <a:xfrm>
            <a:off x="4625035" y="3105302"/>
            <a:ext cx="164592" cy="164592"/>
          </a:xfrm>
          <a:prstGeom prst="rect">
            <a:avLst/>
          </a:prstGeom>
          <a:solidFill>
            <a:srgbClr val="0F62FE"/>
          </a:solidFill>
          <a:ln w="6350">
            <a:solidFill>
              <a:srgbClr val="0F62FE"/>
            </a:solidFill>
            <a:prstDash val="solid"/>
          </a:ln>
        </p:spPr>
      </p:sp>
      <p:sp>
        <p:nvSpPr>
          <p:cNvPr id="95" name="msg-square"/>
          <p:cNvSpPr/>
          <p:nvPr/>
        </p:nvSpPr>
        <p:spPr>
          <a:xfrm>
            <a:off x="4855464" y="3105302"/>
            <a:ext cx="164592" cy="164592"/>
          </a:xfrm>
          <a:prstGeom prst="rect">
            <a:avLst/>
          </a:prstGeom>
          <a:solidFill>
            <a:srgbClr val="0F62FE"/>
          </a:solidFill>
          <a:ln w="6350">
            <a:solidFill>
              <a:srgbClr val="0F62FE"/>
            </a:solidFill>
            <a:prstDash val="solid"/>
          </a:ln>
        </p:spPr>
      </p:sp>
      <p:sp>
        <p:nvSpPr>
          <p:cNvPr id="96" name="msg-square"/>
          <p:cNvSpPr/>
          <p:nvPr/>
        </p:nvSpPr>
        <p:spPr>
          <a:xfrm>
            <a:off x="5085893" y="3105302"/>
            <a:ext cx="164592" cy="164592"/>
          </a:xfrm>
          <a:prstGeom prst="rect">
            <a:avLst/>
          </a:prstGeom>
          <a:solidFill>
            <a:srgbClr val="0F62FE"/>
          </a:solidFill>
          <a:ln w="6350">
            <a:solidFill>
              <a:srgbClr val="0F62FE"/>
            </a:solidFill>
            <a:prstDash val="solid"/>
          </a:ln>
        </p:spPr>
      </p:sp>
      <p:sp>
        <p:nvSpPr>
          <p:cNvPr id="97" name="msg-square"/>
          <p:cNvSpPr/>
          <p:nvPr/>
        </p:nvSpPr>
        <p:spPr>
          <a:xfrm>
            <a:off x="5316322" y="3105302"/>
            <a:ext cx="164592" cy="164592"/>
          </a:xfrm>
          <a:prstGeom prst="rect">
            <a:avLst/>
          </a:prstGeom>
          <a:solidFill>
            <a:srgbClr val="0F62FE"/>
          </a:solidFill>
          <a:ln w="6350">
            <a:solidFill>
              <a:srgbClr val="0F62FE"/>
            </a:solidFill>
            <a:prstDash val="solid"/>
          </a:ln>
        </p:spPr>
      </p:sp>
      <p:sp>
        <p:nvSpPr>
          <p:cNvPr id="98" name="msg-square"/>
          <p:cNvSpPr/>
          <p:nvPr/>
        </p:nvSpPr>
        <p:spPr>
          <a:xfrm>
            <a:off x="5546750" y="3105302"/>
            <a:ext cx="164592" cy="164592"/>
          </a:xfrm>
          <a:prstGeom prst="rect">
            <a:avLst/>
          </a:prstGeom>
          <a:solidFill>
            <a:srgbClr val="FFFFFF"/>
          </a:solidFill>
          <a:ln w="9525">
            <a:solidFill>
              <a:srgbClr val="C6C6C6"/>
            </a:solidFill>
            <a:prstDash val="solid"/>
          </a:ln>
        </p:spPr>
      </p:sp>
      <p:sp>
        <p:nvSpPr>
          <p:cNvPr id="99" name="msg-square"/>
          <p:cNvSpPr/>
          <p:nvPr/>
        </p:nvSpPr>
        <p:spPr>
          <a:xfrm>
            <a:off x="5777179" y="3105302"/>
            <a:ext cx="164592" cy="164592"/>
          </a:xfrm>
          <a:prstGeom prst="rect">
            <a:avLst/>
          </a:prstGeom>
          <a:solidFill>
            <a:srgbClr val="FFFFFF"/>
          </a:solidFill>
          <a:ln w="9525">
            <a:solidFill>
              <a:srgbClr val="C6C6C6"/>
            </a:solidFill>
            <a:prstDash val="solid"/>
          </a:ln>
        </p:spPr>
      </p:sp>
      <p:sp>
        <p:nvSpPr>
          <p:cNvPr id="100" name="msg-square"/>
          <p:cNvSpPr/>
          <p:nvPr/>
        </p:nvSpPr>
        <p:spPr>
          <a:xfrm>
            <a:off x="6007608" y="3105302"/>
            <a:ext cx="164592" cy="164592"/>
          </a:xfrm>
          <a:prstGeom prst="rect">
            <a:avLst/>
          </a:prstGeom>
          <a:solidFill>
            <a:srgbClr val="FFFFFF"/>
          </a:solidFill>
          <a:ln w="9525">
            <a:solidFill>
              <a:srgbClr val="C6C6C6"/>
            </a:solidFill>
            <a:prstDash val="solid"/>
          </a:ln>
        </p:spPr>
      </p:sp>
      <p:sp>
        <p:nvSpPr>
          <p:cNvPr id="101" name="msg-square"/>
          <p:cNvSpPr/>
          <p:nvPr/>
        </p:nvSpPr>
        <p:spPr>
          <a:xfrm>
            <a:off x="6238037" y="3105302"/>
            <a:ext cx="164592" cy="164592"/>
          </a:xfrm>
          <a:prstGeom prst="rect">
            <a:avLst/>
          </a:prstGeom>
          <a:solidFill>
            <a:srgbClr val="FFFFFF"/>
          </a:solidFill>
          <a:ln w="9525">
            <a:solidFill>
              <a:srgbClr val="C6C6C6"/>
            </a:solidFill>
            <a:prstDash val="solid"/>
          </a:ln>
        </p:spPr>
      </p:sp>
      <p:sp>
        <p:nvSpPr>
          <p:cNvPr id="102" name="msg-square"/>
          <p:cNvSpPr/>
          <p:nvPr/>
        </p:nvSpPr>
        <p:spPr>
          <a:xfrm>
            <a:off x="6468466" y="3105302"/>
            <a:ext cx="164592" cy="164592"/>
          </a:xfrm>
          <a:prstGeom prst="rect">
            <a:avLst/>
          </a:prstGeom>
          <a:solidFill>
            <a:srgbClr val="FFFFFF"/>
          </a:solidFill>
          <a:ln w="9525">
            <a:solidFill>
              <a:srgbClr val="C6C6C6"/>
            </a:solidFill>
            <a:prstDash val="solid"/>
          </a:ln>
        </p:spPr>
      </p:sp>
      <p:sp>
        <p:nvSpPr>
          <p:cNvPr id="103" name="msg-square"/>
          <p:cNvSpPr/>
          <p:nvPr/>
        </p:nvSpPr>
        <p:spPr>
          <a:xfrm>
            <a:off x="6698894" y="3105302"/>
            <a:ext cx="164592" cy="164592"/>
          </a:xfrm>
          <a:prstGeom prst="rect">
            <a:avLst/>
          </a:prstGeom>
          <a:solidFill>
            <a:srgbClr val="FFFFFF"/>
          </a:solidFill>
          <a:ln w="9525">
            <a:solidFill>
              <a:srgbClr val="C6C6C6"/>
            </a:solidFill>
            <a:prstDash val="solid"/>
          </a:ln>
        </p:spPr>
      </p:sp>
      <p:sp>
        <p:nvSpPr>
          <p:cNvPr id="104" name="msg-square"/>
          <p:cNvSpPr/>
          <p:nvPr/>
        </p:nvSpPr>
        <p:spPr>
          <a:xfrm>
            <a:off x="6929323" y="3105302"/>
            <a:ext cx="164592" cy="164592"/>
          </a:xfrm>
          <a:prstGeom prst="rect">
            <a:avLst/>
          </a:prstGeom>
          <a:solidFill>
            <a:srgbClr val="FFFFFF"/>
          </a:solidFill>
          <a:ln w="9525">
            <a:solidFill>
              <a:srgbClr val="C6C6C6"/>
            </a:solidFill>
            <a:prstDash val="solid"/>
          </a:ln>
        </p:spPr>
      </p:sp>
      <p:sp>
        <p:nvSpPr>
          <p:cNvPr id="105" name="msg-square"/>
          <p:cNvSpPr/>
          <p:nvPr/>
        </p:nvSpPr>
        <p:spPr>
          <a:xfrm>
            <a:off x="7159752" y="3105302"/>
            <a:ext cx="164592" cy="164592"/>
          </a:xfrm>
          <a:prstGeom prst="rect">
            <a:avLst/>
          </a:prstGeom>
          <a:solidFill>
            <a:srgbClr val="FFFFFF"/>
          </a:solidFill>
          <a:ln w="9525">
            <a:solidFill>
              <a:srgbClr val="C6C6C6"/>
            </a:solidFill>
            <a:prstDash val="solid"/>
          </a:ln>
        </p:spPr>
      </p:sp>
      <p:sp>
        <p:nvSpPr>
          <p:cNvPr id="106" name="msg-square"/>
          <p:cNvSpPr/>
          <p:nvPr/>
        </p:nvSpPr>
        <p:spPr>
          <a:xfrm>
            <a:off x="7390181" y="3105302"/>
            <a:ext cx="164592" cy="164592"/>
          </a:xfrm>
          <a:prstGeom prst="rect">
            <a:avLst/>
          </a:prstGeom>
          <a:solidFill>
            <a:srgbClr val="FFFFFF"/>
          </a:solidFill>
          <a:ln w="9525">
            <a:solidFill>
              <a:srgbClr val="C6C6C6"/>
            </a:solidFill>
            <a:prstDash val="solid"/>
          </a:ln>
        </p:spPr>
      </p:sp>
      <p:sp>
        <p:nvSpPr>
          <p:cNvPr id="107" name="msg-square"/>
          <p:cNvSpPr/>
          <p:nvPr/>
        </p:nvSpPr>
        <p:spPr>
          <a:xfrm>
            <a:off x="7620610" y="3105302"/>
            <a:ext cx="164592" cy="164592"/>
          </a:xfrm>
          <a:prstGeom prst="rect">
            <a:avLst/>
          </a:prstGeom>
          <a:solidFill>
            <a:srgbClr val="FFFFFF"/>
          </a:solidFill>
          <a:ln w="9525">
            <a:solidFill>
              <a:srgbClr val="C6C6C6"/>
            </a:solidFill>
            <a:prstDash val="solid"/>
          </a:ln>
        </p:spPr>
      </p:sp>
      <p:sp>
        <p:nvSpPr>
          <p:cNvPr id="108" name="msg-square"/>
          <p:cNvSpPr/>
          <p:nvPr/>
        </p:nvSpPr>
        <p:spPr>
          <a:xfrm>
            <a:off x="7851038" y="3105302"/>
            <a:ext cx="164592" cy="164592"/>
          </a:xfrm>
          <a:prstGeom prst="rect">
            <a:avLst/>
          </a:prstGeom>
          <a:solidFill>
            <a:srgbClr val="FFFFFF"/>
          </a:solidFill>
          <a:ln w="9525">
            <a:solidFill>
              <a:srgbClr val="C6C6C6"/>
            </a:solidFill>
            <a:prstDash val="solid"/>
          </a:ln>
        </p:spPr>
      </p:sp>
      <p:sp>
        <p:nvSpPr>
          <p:cNvPr id="109" name="msg-square"/>
          <p:cNvSpPr/>
          <p:nvPr/>
        </p:nvSpPr>
        <p:spPr>
          <a:xfrm>
            <a:off x="8081467" y="3105302"/>
            <a:ext cx="164592" cy="164592"/>
          </a:xfrm>
          <a:prstGeom prst="rect">
            <a:avLst/>
          </a:prstGeom>
          <a:solidFill>
            <a:srgbClr val="FFFFFF"/>
          </a:solidFill>
          <a:ln w="9525">
            <a:solidFill>
              <a:srgbClr val="C6C6C6"/>
            </a:solidFill>
            <a:prstDash val="solid"/>
          </a:ln>
        </p:spPr>
      </p:sp>
      <p:sp>
        <p:nvSpPr>
          <p:cNvPr id="110" name="msg-square"/>
          <p:cNvSpPr/>
          <p:nvPr/>
        </p:nvSpPr>
        <p:spPr>
          <a:xfrm>
            <a:off x="8311896" y="3105302"/>
            <a:ext cx="164592" cy="164592"/>
          </a:xfrm>
          <a:prstGeom prst="rect">
            <a:avLst/>
          </a:prstGeom>
          <a:solidFill>
            <a:srgbClr val="FFFFFF"/>
          </a:solidFill>
          <a:ln w="9525">
            <a:solidFill>
              <a:srgbClr val="C6C6C6"/>
            </a:solidFill>
            <a:prstDash val="solid"/>
          </a:ln>
        </p:spPr>
      </p:sp>
      <p:sp>
        <p:nvSpPr>
          <p:cNvPr id="111" name="msg-square"/>
          <p:cNvSpPr/>
          <p:nvPr/>
        </p:nvSpPr>
        <p:spPr>
          <a:xfrm>
            <a:off x="8542325" y="3105302"/>
            <a:ext cx="164592" cy="164592"/>
          </a:xfrm>
          <a:prstGeom prst="rect">
            <a:avLst/>
          </a:prstGeom>
          <a:solidFill>
            <a:srgbClr val="FFFFFF"/>
          </a:solidFill>
          <a:ln w="9525">
            <a:solidFill>
              <a:srgbClr val="C6C6C6"/>
            </a:solidFill>
            <a:prstDash val="solid"/>
          </a:ln>
        </p:spPr>
      </p:sp>
      <p:sp>
        <p:nvSpPr>
          <p:cNvPr id="112" name="msg-square"/>
          <p:cNvSpPr/>
          <p:nvPr/>
        </p:nvSpPr>
        <p:spPr>
          <a:xfrm>
            <a:off x="8772754" y="3105302"/>
            <a:ext cx="164592" cy="164592"/>
          </a:xfrm>
          <a:prstGeom prst="rect">
            <a:avLst/>
          </a:prstGeom>
          <a:solidFill>
            <a:srgbClr val="FFFFFF"/>
          </a:solidFill>
          <a:ln w="9525">
            <a:solidFill>
              <a:srgbClr val="C6C6C6"/>
            </a:solidFill>
            <a:prstDash val="solid"/>
          </a:ln>
        </p:spPr>
      </p:sp>
      <p:sp>
        <p:nvSpPr>
          <p:cNvPr id="113" name="Text 111"/>
          <p:cNvSpPr txBox="1"/>
          <p:nvPr/>
        </p:nvSpPr>
        <p:spPr>
          <a:xfrm>
            <a:off x="3242462" y="3372307"/>
            <a:ext cx="5694883" cy="237744"/>
          </a:xfrm>
          <a:prstGeom prst="rect">
            <a:avLst/>
          </a:prstGeom>
          <a:noFill/>
          <a:ln/>
        </p:spPr>
        <p:txBody>
          <a:bodyPr wrap="square" lIns="0" tIns="0" rIns="0" bIns="0" rtlCol="0" anchor="ctr"/>
          <a:lstStyle/>
          <a:p>
            <a:pPr marL="0" indent="0">
              <a:buNone/>
            </a:pPr>
            <a:r>
              <a:rPr lang="en-US" sz="950" dirty="0">
                <a:solidFill>
                  <a:srgbClr val="8D8D8D"/>
                </a:solidFill>
              </a:rPr>
              <a:t>each square = 10 messages  ·  85 of 100 squares filled</a:t>
            </a:r>
            <a:endParaRPr lang="en-US" sz="950" dirty="0"/>
          </a:p>
        </p:txBody>
      </p:sp>
      <p:sp>
        <p:nvSpPr>
          <p:cNvPr id="114" name="meter-track"/>
          <p:cNvSpPr/>
          <p:nvPr/>
        </p:nvSpPr>
        <p:spPr>
          <a:xfrm>
            <a:off x="2788920" y="3730752"/>
            <a:ext cx="6601968" cy="128016"/>
          </a:xfrm>
          <a:prstGeom prst="rect">
            <a:avLst/>
          </a:prstGeom>
          <a:solidFill>
            <a:srgbClr val="E0E0E0"/>
          </a:solidFill>
          <a:ln w="12700">
            <a:solidFill>
              <a:srgbClr val="E0E0E0"/>
            </a:solidFill>
            <a:prstDash val="solid"/>
          </a:ln>
        </p:spPr>
      </p:sp>
      <p:sp>
        <p:nvSpPr>
          <p:cNvPr id="115" name="meter-fill"/>
          <p:cNvSpPr/>
          <p:nvPr/>
        </p:nvSpPr>
        <p:spPr>
          <a:xfrm>
            <a:off x="2788920" y="3730752"/>
            <a:ext cx="5611673" cy="128016"/>
          </a:xfrm>
          <a:prstGeom prst="rect">
            <a:avLst/>
          </a:prstGeom>
          <a:solidFill>
            <a:srgbClr val="DA1E28"/>
          </a:solidFill>
          <a:ln w="12700">
            <a:solidFill>
              <a:srgbClr val="DA1E28"/>
            </a:solidFill>
            <a:prstDash val="solid"/>
          </a:ln>
        </p:spPr>
      </p:sp>
      <p:sp>
        <p:nvSpPr>
          <p:cNvPr id="116" name="Text 114"/>
          <p:cNvSpPr txBox="1"/>
          <p:nvPr/>
        </p:nvSpPr>
        <p:spPr>
          <a:xfrm>
            <a:off x="2788920" y="3895344"/>
            <a:ext cx="4023360" cy="237744"/>
          </a:xfrm>
          <a:prstGeom prst="rect">
            <a:avLst/>
          </a:prstGeom>
          <a:noFill/>
          <a:ln/>
        </p:spPr>
        <p:txBody>
          <a:bodyPr wrap="square" lIns="0" tIns="0" rIns="0" bIns="0" rtlCol="0" anchor="ctr"/>
          <a:lstStyle/>
          <a:p>
            <a:pPr marL="0" indent="0">
              <a:buNone/>
            </a:pPr>
            <a:r>
              <a:rPr lang="en-US" sz="1050" dirty="0">
                <a:solidFill>
                  <a:srgbClr val="393939"/>
                </a:solidFill>
                <a:latin typeface="Courier New" pitchFamily="34" charset="0"/>
                <a:ea typeface="Courier New" pitchFamily="34" charset="-122"/>
                <a:cs typeface="Courier New" pitchFamily="34" charset="-120"/>
              </a:rPr>
              <a:t>CURDEPTH 850  /  MAXDEPTH 1000</a:t>
            </a:r>
            <a:endParaRPr lang="en-US" sz="1050" dirty="0"/>
          </a:p>
        </p:txBody>
      </p:sp>
      <p:sp>
        <p:nvSpPr>
          <p:cNvPr id="117" name="Text 115"/>
          <p:cNvSpPr txBox="1"/>
          <p:nvPr/>
        </p:nvSpPr>
        <p:spPr>
          <a:xfrm>
            <a:off x="8257032" y="3895344"/>
            <a:ext cx="1133856" cy="237744"/>
          </a:xfrm>
          <a:prstGeom prst="rect">
            <a:avLst/>
          </a:prstGeom>
          <a:noFill/>
          <a:ln/>
        </p:spPr>
        <p:txBody>
          <a:bodyPr wrap="square" lIns="0" tIns="0" rIns="0" bIns="0" rtlCol="0" anchor="ctr"/>
          <a:lstStyle/>
          <a:p>
            <a:pPr marL="0" indent="0" algn="r">
              <a:buNone/>
            </a:pPr>
            <a:r>
              <a:rPr lang="en-US" sz="1050" b="1" dirty="0">
                <a:solidFill>
                  <a:srgbClr val="DA1E28"/>
                </a:solidFill>
              </a:rPr>
              <a:t>85% full</a:t>
            </a:r>
            <a:endParaRPr lang="en-US" sz="1050" dirty="0"/>
          </a:p>
        </p:txBody>
      </p:sp>
      <p:sp>
        <p:nvSpPr>
          <p:cNvPr id="118" name="queue-commerce"/>
          <p:cNvSpPr/>
          <p:nvPr/>
        </p:nvSpPr>
        <p:spPr>
          <a:xfrm>
            <a:off x="2551176" y="4443984"/>
            <a:ext cx="7077456" cy="1024128"/>
          </a:xfrm>
          <a:prstGeom prst="rect">
            <a:avLst/>
          </a:prstGeom>
          <a:solidFill>
            <a:srgbClr val="F4F4F4"/>
          </a:solidFill>
          <a:ln w="12700">
            <a:solidFill>
              <a:srgbClr val="F4F4F4"/>
            </a:solidFill>
            <a:prstDash val="solid"/>
          </a:ln>
        </p:spPr>
      </p:sp>
      <p:sp>
        <p:nvSpPr>
          <p:cNvPr id="119" name="Text 117"/>
          <p:cNvSpPr txBox="1"/>
          <p:nvPr/>
        </p:nvSpPr>
        <p:spPr>
          <a:xfrm>
            <a:off x="2788920" y="4590288"/>
            <a:ext cx="3840480" cy="274320"/>
          </a:xfrm>
          <a:prstGeom prst="rect">
            <a:avLst/>
          </a:prstGeom>
          <a:noFill/>
          <a:ln/>
        </p:spPr>
        <p:txBody>
          <a:bodyPr wrap="square" lIns="0" tIns="0" rIns="0" bIns="0" rtlCol="0" anchor="ctr"/>
          <a:lstStyle/>
          <a:p>
            <a:pPr marL="0" indent="0">
              <a:buNone/>
            </a:pPr>
            <a:r>
              <a:rPr lang="en-US" sz="1400" b="1" dirty="0">
                <a:solidFill>
                  <a:srgbClr val="161616"/>
                </a:solidFill>
                <a:latin typeface="Courier New" pitchFamily="34" charset="0"/>
                <a:ea typeface="Courier New" pitchFamily="34" charset="-122"/>
                <a:cs typeface="Courier New" pitchFamily="34" charset="-120"/>
              </a:rPr>
              <a:t>ACME.COMMERCE.QUEUE</a:t>
            </a:r>
            <a:endParaRPr lang="en-US" sz="1400" dirty="0"/>
          </a:p>
        </p:txBody>
      </p:sp>
      <p:sp>
        <p:nvSpPr>
          <p:cNvPr id="120" name="Text 118"/>
          <p:cNvSpPr txBox="1"/>
          <p:nvPr/>
        </p:nvSpPr>
        <p:spPr>
          <a:xfrm>
            <a:off x="7525512" y="4608576"/>
            <a:ext cx="1865376" cy="237744"/>
          </a:xfrm>
          <a:prstGeom prst="rect">
            <a:avLst/>
          </a:prstGeom>
          <a:noFill/>
          <a:ln/>
        </p:spPr>
        <p:txBody>
          <a:bodyPr wrap="square" lIns="0" tIns="0" rIns="0" bIns="0" rtlCol="0" anchor="ctr"/>
          <a:lstStyle/>
          <a:p>
            <a:pPr marL="0" indent="0" algn="r">
              <a:buNone/>
            </a:pPr>
            <a:r>
              <a:rPr lang="en-US" sz="1050" dirty="0">
                <a:solidFill>
                  <a:srgbClr val="6F6F6F"/>
                </a:solidFill>
              </a:rPr>
              <a:t>Last put: a week ago</a:t>
            </a:r>
            <a:endParaRPr lang="en-US" sz="1050" dirty="0"/>
          </a:p>
        </p:txBody>
      </p:sp>
      <p:sp>
        <p:nvSpPr>
          <p:cNvPr id="121" name="meter-track"/>
          <p:cNvSpPr/>
          <p:nvPr/>
        </p:nvSpPr>
        <p:spPr>
          <a:xfrm>
            <a:off x="2788920" y="4974336"/>
            <a:ext cx="6601968" cy="128016"/>
          </a:xfrm>
          <a:prstGeom prst="rect">
            <a:avLst/>
          </a:prstGeom>
          <a:solidFill>
            <a:srgbClr val="E0E0E0"/>
          </a:solidFill>
          <a:ln w="12700">
            <a:solidFill>
              <a:srgbClr val="E0E0E0"/>
            </a:solidFill>
            <a:prstDash val="solid"/>
          </a:ln>
        </p:spPr>
      </p:sp>
      <p:sp>
        <p:nvSpPr>
          <p:cNvPr id="122" name="meter-fill"/>
          <p:cNvSpPr/>
          <p:nvPr/>
        </p:nvSpPr>
        <p:spPr>
          <a:xfrm>
            <a:off x="2788920" y="4974336"/>
            <a:ext cx="5941771" cy="128016"/>
          </a:xfrm>
          <a:prstGeom prst="rect">
            <a:avLst/>
          </a:prstGeom>
          <a:solidFill>
            <a:srgbClr val="F1C21B"/>
          </a:solidFill>
          <a:ln w="12700">
            <a:solidFill>
              <a:srgbClr val="F1C21B"/>
            </a:solidFill>
            <a:prstDash val="solid"/>
          </a:ln>
        </p:spPr>
      </p:sp>
      <p:sp>
        <p:nvSpPr>
          <p:cNvPr id="123" name="Text 121"/>
          <p:cNvSpPr txBox="1"/>
          <p:nvPr/>
        </p:nvSpPr>
        <p:spPr>
          <a:xfrm>
            <a:off x="2788920" y="5138928"/>
            <a:ext cx="4023360" cy="237744"/>
          </a:xfrm>
          <a:prstGeom prst="rect">
            <a:avLst/>
          </a:prstGeom>
          <a:noFill/>
          <a:ln/>
        </p:spPr>
        <p:txBody>
          <a:bodyPr wrap="square" lIns="0" tIns="0" rIns="0" bIns="0" rtlCol="0" anchor="ctr"/>
          <a:lstStyle/>
          <a:p>
            <a:pPr marL="0" indent="0">
              <a:buNone/>
            </a:pPr>
            <a:r>
              <a:rPr lang="en-US" sz="1050" dirty="0">
                <a:solidFill>
                  <a:srgbClr val="393939"/>
                </a:solidFill>
                <a:latin typeface="Courier New" pitchFamily="34" charset="0"/>
                <a:ea typeface="Courier New" pitchFamily="34" charset="-122"/>
                <a:cs typeface="Courier New" pitchFamily="34" charset="-120"/>
              </a:rPr>
              <a:t>CURDEPTH 3600  /  MAXDEPTH 4000</a:t>
            </a:r>
            <a:endParaRPr lang="en-US" sz="1050" dirty="0"/>
          </a:p>
        </p:txBody>
      </p:sp>
      <p:sp>
        <p:nvSpPr>
          <p:cNvPr id="124" name="Text 122"/>
          <p:cNvSpPr txBox="1"/>
          <p:nvPr/>
        </p:nvSpPr>
        <p:spPr>
          <a:xfrm>
            <a:off x="8257032" y="5138928"/>
            <a:ext cx="1133856" cy="237744"/>
          </a:xfrm>
          <a:prstGeom prst="rect">
            <a:avLst/>
          </a:prstGeom>
          <a:noFill/>
          <a:ln/>
        </p:spPr>
        <p:txBody>
          <a:bodyPr wrap="square" lIns="0" tIns="0" rIns="0" bIns="0" rtlCol="0" anchor="ctr"/>
          <a:lstStyle/>
          <a:p>
            <a:pPr marL="0" indent="0" algn="r">
              <a:buNone/>
            </a:pPr>
            <a:r>
              <a:rPr lang="en-US" sz="1050" b="1" dirty="0">
                <a:solidFill>
                  <a:srgbClr val="8A6100"/>
                </a:solidFill>
              </a:rPr>
              <a:t>90% full</a:t>
            </a:r>
            <a:endParaRPr lang="en-US" sz="1050" dirty="0"/>
          </a:p>
        </p:txBody>
      </p:sp>
      <p:sp>
        <p:nvSpPr>
          <p:cNvPr id="125" name="producer"/>
          <p:cNvSpPr/>
          <p:nvPr/>
        </p:nvSpPr>
        <p:spPr>
          <a:xfrm>
            <a:off x="475488" y="2798064"/>
            <a:ext cx="1481328" cy="914400"/>
          </a:xfrm>
          <a:prstGeom prst="rect">
            <a:avLst/>
          </a:prstGeom>
          <a:solidFill>
            <a:srgbClr val="DEFBE6"/>
          </a:solidFill>
          <a:ln w="12700">
            <a:solidFill>
              <a:srgbClr val="DEFBE6"/>
            </a:solidFill>
            <a:prstDash val="solid"/>
          </a:ln>
        </p:spPr>
      </p:sp>
      <p:sp>
        <p:nvSpPr>
          <p:cNvPr id="126" name="Text 124"/>
          <p:cNvSpPr txBox="1"/>
          <p:nvPr/>
        </p:nvSpPr>
        <p:spPr>
          <a:xfrm>
            <a:off x="475488" y="2962656"/>
            <a:ext cx="1481328" cy="274320"/>
          </a:xfrm>
          <a:prstGeom prst="rect">
            <a:avLst/>
          </a:prstGeom>
          <a:noFill/>
          <a:ln/>
        </p:spPr>
        <p:txBody>
          <a:bodyPr wrap="square" lIns="0" tIns="0" rIns="0" bIns="0" rtlCol="0" anchor="ctr"/>
          <a:lstStyle/>
          <a:p>
            <a:pPr marL="0" indent="0" algn="ctr">
              <a:buNone/>
            </a:pPr>
            <a:r>
              <a:rPr lang="en-US" sz="1300" b="1" dirty="0">
                <a:solidFill>
                  <a:srgbClr val="044317"/>
                </a:solidFill>
              </a:rPr>
              <a:t>Producer</a:t>
            </a:r>
            <a:endParaRPr lang="en-US" sz="1300" dirty="0"/>
          </a:p>
        </p:txBody>
      </p:sp>
      <p:sp>
        <p:nvSpPr>
          <p:cNvPr id="127" name="Text 125"/>
          <p:cNvSpPr txBox="1"/>
          <p:nvPr/>
        </p:nvSpPr>
        <p:spPr>
          <a:xfrm>
            <a:off x="475488" y="3255264"/>
            <a:ext cx="1481328" cy="274320"/>
          </a:xfrm>
          <a:prstGeom prst="rect">
            <a:avLst/>
          </a:prstGeom>
          <a:noFill/>
          <a:ln/>
        </p:spPr>
        <p:txBody>
          <a:bodyPr wrap="square" lIns="0" tIns="0" rIns="0" bIns="0" rtlCol="0" anchor="ctr"/>
          <a:lstStyle/>
          <a:p>
            <a:pPr marL="0" indent="0" algn="ctr">
              <a:buNone/>
            </a:pPr>
            <a:r>
              <a:rPr lang="en-US" sz="1050" dirty="0">
                <a:solidFill>
                  <a:srgbClr val="0E6027"/>
                </a:solidFill>
                <a:latin typeface="Courier New" pitchFamily="34" charset="0"/>
                <a:ea typeface="Courier New" pitchFamily="34" charset="-122"/>
                <a:cs typeface="Courier New" pitchFamily="34" charset="-120"/>
              </a:rPr>
              <a:t>MQPUT  ok</a:t>
            </a:r>
            <a:endParaRPr lang="en-US" sz="1050" dirty="0"/>
          </a:p>
        </p:txBody>
      </p:sp>
      <p:sp>
        <p:nvSpPr>
          <p:cNvPr id="128" name="arrow"/>
          <p:cNvSpPr/>
          <p:nvPr/>
        </p:nvSpPr>
        <p:spPr>
          <a:xfrm>
            <a:off x="1956816" y="3255264"/>
            <a:ext cx="283464" cy="0"/>
          </a:xfrm>
          <a:prstGeom prst="line">
            <a:avLst/>
          </a:prstGeom>
          <a:noFill/>
          <a:ln w="38100">
            <a:solidFill>
              <a:srgbClr val="24A148"/>
            </a:solidFill>
            <a:prstDash val="solid"/>
            <a:tailEnd type="triangle"/>
          </a:ln>
        </p:spPr>
      </p:sp>
      <p:sp>
        <p:nvSpPr>
          <p:cNvPr id="129" name="consumer"/>
          <p:cNvSpPr/>
          <p:nvPr/>
        </p:nvSpPr>
        <p:spPr>
          <a:xfrm>
            <a:off x="10204704" y="2798064"/>
            <a:ext cx="1481328" cy="914400"/>
          </a:xfrm>
          <a:prstGeom prst="rect">
            <a:avLst/>
          </a:prstGeom>
          <a:solidFill>
            <a:srgbClr val="FFF1F1"/>
          </a:solidFill>
          <a:ln w="12700">
            <a:solidFill>
              <a:srgbClr val="FFF1F1"/>
            </a:solidFill>
            <a:prstDash val="solid"/>
          </a:ln>
        </p:spPr>
      </p:sp>
      <p:sp>
        <p:nvSpPr>
          <p:cNvPr id="130" name="Text 128"/>
          <p:cNvSpPr txBox="1"/>
          <p:nvPr/>
        </p:nvSpPr>
        <p:spPr>
          <a:xfrm>
            <a:off x="10204704" y="2962656"/>
            <a:ext cx="1481328" cy="274320"/>
          </a:xfrm>
          <a:prstGeom prst="rect">
            <a:avLst/>
          </a:prstGeom>
          <a:noFill/>
          <a:ln/>
        </p:spPr>
        <p:txBody>
          <a:bodyPr wrap="square" lIns="0" tIns="0" rIns="0" bIns="0" rtlCol="0" anchor="ctr"/>
          <a:lstStyle/>
          <a:p>
            <a:pPr marL="0" indent="0" algn="ctr">
              <a:buNone/>
            </a:pPr>
            <a:r>
              <a:rPr lang="en-US" sz="1300" b="1" dirty="0">
                <a:solidFill>
                  <a:srgbClr val="A2191F"/>
                </a:solidFill>
              </a:rPr>
              <a:t>Consumer</a:t>
            </a:r>
            <a:endParaRPr lang="en-US" sz="1300" dirty="0"/>
          </a:p>
        </p:txBody>
      </p:sp>
      <p:sp>
        <p:nvSpPr>
          <p:cNvPr id="131" name="Text 129"/>
          <p:cNvSpPr txBox="1"/>
          <p:nvPr/>
        </p:nvSpPr>
        <p:spPr>
          <a:xfrm>
            <a:off x="10204704" y="3255264"/>
            <a:ext cx="1481328" cy="274320"/>
          </a:xfrm>
          <a:prstGeom prst="rect">
            <a:avLst/>
          </a:prstGeom>
          <a:noFill/>
          <a:ln/>
        </p:spPr>
        <p:txBody>
          <a:bodyPr wrap="square" lIns="0" tIns="0" rIns="0" bIns="0" rtlCol="0" anchor="ctr"/>
          <a:lstStyle/>
          <a:p>
            <a:pPr marL="0" indent="0" algn="ctr">
              <a:buNone/>
            </a:pPr>
            <a:r>
              <a:rPr lang="en-US" sz="1050" dirty="0">
                <a:solidFill>
                  <a:srgbClr val="DA1E28"/>
                </a:solidFill>
                <a:latin typeface="Courier New" pitchFamily="34" charset="0"/>
                <a:ea typeface="Courier New" pitchFamily="34" charset="-122"/>
                <a:cs typeface="Courier New" pitchFamily="34" charset="-120"/>
              </a:rPr>
              <a:t>none</a:t>
            </a:r>
            <a:endParaRPr lang="en-US" sz="1050" dirty="0"/>
          </a:p>
        </p:txBody>
      </p:sp>
      <p:sp>
        <p:nvSpPr>
          <p:cNvPr id="132" name="arrow"/>
          <p:cNvSpPr/>
          <p:nvPr/>
        </p:nvSpPr>
        <p:spPr>
          <a:xfrm>
            <a:off x="9939528" y="3255264"/>
            <a:ext cx="265176" cy="0"/>
          </a:xfrm>
          <a:prstGeom prst="line">
            <a:avLst/>
          </a:prstGeom>
          <a:noFill/>
          <a:ln w="38100">
            <a:solidFill>
              <a:srgbClr val="DA1E28"/>
            </a:solidFill>
            <a:prstDash val="dash"/>
            <a:tailEnd type="triangle"/>
          </a:ln>
        </p:spPr>
      </p:sp>
      <p:sp>
        <p:nvSpPr>
          <p:cNvPr id="133" name="Text 131"/>
          <p:cNvSpPr txBox="1"/>
          <p:nvPr/>
        </p:nvSpPr>
        <p:spPr>
          <a:xfrm>
            <a:off x="9893808" y="3108960"/>
            <a:ext cx="365760" cy="292608"/>
          </a:xfrm>
          <a:prstGeom prst="rect">
            <a:avLst/>
          </a:prstGeom>
          <a:noFill/>
          <a:ln/>
        </p:spPr>
        <p:txBody>
          <a:bodyPr wrap="square" lIns="0" tIns="0" rIns="0" bIns="0" rtlCol="0" anchor="ctr"/>
          <a:lstStyle/>
          <a:p>
            <a:pPr marL="0" indent="0" algn="ctr">
              <a:buNone/>
            </a:pPr>
            <a:r>
              <a:rPr lang="en-US" sz="1700" b="1" dirty="0">
                <a:solidFill>
                  <a:srgbClr val="DA1E28"/>
                </a:solidFill>
              </a:rPr>
              <a:t>X</a:t>
            </a:r>
            <a:endParaRPr lang="en-US" sz="1700" dirty="0"/>
          </a:p>
        </p:txBody>
      </p:sp>
      <p:sp>
        <p:nvSpPr>
          <p:cNvPr id="134" name="Text 132"/>
          <p:cNvSpPr txBox="1"/>
          <p:nvPr/>
        </p:nvSpPr>
        <p:spPr>
          <a:xfrm>
            <a:off x="566928" y="5925312"/>
            <a:ext cx="7680960" cy="256032"/>
          </a:xfrm>
          <a:prstGeom prst="rect">
            <a:avLst/>
          </a:prstGeom>
          <a:noFill/>
          <a:ln/>
        </p:spPr>
        <p:txBody>
          <a:bodyPr wrap="square" lIns="0" tIns="0" rIns="0" bIns="0" rtlCol="0" anchor="ctr"/>
          <a:lstStyle/>
          <a:p>
            <a:pPr marL="0" indent="0">
              <a:buNone/>
            </a:pPr>
            <a:r>
              <a:rPr lang="en-US" sz="1000" dirty="0">
                <a:solidFill>
                  <a:srgbClr val="A8A8A8"/>
                </a:solidFill>
              </a:rPr>
              <a:t>No connected user applications  —  IBM MQ Console, Overview</a:t>
            </a:r>
            <a:endParaRPr lang="en-US" sz="1000" dirty="0"/>
          </a:p>
        </p:txBody>
      </p:sp>
      <p:sp>
        <p:nvSpPr>
          <p:cNvPr id="135" name="Slide Number Placeholder 0"/>
          <p:cNvSpPr>
            <a:spLocks noGrp="1"/>
          </p:cNvSpPr>
          <p:nvPr>
            <p:ph type="sldNum" sz="quarter" idx="4294967295"/>
          </p:nvPr>
        </p:nvSpPr>
        <p:spPr>
          <a:xfrm>
            <a:off x="11430000" y="6364224"/>
            <a:ext cx="365760"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A8A8A8"/>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66928" y="384048"/>
            <a:ext cx="10424160" cy="713232"/>
          </a:xfrm>
          <a:prstGeom prst="rect">
            <a:avLst/>
          </a:prstGeom>
          <a:noFill/>
          <a:ln/>
        </p:spPr>
        <p:txBody>
          <a:bodyPr wrap="square" rtlCol="0" anchor="t"/>
          <a:lstStyle/>
          <a:p>
            <a:pPr marL="0" indent="0" algn="l">
              <a:buNone/>
            </a:pPr>
            <a:r>
              <a:rPr lang="en-US" sz="3200" b="1" kern="0" spc="-40" dirty="0">
                <a:solidFill>
                  <a:srgbClr val="161616"/>
                </a:solidFill>
              </a:rPr>
              <a:t>What answers the ticket</a:t>
            </a:r>
            <a:endParaRPr lang="en-US" sz="3200" dirty="0"/>
          </a:p>
        </p:txBody>
      </p:sp>
      <p:sp>
        <p:nvSpPr>
          <p:cNvPr id="3" name="component"/>
          <p:cNvSpPr/>
          <p:nvPr/>
        </p:nvSpPr>
        <p:spPr>
          <a:xfrm>
            <a:off x="566928" y="1554480"/>
            <a:ext cx="3493008" cy="1920240"/>
          </a:xfrm>
          <a:prstGeom prst="rect">
            <a:avLst/>
          </a:prstGeom>
          <a:solidFill>
            <a:srgbClr val="F4F4F4"/>
          </a:solidFill>
          <a:ln w="12700">
            <a:solidFill>
              <a:srgbClr val="F4F4F4"/>
            </a:solidFill>
            <a:prstDash val="solid"/>
          </a:ln>
        </p:spPr>
      </p:sp>
      <p:sp>
        <p:nvSpPr>
          <p:cNvPr id="4" name="msg-square"/>
          <p:cNvSpPr/>
          <p:nvPr/>
        </p:nvSpPr>
        <p:spPr>
          <a:xfrm>
            <a:off x="841248" y="1865376"/>
            <a:ext cx="146304" cy="146304"/>
          </a:xfrm>
          <a:prstGeom prst="rect">
            <a:avLst/>
          </a:prstGeom>
          <a:solidFill>
            <a:srgbClr val="8A3FFC"/>
          </a:solidFill>
          <a:ln w="6350">
            <a:solidFill>
              <a:srgbClr val="8A3FFC"/>
            </a:solidFill>
            <a:prstDash val="solid"/>
          </a:ln>
        </p:spPr>
      </p:sp>
      <p:sp>
        <p:nvSpPr>
          <p:cNvPr id="5" name="Text 3"/>
          <p:cNvSpPr txBox="1"/>
          <p:nvPr/>
        </p:nvSpPr>
        <p:spPr>
          <a:xfrm>
            <a:off x="841248" y="2157984"/>
            <a:ext cx="2944368" cy="512064"/>
          </a:xfrm>
          <a:prstGeom prst="rect">
            <a:avLst/>
          </a:prstGeom>
          <a:noFill/>
          <a:ln/>
        </p:spPr>
        <p:txBody>
          <a:bodyPr wrap="square" lIns="0" tIns="0" rIns="0" bIns="0" rtlCol="0" anchor="ctr"/>
          <a:lstStyle/>
          <a:p>
            <a:pPr marL="0" indent="0">
              <a:lnSpc>
                <a:spcPts val="2100"/>
              </a:lnSpc>
              <a:buNone/>
            </a:pPr>
            <a:r>
              <a:rPr lang="en-US" sz="1700" b="1" dirty="0">
                <a:solidFill>
                  <a:srgbClr val="161616"/>
                </a:solidFill>
              </a:rPr>
              <a:t>MCP server</a:t>
            </a:r>
            <a:endParaRPr lang="en-US" sz="1700" dirty="0"/>
          </a:p>
        </p:txBody>
      </p:sp>
      <p:sp>
        <p:nvSpPr>
          <p:cNvPr id="6" name="Text 4"/>
          <p:cNvSpPr txBox="1"/>
          <p:nvPr/>
        </p:nvSpPr>
        <p:spPr>
          <a:xfrm>
            <a:off x="841248" y="2688336"/>
            <a:ext cx="2944368" cy="676656"/>
          </a:xfrm>
          <a:prstGeom prst="rect">
            <a:avLst/>
          </a:prstGeom>
          <a:noFill/>
          <a:ln/>
        </p:spPr>
        <p:txBody>
          <a:bodyPr wrap="square" lIns="0" tIns="0" rIns="0" bIns="0" rtlCol="0" anchor="ctr"/>
          <a:lstStyle/>
          <a:p>
            <a:pPr marL="0" indent="0">
              <a:lnSpc>
                <a:spcPts val="1700"/>
              </a:lnSpc>
              <a:buNone/>
            </a:pPr>
            <a:r>
              <a:rPr lang="en-US" sz="1200" dirty="0">
                <a:solidFill>
                  <a:srgbClr val="393939"/>
                </a:solidFill>
              </a:rPr>
              <a:t>Hosts a suite of tools for gathering information from your IBM MQ queue managers.</a:t>
            </a:r>
            <a:endParaRPr lang="en-US" sz="1200" dirty="0"/>
          </a:p>
        </p:txBody>
      </p:sp>
      <p:sp>
        <p:nvSpPr>
          <p:cNvPr id="7" name="component"/>
          <p:cNvSpPr/>
          <p:nvPr/>
        </p:nvSpPr>
        <p:spPr>
          <a:xfrm>
            <a:off x="4370832" y="1554480"/>
            <a:ext cx="3493008" cy="1920240"/>
          </a:xfrm>
          <a:prstGeom prst="rect">
            <a:avLst/>
          </a:prstGeom>
          <a:solidFill>
            <a:srgbClr val="F4F4F4"/>
          </a:solidFill>
          <a:ln w="12700">
            <a:solidFill>
              <a:srgbClr val="F4F4F4"/>
            </a:solidFill>
            <a:prstDash val="solid"/>
          </a:ln>
        </p:spPr>
        <p:txBody>
          <a:bodyPr/>
          <a:lstStyle/>
          <a:p>
            <a:endParaRPr lang="en-US" dirty="0"/>
          </a:p>
        </p:txBody>
      </p:sp>
      <p:sp>
        <p:nvSpPr>
          <p:cNvPr id="8" name="msg-square"/>
          <p:cNvSpPr/>
          <p:nvPr/>
        </p:nvSpPr>
        <p:spPr>
          <a:xfrm>
            <a:off x="4645152" y="1865376"/>
            <a:ext cx="146304" cy="146304"/>
          </a:xfrm>
          <a:prstGeom prst="rect">
            <a:avLst/>
          </a:prstGeom>
          <a:solidFill>
            <a:srgbClr val="8A3FFC"/>
          </a:solidFill>
          <a:ln w="6350">
            <a:solidFill>
              <a:srgbClr val="8A3FFC"/>
            </a:solidFill>
            <a:prstDash val="solid"/>
          </a:ln>
        </p:spPr>
      </p:sp>
      <p:sp>
        <p:nvSpPr>
          <p:cNvPr id="9" name="Text 7"/>
          <p:cNvSpPr txBox="1"/>
          <p:nvPr/>
        </p:nvSpPr>
        <p:spPr>
          <a:xfrm>
            <a:off x="4645152" y="2157984"/>
            <a:ext cx="2944368" cy="512064"/>
          </a:xfrm>
          <a:prstGeom prst="rect">
            <a:avLst/>
          </a:prstGeom>
          <a:noFill/>
          <a:ln/>
        </p:spPr>
        <p:txBody>
          <a:bodyPr wrap="square" lIns="0" tIns="0" rIns="0" bIns="0" rtlCol="0" anchor="ctr"/>
          <a:lstStyle/>
          <a:p>
            <a:pPr marL="0" indent="0">
              <a:lnSpc>
                <a:spcPts val="2100"/>
              </a:lnSpc>
              <a:buNone/>
            </a:pPr>
            <a:r>
              <a:rPr lang="en-US" sz="1700" b="1" dirty="0">
                <a:solidFill>
                  <a:srgbClr val="161616"/>
                </a:solidFill>
              </a:rPr>
              <a:t>Agent runtime</a:t>
            </a:r>
            <a:endParaRPr lang="en-US" sz="1700" dirty="0"/>
          </a:p>
        </p:txBody>
      </p:sp>
      <p:sp>
        <p:nvSpPr>
          <p:cNvPr id="10" name="Text 8"/>
          <p:cNvSpPr txBox="1"/>
          <p:nvPr/>
        </p:nvSpPr>
        <p:spPr>
          <a:xfrm>
            <a:off x="4645152" y="2688336"/>
            <a:ext cx="2944368" cy="676656"/>
          </a:xfrm>
          <a:prstGeom prst="rect">
            <a:avLst/>
          </a:prstGeom>
          <a:noFill/>
          <a:ln/>
        </p:spPr>
        <p:txBody>
          <a:bodyPr wrap="square" lIns="0" tIns="0" rIns="0" bIns="0" rtlCol="0" anchor="ctr"/>
          <a:lstStyle/>
          <a:p>
            <a:pPr>
              <a:lnSpc>
                <a:spcPts val="1700"/>
              </a:lnSpc>
            </a:pPr>
            <a:r>
              <a:rPr lang="en-US" sz="1200" dirty="0">
                <a:solidFill>
                  <a:srgbClr val="393939"/>
                </a:solidFill>
              </a:rPr>
              <a:t>What you talk to. Uses AI models, and the tools hosted by the MCP server. </a:t>
            </a:r>
            <a:br>
              <a:rPr lang="en-US" sz="1200" dirty="0">
                <a:solidFill>
                  <a:srgbClr val="393939"/>
                </a:solidFill>
              </a:rPr>
            </a:br>
            <a:r>
              <a:rPr lang="en-US" sz="1200" dirty="0">
                <a:solidFill>
                  <a:srgbClr val="393939"/>
                </a:solidFill>
              </a:rPr>
              <a:t> The agent Infers Intent,  Analyzes Queries, Resolves Ambiguities</a:t>
            </a:r>
            <a:endParaRPr lang="en-US" sz="1200" dirty="0"/>
          </a:p>
        </p:txBody>
      </p:sp>
      <p:sp>
        <p:nvSpPr>
          <p:cNvPr id="11" name="component"/>
          <p:cNvSpPr/>
          <p:nvPr/>
        </p:nvSpPr>
        <p:spPr>
          <a:xfrm>
            <a:off x="8174736" y="1554480"/>
            <a:ext cx="3493008" cy="1920240"/>
          </a:xfrm>
          <a:prstGeom prst="rect">
            <a:avLst/>
          </a:prstGeom>
          <a:solidFill>
            <a:srgbClr val="F4F4F4"/>
          </a:solidFill>
          <a:ln w="12700">
            <a:solidFill>
              <a:srgbClr val="F4F4F4"/>
            </a:solidFill>
            <a:prstDash val="solid"/>
          </a:ln>
        </p:spPr>
      </p:sp>
      <p:sp>
        <p:nvSpPr>
          <p:cNvPr id="12" name="msg-square"/>
          <p:cNvSpPr/>
          <p:nvPr/>
        </p:nvSpPr>
        <p:spPr>
          <a:xfrm>
            <a:off x="8449056" y="1865376"/>
            <a:ext cx="146304" cy="146304"/>
          </a:xfrm>
          <a:prstGeom prst="rect">
            <a:avLst/>
          </a:prstGeom>
          <a:solidFill>
            <a:srgbClr val="8A3FFC"/>
          </a:solidFill>
          <a:ln w="6350">
            <a:solidFill>
              <a:srgbClr val="8A3FFC"/>
            </a:solidFill>
            <a:prstDash val="solid"/>
          </a:ln>
        </p:spPr>
      </p:sp>
      <p:sp>
        <p:nvSpPr>
          <p:cNvPr id="13" name="Text 11"/>
          <p:cNvSpPr txBox="1"/>
          <p:nvPr/>
        </p:nvSpPr>
        <p:spPr>
          <a:xfrm>
            <a:off x="8449056" y="2157984"/>
            <a:ext cx="2944368" cy="512064"/>
          </a:xfrm>
          <a:prstGeom prst="rect">
            <a:avLst/>
          </a:prstGeom>
          <a:noFill/>
          <a:ln/>
        </p:spPr>
        <p:txBody>
          <a:bodyPr wrap="square" lIns="0" tIns="0" rIns="0" bIns="0" rtlCol="0" anchor="ctr"/>
          <a:lstStyle/>
          <a:p>
            <a:pPr marL="0" indent="0">
              <a:lnSpc>
                <a:spcPts val="2100"/>
              </a:lnSpc>
              <a:buNone/>
            </a:pPr>
            <a:r>
              <a:rPr lang="en-US" sz="1700" b="1" dirty="0">
                <a:solidFill>
                  <a:srgbClr val="161616"/>
                </a:solidFill>
              </a:rPr>
              <a:t>Up to 20 queue managers</a:t>
            </a:r>
            <a:endParaRPr lang="en-US" sz="1700" dirty="0"/>
          </a:p>
        </p:txBody>
      </p:sp>
      <p:sp>
        <p:nvSpPr>
          <p:cNvPr id="14" name="Text 12"/>
          <p:cNvSpPr txBox="1"/>
          <p:nvPr/>
        </p:nvSpPr>
        <p:spPr>
          <a:xfrm>
            <a:off x="8449056" y="2688336"/>
            <a:ext cx="2944368" cy="676656"/>
          </a:xfrm>
          <a:prstGeom prst="rect">
            <a:avLst/>
          </a:prstGeom>
          <a:noFill/>
          <a:ln/>
        </p:spPr>
        <p:txBody>
          <a:bodyPr wrap="square" lIns="0" tIns="0" rIns="0" bIns="0" rtlCol="0" anchor="ctr"/>
          <a:lstStyle/>
          <a:p>
            <a:pPr marL="0" indent="0">
              <a:lnSpc>
                <a:spcPts val="1700"/>
              </a:lnSpc>
              <a:buNone/>
            </a:pPr>
            <a:r>
              <a:rPr lang="en-US" sz="1200" dirty="0">
                <a:solidFill>
                  <a:srgbClr val="393939"/>
                </a:solidFill>
              </a:rPr>
              <a:t>Which can be running anywhere in your estate.</a:t>
            </a:r>
            <a:endParaRPr lang="en-US" sz="1200" dirty="0"/>
          </a:p>
        </p:txBody>
      </p:sp>
      <p:sp>
        <p:nvSpPr>
          <p:cNvPr id="15" name="Text 13"/>
          <p:cNvSpPr txBox="1"/>
          <p:nvPr/>
        </p:nvSpPr>
        <p:spPr>
          <a:xfrm>
            <a:off x="566928" y="3529584"/>
            <a:ext cx="7315200" cy="256032"/>
          </a:xfrm>
          <a:prstGeom prst="rect">
            <a:avLst/>
          </a:prstGeom>
          <a:noFill/>
          <a:ln/>
        </p:spPr>
        <p:txBody>
          <a:bodyPr wrap="square" lIns="0" tIns="0" rIns="0" bIns="0" rtlCol="0" anchor="ctr"/>
          <a:lstStyle/>
          <a:p>
            <a:pPr marL="0" indent="0">
              <a:buNone/>
            </a:pPr>
            <a:r>
              <a:rPr lang="en-US" sz="1000" dirty="0">
                <a:solidFill>
                  <a:srgbClr val="A8A8A8"/>
                </a:solidFill>
              </a:rPr>
              <a:t>The three components of the IBM MQ Agent, in IBM's words</a:t>
            </a:r>
            <a:endParaRPr lang="en-US" sz="1000" dirty="0"/>
          </a:p>
        </p:txBody>
      </p:sp>
      <p:sp>
        <p:nvSpPr>
          <p:cNvPr id="16" name="prereq"/>
          <p:cNvSpPr/>
          <p:nvPr/>
        </p:nvSpPr>
        <p:spPr>
          <a:xfrm>
            <a:off x="566928" y="3931920"/>
            <a:ext cx="6858000" cy="969264"/>
          </a:xfrm>
          <a:prstGeom prst="rect">
            <a:avLst/>
          </a:prstGeom>
          <a:solidFill>
            <a:srgbClr val="FFFFFF"/>
          </a:solidFill>
          <a:ln w="12700">
            <a:solidFill>
              <a:srgbClr val="C6C6C6"/>
            </a:solidFill>
            <a:prstDash val="solid"/>
          </a:ln>
        </p:spPr>
      </p:sp>
      <p:sp>
        <p:nvSpPr>
          <p:cNvPr id="17" name="Text 15"/>
          <p:cNvSpPr txBox="1"/>
          <p:nvPr/>
        </p:nvSpPr>
        <p:spPr>
          <a:xfrm>
            <a:off x="841248" y="4096512"/>
            <a:ext cx="1828800" cy="219456"/>
          </a:xfrm>
          <a:prstGeom prst="rect">
            <a:avLst/>
          </a:prstGeom>
          <a:noFill/>
          <a:ln/>
        </p:spPr>
        <p:txBody>
          <a:bodyPr wrap="square" lIns="0" tIns="0" rIns="0" bIns="0" rtlCol="0" anchor="ctr"/>
          <a:lstStyle/>
          <a:p>
            <a:pPr marL="0" indent="0">
              <a:buNone/>
            </a:pPr>
            <a:r>
              <a:rPr lang="en-US" sz="900" kern="0" spc="140" dirty="0">
                <a:solidFill>
                  <a:srgbClr val="6F6F6F"/>
                </a:solidFill>
                <a:latin typeface="Courier New" pitchFamily="34" charset="0"/>
                <a:ea typeface="Courier New" pitchFamily="34" charset="-122"/>
                <a:cs typeface="Courier New" pitchFamily="34" charset="-120"/>
              </a:rPr>
              <a:t>REQUIRES</a:t>
            </a:r>
            <a:endParaRPr lang="en-US" sz="900" dirty="0"/>
          </a:p>
        </p:txBody>
      </p:sp>
      <p:sp>
        <p:nvSpPr>
          <p:cNvPr id="18" name="Text 16"/>
          <p:cNvSpPr txBox="1"/>
          <p:nvPr/>
        </p:nvSpPr>
        <p:spPr>
          <a:xfrm>
            <a:off x="841248" y="4334256"/>
            <a:ext cx="6309360" cy="402336"/>
          </a:xfrm>
          <a:prstGeom prst="rect">
            <a:avLst/>
          </a:prstGeom>
          <a:noFill/>
          <a:ln/>
        </p:spPr>
        <p:txBody>
          <a:bodyPr wrap="square" lIns="0" tIns="0" rIns="0" bIns="0" rtlCol="0" anchor="ctr"/>
          <a:lstStyle/>
          <a:p>
            <a:pPr marL="0" indent="0">
              <a:lnSpc>
                <a:spcPts val="1600"/>
              </a:lnSpc>
              <a:buNone/>
            </a:pPr>
            <a:r>
              <a:rPr lang="en-US" sz="1150" dirty="0">
                <a:solidFill>
                  <a:srgbClr val="393939"/>
                </a:solidFill>
              </a:rPr>
              <a:t>MQ Advanced or Cloud Pak for Integration  ·  Red Hat OpenShift  ·  MQ Console 9.4.5 or later</a:t>
            </a:r>
            <a:endParaRPr lang="en-US" sz="1150" dirty="0"/>
          </a:p>
        </p:txBody>
      </p:sp>
      <p:sp>
        <p:nvSpPr>
          <p:cNvPr id="19" name="live"/>
          <p:cNvSpPr/>
          <p:nvPr/>
        </p:nvSpPr>
        <p:spPr>
          <a:xfrm>
            <a:off x="7699248" y="3931920"/>
            <a:ext cx="3895344" cy="969264"/>
          </a:xfrm>
          <a:prstGeom prst="rect">
            <a:avLst/>
          </a:prstGeom>
          <a:solidFill>
            <a:srgbClr val="F6F2FF"/>
          </a:solidFill>
          <a:ln w="12700">
            <a:solidFill>
              <a:srgbClr val="F6F2FF"/>
            </a:solidFill>
            <a:prstDash val="solid"/>
          </a:ln>
        </p:spPr>
      </p:sp>
      <p:sp>
        <p:nvSpPr>
          <p:cNvPr id="20" name="agent-mark"/>
          <p:cNvSpPr/>
          <p:nvPr/>
        </p:nvSpPr>
        <p:spPr>
          <a:xfrm>
            <a:off x="7955280" y="4151376"/>
            <a:ext cx="512064" cy="512064"/>
          </a:xfrm>
          <a:prstGeom prst="rect">
            <a:avLst/>
          </a:prstGeom>
          <a:solidFill>
            <a:srgbClr val="FFFFFF"/>
          </a:solidFill>
          <a:ln w="15875">
            <a:solidFill>
              <a:srgbClr val="161616"/>
            </a:solidFill>
            <a:prstDash val="solid"/>
          </a:ln>
        </p:spPr>
      </p:sp>
      <p:sp>
        <p:nvSpPr>
          <p:cNvPr id="21" name="Text 19"/>
          <p:cNvSpPr txBox="1"/>
          <p:nvPr/>
        </p:nvSpPr>
        <p:spPr>
          <a:xfrm>
            <a:off x="7955280" y="4151376"/>
            <a:ext cx="512064" cy="512064"/>
          </a:xfrm>
          <a:prstGeom prst="rect">
            <a:avLst/>
          </a:prstGeom>
          <a:noFill/>
          <a:ln/>
        </p:spPr>
        <p:txBody>
          <a:bodyPr wrap="square" lIns="0" tIns="0" rIns="0" bIns="0" rtlCol="0" anchor="ctr"/>
          <a:lstStyle/>
          <a:p>
            <a:pPr marL="0" indent="0" algn="ctr">
              <a:buNone/>
            </a:pPr>
            <a:r>
              <a:rPr lang="en-US" sz="1700" b="1" dirty="0">
                <a:solidFill>
                  <a:srgbClr val="161616"/>
                </a:solidFill>
              </a:rPr>
              <a:t>AI</a:t>
            </a:r>
            <a:endParaRPr lang="en-US" sz="1700" dirty="0"/>
          </a:p>
        </p:txBody>
      </p:sp>
      <p:sp>
        <p:nvSpPr>
          <p:cNvPr id="22" name="Text 20"/>
          <p:cNvSpPr txBox="1"/>
          <p:nvPr/>
        </p:nvSpPr>
        <p:spPr>
          <a:xfrm>
            <a:off x="8613648" y="4133088"/>
            <a:ext cx="2834640" cy="274320"/>
          </a:xfrm>
          <a:prstGeom prst="rect">
            <a:avLst/>
          </a:prstGeom>
          <a:noFill/>
          <a:ln/>
        </p:spPr>
        <p:txBody>
          <a:bodyPr wrap="square" lIns="0" tIns="0" rIns="0" bIns="0" rtlCol="0" anchor="ctr"/>
          <a:lstStyle/>
          <a:p>
            <a:pPr marL="0" indent="0">
              <a:buNone/>
            </a:pPr>
            <a:r>
              <a:rPr lang="en-US" sz="1400" b="1" dirty="0">
                <a:solidFill>
                  <a:srgbClr val="491D8B"/>
                </a:solidFill>
              </a:rPr>
              <a:t>Run live, not mocked</a:t>
            </a:r>
            <a:endParaRPr lang="en-US" sz="1400" dirty="0"/>
          </a:p>
        </p:txBody>
      </p:sp>
      <p:sp>
        <p:nvSpPr>
          <p:cNvPr id="23" name="Text 21"/>
          <p:cNvSpPr txBox="1"/>
          <p:nvPr/>
        </p:nvSpPr>
        <p:spPr>
          <a:xfrm>
            <a:off x="8613648" y="4425696"/>
            <a:ext cx="2834640" cy="256032"/>
          </a:xfrm>
          <a:prstGeom prst="rect">
            <a:avLst/>
          </a:prstGeom>
          <a:noFill/>
          <a:ln/>
        </p:spPr>
        <p:txBody>
          <a:bodyPr wrap="square" lIns="0" tIns="0" rIns="0" bIns="0" rtlCol="0" anchor="ctr"/>
          <a:lstStyle/>
          <a:p>
            <a:pPr marL="0" indent="0">
              <a:buNone/>
            </a:pPr>
            <a:r>
              <a:rPr lang="en-US" sz="1100" dirty="0">
                <a:solidFill>
                  <a:srgbClr val="6929C4"/>
                </a:solidFill>
              </a:rPr>
              <a:t>IBM-provided sandbox, 9 Oct 2026</a:t>
            </a:r>
            <a:endParaRPr lang="en-US" sz="1100" dirty="0"/>
          </a:p>
        </p:txBody>
      </p:sp>
      <p:sp>
        <p:nvSpPr>
          <p:cNvPr id="24" name="constraint"/>
          <p:cNvSpPr/>
          <p:nvPr/>
        </p:nvSpPr>
        <p:spPr>
          <a:xfrm>
            <a:off x="566928" y="5084064"/>
            <a:ext cx="11027664" cy="841248"/>
          </a:xfrm>
          <a:prstGeom prst="rect">
            <a:avLst/>
          </a:prstGeom>
          <a:solidFill>
            <a:srgbClr val="FFF1F1"/>
          </a:solidFill>
          <a:ln w="12700">
            <a:solidFill>
              <a:srgbClr val="FFF1F1"/>
            </a:solidFill>
            <a:prstDash val="solid"/>
          </a:ln>
        </p:spPr>
      </p:sp>
      <p:sp>
        <p:nvSpPr>
          <p:cNvPr id="25" name="Text 23"/>
          <p:cNvSpPr txBox="1"/>
          <p:nvPr/>
        </p:nvSpPr>
        <p:spPr>
          <a:xfrm>
            <a:off x="896112" y="5084064"/>
            <a:ext cx="10369296" cy="841248"/>
          </a:xfrm>
          <a:prstGeom prst="rect">
            <a:avLst/>
          </a:prstGeom>
          <a:noFill/>
          <a:ln/>
        </p:spPr>
        <p:txBody>
          <a:bodyPr wrap="square" lIns="0" tIns="0" rIns="0" bIns="0" rtlCol="0" anchor="ctr"/>
          <a:lstStyle/>
          <a:p>
            <a:pPr marL="0" indent="0">
              <a:lnSpc>
                <a:spcPts val="1800"/>
              </a:lnSpc>
              <a:buNone/>
            </a:pPr>
            <a:r>
              <a:rPr lang="en-US" sz="1350" b="1" dirty="0">
                <a:solidFill>
                  <a:srgbClr val="A2191F"/>
                </a:solidFill>
              </a:rPr>
              <a:t>The agent cannot run MQSC commands to make changes. </a:t>
            </a:r>
            <a:r>
              <a:rPr lang="en-US" sz="1350" dirty="0">
                <a:solidFill>
                  <a:srgbClr val="570408"/>
                </a:solidFill>
              </a:rPr>
              <a:t>It reads your estate and tells you what is wrong. </a:t>
            </a:r>
            <a:br>
              <a:rPr lang="en-US" sz="1350" dirty="0">
                <a:solidFill>
                  <a:srgbClr val="570408"/>
                </a:solidFill>
              </a:rPr>
            </a:br>
            <a:r>
              <a:rPr lang="en-US" sz="1350" dirty="0">
                <a:solidFill>
                  <a:srgbClr val="570408"/>
                </a:solidFill>
              </a:rPr>
              <a:t>Changing anything is still a decision somebody makes.</a:t>
            </a:r>
            <a:endParaRPr lang="en-US" sz="1350" dirty="0"/>
          </a:p>
        </p:txBody>
      </p:sp>
      <p:sp>
        <p:nvSpPr>
          <p:cNvPr id="26" name="Slide Number Placeholder 0"/>
          <p:cNvSpPr>
            <a:spLocks noGrp="1"/>
          </p:cNvSpPr>
          <p:nvPr>
            <p:ph type="sldNum" sz="quarter" idx="4294967295"/>
          </p:nvPr>
        </p:nvSpPr>
        <p:spPr>
          <a:xfrm>
            <a:off x="11430000" y="6364224"/>
            <a:ext cx="365760"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A8A8A8"/>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66928" y="384048"/>
            <a:ext cx="10424160" cy="713232"/>
          </a:xfrm>
          <a:prstGeom prst="rect">
            <a:avLst/>
          </a:prstGeom>
          <a:noFill/>
          <a:ln/>
        </p:spPr>
        <p:txBody>
          <a:bodyPr wrap="square" rtlCol="0" anchor="t"/>
          <a:lstStyle/>
          <a:p>
            <a:pPr marL="0" indent="0" algn="l">
              <a:buNone/>
            </a:pPr>
            <a:r>
              <a:rPr lang="en-US" sz="3200" b="1" kern="0" spc="-40" dirty="0">
                <a:solidFill>
                  <a:srgbClr val="161616"/>
                </a:solidFill>
              </a:rPr>
              <a:t>The agent recommends, people still decide</a:t>
            </a:r>
            <a:endParaRPr lang="en-US" sz="3200" dirty="0"/>
          </a:p>
        </p:txBody>
      </p:sp>
      <p:sp>
        <p:nvSpPr>
          <p:cNvPr id="3" name="phase"/>
          <p:cNvSpPr/>
          <p:nvPr/>
        </p:nvSpPr>
        <p:spPr>
          <a:xfrm>
            <a:off x="566928" y="1554480"/>
            <a:ext cx="3493008" cy="2834640"/>
          </a:xfrm>
          <a:prstGeom prst="rect">
            <a:avLst/>
          </a:prstGeom>
          <a:solidFill>
            <a:srgbClr val="FFF1F1"/>
          </a:solidFill>
          <a:ln w="12700">
            <a:solidFill>
              <a:srgbClr val="FFF1F1"/>
            </a:solidFill>
            <a:prstDash val="solid"/>
          </a:ln>
        </p:spPr>
      </p:sp>
      <p:sp>
        <p:nvSpPr>
          <p:cNvPr id="4" name="Text 2"/>
          <p:cNvSpPr txBox="1"/>
          <p:nvPr/>
        </p:nvSpPr>
        <p:spPr>
          <a:xfrm>
            <a:off x="841248" y="1810512"/>
            <a:ext cx="1828800" cy="237744"/>
          </a:xfrm>
          <a:prstGeom prst="rect">
            <a:avLst/>
          </a:prstGeom>
          <a:noFill/>
          <a:ln/>
        </p:spPr>
        <p:txBody>
          <a:bodyPr wrap="square" lIns="0" tIns="0" rIns="0" bIns="0" rtlCol="0" anchor="ctr"/>
          <a:lstStyle/>
          <a:p>
            <a:pPr marL="0" indent="0">
              <a:buNone/>
            </a:pPr>
            <a:r>
              <a:rPr lang="en-US" sz="950" kern="0" spc="140" dirty="0">
                <a:solidFill>
                  <a:srgbClr val="DA1E28"/>
                </a:solidFill>
                <a:latin typeface="Courier New" pitchFamily="34" charset="0"/>
                <a:ea typeface="Courier New" pitchFamily="34" charset="-122"/>
                <a:cs typeface="Courier New" pitchFamily="34" charset="-120"/>
              </a:rPr>
              <a:t>BEFORE</a:t>
            </a:r>
            <a:endParaRPr lang="en-US" sz="950" dirty="0"/>
          </a:p>
        </p:txBody>
      </p:sp>
      <p:sp>
        <p:nvSpPr>
          <p:cNvPr id="5" name="Text 3"/>
          <p:cNvSpPr txBox="1"/>
          <p:nvPr/>
        </p:nvSpPr>
        <p:spPr>
          <a:xfrm>
            <a:off x="841248" y="2121408"/>
            <a:ext cx="2944368" cy="749808"/>
          </a:xfrm>
          <a:prstGeom prst="rect">
            <a:avLst/>
          </a:prstGeom>
          <a:noFill/>
          <a:ln/>
        </p:spPr>
        <p:txBody>
          <a:bodyPr wrap="square" lIns="0" tIns="0" rIns="0" bIns="0" rtlCol="0" anchor="ctr"/>
          <a:lstStyle/>
          <a:p>
            <a:pPr marL="0" indent="0">
              <a:lnSpc>
                <a:spcPts val="2300"/>
              </a:lnSpc>
              <a:buNone/>
            </a:pPr>
            <a:r>
              <a:rPr lang="en-US" sz="1800" b="1" dirty="0">
                <a:solidFill>
                  <a:srgbClr val="A2191F"/>
                </a:solidFill>
              </a:rPr>
              <a:t>Someone notices</a:t>
            </a:r>
            <a:endParaRPr lang="en-US" sz="1800" dirty="0"/>
          </a:p>
        </p:txBody>
      </p:sp>
      <p:sp>
        <p:nvSpPr>
          <p:cNvPr id="6" name="Text 4"/>
          <p:cNvSpPr txBox="1"/>
          <p:nvPr/>
        </p:nvSpPr>
        <p:spPr>
          <a:xfrm>
            <a:off x="841248" y="2944368"/>
            <a:ext cx="2944368" cy="1280160"/>
          </a:xfrm>
          <a:prstGeom prst="rect">
            <a:avLst/>
          </a:prstGeom>
          <a:noFill/>
          <a:ln/>
        </p:spPr>
        <p:txBody>
          <a:bodyPr wrap="square" lIns="0" tIns="0" rIns="0" bIns="0" rtlCol="0" anchor="ctr"/>
          <a:lstStyle/>
          <a:p>
            <a:pPr marL="0" indent="0">
              <a:lnSpc>
                <a:spcPts val="1750"/>
              </a:lnSpc>
              <a:buNone/>
            </a:pPr>
            <a:r>
              <a:rPr lang="en-US" sz="1200" dirty="0">
                <a:solidFill>
                  <a:srgbClr val="393939"/>
                </a:solidFill>
              </a:rPr>
              <a:t>A consumer team complains, or a depth alert fires. An administrator opens the console, finds the queue, reads QSTATUS, then goes looking through recent changes for why GET is off.</a:t>
            </a:r>
            <a:endParaRPr lang="en-US" sz="1200" dirty="0"/>
          </a:p>
        </p:txBody>
      </p:sp>
      <p:sp>
        <p:nvSpPr>
          <p:cNvPr id="7" name="arrow"/>
          <p:cNvSpPr/>
          <p:nvPr/>
        </p:nvSpPr>
        <p:spPr>
          <a:xfrm>
            <a:off x="4105656" y="2971800"/>
            <a:ext cx="219456" cy="0"/>
          </a:xfrm>
          <a:prstGeom prst="line">
            <a:avLst/>
          </a:prstGeom>
          <a:noFill/>
          <a:ln w="22225">
            <a:solidFill>
              <a:srgbClr val="8D8D8D"/>
            </a:solidFill>
            <a:prstDash val="solid"/>
            <a:tailEnd type="triangle"/>
          </a:ln>
        </p:spPr>
      </p:sp>
      <p:sp>
        <p:nvSpPr>
          <p:cNvPr id="8" name="phase"/>
          <p:cNvSpPr/>
          <p:nvPr/>
        </p:nvSpPr>
        <p:spPr>
          <a:xfrm>
            <a:off x="4370832" y="1554480"/>
            <a:ext cx="3493008" cy="2834640"/>
          </a:xfrm>
          <a:prstGeom prst="rect">
            <a:avLst/>
          </a:prstGeom>
          <a:solidFill>
            <a:srgbClr val="EDF5FF"/>
          </a:solidFill>
          <a:ln w="12700">
            <a:solidFill>
              <a:srgbClr val="EDF5FF"/>
            </a:solidFill>
            <a:prstDash val="solid"/>
          </a:ln>
        </p:spPr>
      </p:sp>
      <p:sp>
        <p:nvSpPr>
          <p:cNvPr id="9" name="Text 7"/>
          <p:cNvSpPr txBox="1"/>
          <p:nvPr/>
        </p:nvSpPr>
        <p:spPr>
          <a:xfrm>
            <a:off x="4645152" y="1810512"/>
            <a:ext cx="1828800" cy="237744"/>
          </a:xfrm>
          <a:prstGeom prst="rect">
            <a:avLst/>
          </a:prstGeom>
          <a:noFill/>
          <a:ln/>
        </p:spPr>
        <p:txBody>
          <a:bodyPr wrap="square" lIns="0" tIns="0" rIns="0" bIns="0" rtlCol="0" anchor="ctr"/>
          <a:lstStyle/>
          <a:p>
            <a:pPr marL="0" indent="0">
              <a:buNone/>
            </a:pPr>
            <a:r>
              <a:rPr lang="en-US" sz="950" kern="0" spc="140" dirty="0">
                <a:solidFill>
                  <a:srgbClr val="0F62FE"/>
                </a:solidFill>
                <a:latin typeface="Courier New" pitchFamily="34" charset="0"/>
                <a:ea typeface="Courier New" pitchFamily="34" charset="-122"/>
                <a:cs typeface="Courier New" pitchFamily="34" charset="-120"/>
              </a:rPr>
              <a:t>NOW</a:t>
            </a:r>
            <a:endParaRPr lang="en-US" sz="950" dirty="0"/>
          </a:p>
        </p:txBody>
      </p:sp>
      <p:sp>
        <p:nvSpPr>
          <p:cNvPr id="10" name="Text 8"/>
          <p:cNvSpPr txBox="1"/>
          <p:nvPr/>
        </p:nvSpPr>
        <p:spPr>
          <a:xfrm>
            <a:off x="4645152" y="2121408"/>
            <a:ext cx="2944368" cy="749808"/>
          </a:xfrm>
          <a:prstGeom prst="rect">
            <a:avLst/>
          </a:prstGeom>
          <a:noFill/>
          <a:ln/>
        </p:spPr>
        <p:txBody>
          <a:bodyPr wrap="square" lIns="0" tIns="0" rIns="0" bIns="0" rtlCol="0" anchor="ctr"/>
          <a:lstStyle/>
          <a:p>
            <a:pPr marL="0" indent="0">
              <a:lnSpc>
                <a:spcPts val="2300"/>
              </a:lnSpc>
              <a:buNone/>
            </a:pPr>
            <a:r>
              <a:rPr lang="en-US" sz="1800" b="1" dirty="0">
                <a:solidFill>
                  <a:srgbClr val="0043CE"/>
                </a:solidFill>
              </a:rPr>
              <a:t>The ticket arrives explaining itself</a:t>
            </a:r>
            <a:endParaRPr lang="en-US" sz="1800" dirty="0"/>
          </a:p>
        </p:txBody>
      </p:sp>
      <p:sp>
        <p:nvSpPr>
          <p:cNvPr id="11" name="Text 9"/>
          <p:cNvSpPr txBox="1"/>
          <p:nvPr/>
        </p:nvSpPr>
        <p:spPr>
          <a:xfrm>
            <a:off x="4645152" y="2944368"/>
            <a:ext cx="2944368" cy="1280160"/>
          </a:xfrm>
          <a:prstGeom prst="rect">
            <a:avLst/>
          </a:prstGeom>
          <a:noFill/>
          <a:ln/>
        </p:spPr>
        <p:txBody>
          <a:bodyPr wrap="square" lIns="0" tIns="0" rIns="0" bIns="0" rtlCol="0" anchor="ctr"/>
          <a:lstStyle/>
          <a:p>
            <a:pPr marL="0" indent="0">
              <a:lnSpc>
                <a:spcPts val="1750"/>
              </a:lnSpc>
              <a:buNone/>
            </a:pPr>
            <a:r>
              <a:rPr lang="en-US" sz="1200" dirty="0">
                <a:solidFill>
                  <a:srgbClr val="393939"/>
                </a:solidFill>
              </a:rPr>
              <a:t>The sweep finds every stuck queue, raises a ticket per queue, and the enhancer adds one instruction. The agent answers with the cause and the command.</a:t>
            </a:r>
            <a:endParaRPr lang="en-US" sz="1200" dirty="0"/>
          </a:p>
        </p:txBody>
      </p:sp>
      <p:sp>
        <p:nvSpPr>
          <p:cNvPr id="12" name="arrow"/>
          <p:cNvSpPr/>
          <p:nvPr/>
        </p:nvSpPr>
        <p:spPr>
          <a:xfrm>
            <a:off x="7909560" y="2971800"/>
            <a:ext cx="219456" cy="0"/>
          </a:xfrm>
          <a:prstGeom prst="line">
            <a:avLst/>
          </a:prstGeom>
          <a:noFill/>
          <a:ln w="22225">
            <a:solidFill>
              <a:srgbClr val="8D8D8D"/>
            </a:solidFill>
            <a:prstDash val="solid"/>
            <a:tailEnd type="triangle"/>
          </a:ln>
        </p:spPr>
      </p:sp>
      <p:sp>
        <p:nvSpPr>
          <p:cNvPr id="13" name="phase"/>
          <p:cNvSpPr/>
          <p:nvPr/>
        </p:nvSpPr>
        <p:spPr>
          <a:xfrm>
            <a:off x="8174736" y="1554480"/>
            <a:ext cx="3493008" cy="2834640"/>
          </a:xfrm>
          <a:prstGeom prst="rect">
            <a:avLst/>
          </a:prstGeom>
          <a:solidFill>
            <a:srgbClr val="F6F2FF"/>
          </a:solidFill>
          <a:ln w="12700">
            <a:solidFill>
              <a:srgbClr val="F6F2FF"/>
            </a:solidFill>
            <a:prstDash val="solid"/>
          </a:ln>
        </p:spPr>
      </p:sp>
      <p:sp>
        <p:nvSpPr>
          <p:cNvPr id="14" name="Text 12"/>
          <p:cNvSpPr txBox="1"/>
          <p:nvPr/>
        </p:nvSpPr>
        <p:spPr>
          <a:xfrm>
            <a:off x="8449056" y="1810512"/>
            <a:ext cx="1828800" cy="237744"/>
          </a:xfrm>
          <a:prstGeom prst="rect">
            <a:avLst/>
          </a:prstGeom>
          <a:noFill/>
          <a:ln/>
        </p:spPr>
        <p:txBody>
          <a:bodyPr wrap="square" lIns="0" tIns="0" rIns="0" bIns="0" rtlCol="0" anchor="ctr"/>
          <a:lstStyle/>
          <a:p>
            <a:pPr marL="0" indent="0">
              <a:buNone/>
            </a:pPr>
            <a:r>
              <a:rPr lang="en-US" sz="950" kern="0" spc="140" dirty="0">
                <a:solidFill>
                  <a:srgbClr val="8A3FFC"/>
                </a:solidFill>
                <a:latin typeface="Courier New" pitchFamily="34" charset="0"/>
                <a:ea typeface="Courier New" pitchFamily="34" charset="-122"/>
                <a:cs typeface="Courier New" pitchFamily="34" charset="-120"/>
              </a:rPr>
              <a:t>NEXT</a:t>
            </a:r>
            <a:endParaRPr lang="en-US" sz="950" dirty="0"/>
          </a:p>
        </p:txBody>
      </p:sp>
      <p:sp>
        <p:nvSpPr>
          <p:cNvPr id="15" name="Text 13"/>
          <p:cNvSpPr txBox="1"/>
          <p:nvPr/>
        </p:nvSpPr>
        <p:spPr>
          <a:xfrm>
            <a:off x="8449056" y="2121408"/>
            <a:ext cx="2944368" cy="749808"/>
          </a:xfrm>
          <a:prstGeom prst="rect">
            <a:avLst/>
          </a:prstGeom>
          <a:noFill/>
          <a:ln/>
        </p:spPr>
        <p:txBody>
          <a:bodyPr wrap="square" lIns="0" tIns="0" rIns="0" bIns="0" rtlCol="0" anchor="ctr"/>
          <a:lstStyle/>
          <a:p>
            <a:pPr marL="0" indent="0">
              <a:lnSpc>
                <a:spcPts val="2300"/>
              </a:lnSpc>
              <a:buNone/>
            </a:pPr>
            <a:r>
              <a:rPr lang="en-US" sz="1800" b="1" dirty="0">
                <a:solidFill>
                  <a:srgbClr val="491D8B"/>
                </a:solidFill>
              </a:rPr>
              <a:t>The agent takes the ticket directly</a:t>
            </a:r>
            <a:endParaRPr lang="en-US" sz="1800" dirty="0"/>
          </a:p>
        </p:txBody>
      </p:sp>
      <p:sp>
        <p:nvSpPr>
          <p:cNvPr id="16" name="Text 14"/>
          <p:cNvSpPr txBox="1"/>
          <p:nvPr/>
        </p:nvSpPr>
        <p:spPr>
          <a:xfrm>
            <a:off x="8449056" y="2944368"/>
            <a:ext cx="2944368" cy="1280160"/>
          </a:xfrm>
          <a:prstGeom prst="rect">
            <a:avLst/>
          </a:prstGeom>
          <a:noFill/>
          <a:ln/>
        </p:spPr>
        <p:txBody>
          <a:bodyPr wrap="square" lIns="0" tIns="0" rIns="0" bIns="0" rtlCol="0" anchor="ctr"/>
          <a:lstStyle/>
          <a:p>
            <a:pPr marL="0" indent="0">
              <a:lnSpc>
                <a:spcPts val="1750"/>
              </a:lnSpc>
              <a:buNone/>
            </a:pPr>
            <a:r>
              <a:rPr lang="en-US" sz="1200" dirty="0">
                <a:solidFill>
                  <a:srgbClr val="393939"/>
                </a:solidFill>
              </a:rPr>
              <a:t>This version makes the ticket easy to enhance. The next version of the agent can consume that enhanced ticket itself, with remediation behind an approval step.</a:t>
            </a:r>
            <a:endParaRPr lang="en-US" sz="1200" dirty="0"/>
          </a:p>
        </p:txBody>
      </p:sp>
      <p:sp>
        <p:nvSpPr>
          <p:cNvPr id="17" name="closing-point"/>
          <p:cNvSpPr/>
          <p:nvPr/>
        </p:nvSpPr>
        <p:spPr>
          <a:xfrm>
            <a:off x="566928" y="4718304"/>
            <a:ext cx="11027664" cy="1097280"/>
          </a:xfrm>
          <a:prstGeom prst="rect">
            <a:avLst/>
          </a:prstGeom>
          <a:solidFill>
            <a:srgbClr val="161616"/>
          </a:solidFill>
          <a:ln w="12700">
            <a:solidFill>
              <a:srgbClr val="161616"/>
            </a:solidFill>
            <a:prstDash val="solid"/>
          </a:ln>
        </p:spPr>
      </p:sp>
      <p:sp>
        <p:nvSpPr>
          <p:cNvPr id="18" name="Text 16"/>
          <p:cNvSpPr txBox="1"/>
          <p:nvPr/>
        </p:nvSpPr>
        <p:spPr>
          <a:xfrm>
            <a:off x="950976" y="4919472"/>
            <a:ext cx="4937760" cy="329184"/>
          </a:xfrm>
          <a:prstGeom prst="rect">
            <a:avLst/>
          </a:prstGeom>
          <a:noFill/>
          <a:ln/>
        </p:spPr>
        <p:txBody>
          <a:bodyPr wrap="square" lIns="0" tIns="0" rIns="0" bIns="0" rtlCol="0" anchor="ctr"/>
          <a:lstStyle/>
          <a:p>
            <a:pPr marL="0" indent="0">
              <a:buNone/>
            </a:pPr>
            <a:r>
              <a:rPr lang="en-US" sz="1800" b="1" dirty="0">
                <a:solidFill>
                  <a:srgbClr val="FFFFFF"/>
                </a:solidFill>
              </a:rPr>
              <a:t>The fix was always one command.</a:t>
            </a:r>
            <a:endParaRPr lang="en-US" sz="1800" dirty="0"/>
          </a:p>
        </p:txBody>
      </p:sp>
      <p:sp>
        <p:nvSpPr>
          <p:cNvPr id="19" name="Text 17"/>
          <p:cNvSpPr txBox="1"/>
          <p:nvPr/>
        </p:nvSpPr>
        <p:spPr>
          <a:xfrm>
            <a:off x="950976" y="5285232"/>
            <a:ext cx="4937760" cy="292608"/>
          </a:xfrm>
          <a:prstGeom prst="rect">
            <a:avLst/>
          </a:prstGeom>
          <a:noFill/>
          <a:ln/>
        </p:spPr>
        <p:txBody>
          <a:bodyPr wrap="square" lIns="0" tIns="0" rIns="0" bIns="0" rtlCol="0" anchor="ctr"/>
          <a:lstStyle/>
          <a:p>
            <a:pPr marL="0" indent="0">
              <a:buNone/>
            </a:pPr>
            <a:r>
              <a:rPr lang="en-US" sz="1300" dirty="0">
                <a:solidFill>
                  <a:srgbClr val="C6C6C6"/>
                </a:solidFill>
              </a:rPr>
              <a:t>Everything we built exists to get a person to it faster.</a:t>
            </a:r>
            <a:endParaRPr lang="en-US" sz="1300" dirty="0"/>
          </a:p>
        </p:txBody>
      </p:sp>
      <p:sp>
        <p:nvSpPr>
          <p:cNvPr id="20" name="code-block"/>
          <p:cNvSpPr/>
          <p:nvPr/>
        </p:nvSpPr>
        <p:spPr>
          <a:xfrm>
            <a:off x="6272784" y="4974336"/>
            <a:ext cx="5084064" cy="566928"/>
          </a:xfrm>
          <a:prstGeom prst="rect">
            <a:avLst/>
          </a:prstGeom>
          <a:solidFill>
            <a:srgbClr val="000000"/>
          </a:solidFill>
          <a:ln w="12700">
            <a:solidFill>
              <a:srgbClr val="000000"/>
            </a:solidFill>
            <a:prstDash val="solid"/>
          </a:ln>
        </p:spPr>
      </p:sp>
      <p:sp>
        <p:nvSpPr>
          <p:cNvPr id="21" name="Text 19"/>
          <p:cNvSpPr txBox="1"/>
          <p:nvPr/>
        </p:nvSpPr>
        <p:spPr>
          <a:xfrm>
            <a:off x="6473952" y="5120640"/>
            <a:ext cx="4681728" cy="274320"/>
          </a:xfrm>
          <a:prstGeom prst="rect">
            <a:avLst/>
          </a:prstGeom>
          <a:noFill/>
          <a:ln/>
        </p:spPr>
        <p:txBody>
          <a:bodyPr wrap="square" lIns="0" tIns="0" rIns="0" bIns="0" rtlCol="0" anchor="t"/>
          <a:lstStyle/>
          <a:p>
            <a:pPr marL="0" indent="0">
              <a:lnSpc>
                <a:spcPts val="1813"/>
              </a:lnSpc>
              <a:buNone/>
            </a:pPr>
            <a:r>
              <a:rPr lang="en-US" sz="1250" dirty="0">
                <a:solidFill>
                  <a:srgbClr val="42BE65"/>
                </a:solidFill>
                <a:latin typeface="Courier New" pitchFamily="34" charset="0"/>
                <a:ea typeface="Courier New" pitchFamily="34" charset="-122"/>
                <a:cs typeface="Courier New" pitchFamily="34" charset="-120"/>
              </a:rPr>
              <a:t>ALTER QLOCAL('ACME.APPDATA.QUEUE') GET(ENABLED)</a:t>
            </a:r>
            <a:endParaRPr lang="en-US" sz="1250" dirty="0"/>
          </a:p>
        </p:txBody>
      </p:sp>
      <p:sp>
        <p:nvSpPr>
          <p:cNvPr id="25" name="Slide Number Placeholder 0"/>
          <p:cNvSpPr>
            <a:spLocks noGrp="1"/>
          </p:cNvSpPr>
          <p:nvPr>
            <p:ph type="sldNum" sz="quarter" idx="4294967295"/>
          </p:nvPr>
        </p:nvSpPr>
        <p:spPr>
          <a:xfrm>
            <a:off x="11430000" y="6364224"/>
            <a:ext cx="365760"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A8A8A8"/>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66928" y="1325880"/>
            <a:ext cx="8229600" cy="274320"/>
          </a:xfrm>
          <a:prstGeom prst="rect">
            <a:avLst/>
          </a:prstGeom>
          <a:noFill/>
          <a:ln/>
        </p:spPr>
        <p:txBody>
          <a:bodyPr wrap="square" rtlCol="0"/>
          <a:lstStyle/>
          <a:p>
            <a:pPr marL="0" indent="0" algn="l">
              <a:buNone/>
            </a:pPr>
            <a:r>
              <a:rPr lang="en-US" sz="1300" kern="0" spc="160" dirty="0">
                <a:solidFill>
                  <a:srgbClr val="0F62FE"/>
                </a:solidFill>
                <a:latin typeface="Courier New" pitchFamily="34" charset="0"/>
                <a:ea typeface="Courier New" pitchFamily="34" charset="-122"/>
                <a:cs typeface="Courier New" pitchFamily="34" charset="-120"/>
              </a:rPr>
              <a:t>QMS1  ·  ACME.APPDATA.QUEUE  ·  DIAGNOSED</a:t>
            </a:r>
            <a:endParaRPr lang="en-US" sz="1300" dirty="0"/>
          </a:p>
        </p:txBody>
      </p:sp>
      <p:sp>
        <p:nvSpPr>
          <p:cNvPr id="3" name="Text 0"/>
          <p:cNvSpPr>
            <a:spLocks noGrp="1"/>
          </p:cNvSpPr>
          <p:nvPr>
            <p:ph type="title" idx="101" hasCustomPrompt="1"/>
          </p:nvPr>
        </p:nvSpPr>
        <p:spPr>
          <a:xfrm>
            <a:off x="566928" y="1737360"/>
            <a:ext cx="5943600" cy="1737360"/>
          </a:xfrm>
          <a:prstGeom prst="rect">
            <a:avLst/>
          </a:prstGeom>
          <a:noFill/>
          <a:ln/>
        </p:spPr>
        <p:txBody>
          <a:bodyPr wrap="square" rtlCol="0" anchor="t"/>
          <a:lstStyle/>
          <a:p>
            <a:pPr marL="0" indent="0" algn="l">
              <a:buNone/>
            </a:pPr>
            <a:r>
              <a:rPr lang="en-US" sz="5400" b="1" kern="0" spc="-80" dirty="0">
                <a:solidFill>
                  <a:srgbClr val="FFFFFF"/>
                </a:solidFill>
              </a:rPr>
              <a:t>Thank you</a:t>
            </a:r>
            <a:endParaRPr lang="en-US" sz="5400" dirty="0"/>
          </a:p>
        </p:txBody>
      </p:sp>
      <p:sp>
        <p:nvSpPr>
          <p:cNvPr id="4" name="Text 0"/>
          <p:cNvSpPr>
            <a:spLocks noGrp="1"/>
          </p:cNvSpPr>
          <p:nvPr>
            <p:ph type="body" idx="102" hasCustomPrompt="1"/>
          </p:nvPr>
        </p:nvSpPr>
        <p:spPr>
          <a:xfrm>
            <a:off x="566928" y="3493008"/>
            <a:ext cx="5943600" cy="1344168"/>
          </a:xfrm>
          <a:prstGeom prst="rect">
            <a:avLst/>
          </a:prstGeom>
          <a:noFill/>
          <a:ln/>
        </p:spPr>
        <p:txBody>
          <a:bodyPr wrap="square" rtlCol="0"/>
          <a:lstStyle/>
          <a:p>
            <a:pPr marL="0" indent="0" algn="l">
              <a:buNone/>
            </a:pPr>
            <a:r>
              <a:rPr lang="en-US" sz="2100" dirty="0">
                <a:solidFill>
                  <a:srgbClr val="C6C6C6"/>
                </a:solidFill>
              </a:rPr>
              <a:t>Questions</a:t>
            </a:r>
            <a:r>
              <a:rPr lang="en-US" dirty="0"/>
              <a:t>?</a:t>
            </a:r>
            <a:br>
              <a:rPr lang="en-US" dirty="0"/>
            </a:br>
            <a:r>
              <a:rPr lang="en-US" dirty="0"/>
              <a:t>During questions, I’ll run a recreation of the Qs</a:t>
            </a:r>
            <a:br>
              <a:rPr lang="en-US" dirty="0"/>
            </a:br>
            <a:r>
              <a:rPr lang="en-US" dirty="0"/>
              <a:t>And re-ask the MQ AI agent for a diagnosis</a:t>
            </a:r>
            <a:br>
              <a:rPr lang="en-US" dirty="0"/>
            </a:br>
            <a:endParaRPr lang="en-US" sz="2100" dirty="0"/>
          </a:p>
        </p:txBody>
      </p:sp>
      <p:sp>
        <p:nvSpPr>
          <p:cNvPr id="5" name="Text 0"/>
          <p:cNvSpPr>
            <a:spLocks noGrp="1"/>
          </p:cNvSpPr>
          <p:nvPr>
            <p:ph type="body" idx="103" hasCustomPrompt="1"/>
          </p:nvPr>
        </p:nvSpPr>
        <p:spPr>
          <a:xfrm>
            <a:off x="566928" y="5715000"/>
            <a:ext cx="8595360" cy="411480"/>
          </a:xfrm>
          <a:prstGeom prst="rect">
            <a:avLst/>
          </a:prstGeom>
          <a:noFill/>
          <a:ln/>
        </p:spPr>
        <p:txBody>
          <a:bodyPr wrap="square" rtlCol="0"/>
          <a:lstStyle/>
          <a:p>
            <a:pPr marL="0" indent="0" algn="l">
              <a:buNone/>
            </a:pPr>
            <a:r>
              <a:rPr lang="en-US" sz="1400" kern="0" spc="60" dirty="0">
                <a:solidFill>
                  <a:srgbClr val="6F6F6F"/>
                </a:solidFill>
              </a:rPr>
              <a:t>A.J. Aronoff   ·   IBM AngelHack   ·   October 2026</a:t>
            </a:r>
            <a:endParaRPr lang="en-US" sz="1400" dirty="0"/>
          </a:p>
        </p:txBody>
      </p:sp>
      <p:sp>
        <p:nvSpPr>
          <p:cNvPr id="6" name="Text 4"/>
          <p:cNvSpPr txBox="1"/>
          <p:nvPr/>
        </p:nvSpPr>
        <p:spPr>
          <a:xfrm>
            <a:off x="7223760" y="1828800"/>
            <a:ext cx="2743200" cy="237744"/>
          </a:xfrm>
          <a:prstGeom prst="rect">
            <a:avLst/>
          </a:prstGeom>
          <a:noFill/>
          <a:ln/>
        </p:spPr>
        <p:txBody>
          <a:bodyPr wrap="square" lIns="0" tIns="0" rIns="0" bIns="0" rtlCol="0" anchor="ctr"/>
          <a:lstStyle/>
          <a:p>
            <a:pPr marL="0" indent="0">
              <a:buNone/>
            </a:pPr>
            <a:r>
              <a:rPr lang="en-US" sz="950" kern="0" spc="140" dirty="0">
                <a:solidFill>
                  <a:srgbClr val="0F62FE"/>
                </a:solidFill>
                <a:latin typeface="Courier New" pitchFamily="34" charset="0"/>
                <a:ea typeface="Courier New" pitchFamily="34" charset="-122"/>
                <a:cs typeface="Courier New" pitchFamily="34" charset="-120"/>
              </a:rPr>
              <a:t>WHAT IS NEXT</a:t>
            </a:r>
            <a:endParaRPr lang="en-US" sz="950" dirty="0"/>
          </a:p>
        </p:txBody>
      </p:sp>
      <p:sp>
        <p:nvSpPr>
          <p:cNvPr id="7" name="msg-square"/>
          <p:cNvSpPr/>
          <p:nvPr/>
        </p:nvSpPr>
        <p:spPr>
          <a:xfrm>
            <a:off x="7223760" y="2340864"/>
            <a:ext cx="137160" cy="137160"/>
          </a:xfrm>
          <a:prstGeom prst="rect">
            <a:avLst/>
          </a:prstGeom>
          <a:solidFill>
            <a:srgbClr val="0F62FE"/>
          </a:solidFill>
          <a:ln w="6350">
            <a:solidFill>
              <a:srgbClr val="0F62FE"/>
            </a:solidFill>
            <a:prstDash val="solid"/>
          </a:ln>
        </p:spPr>
      </p:sp>
      <p:sp>
        <p:nvSpPr>
          <p:cNvPr id="8" name="Text 6"/>
          <p:cNvSpPr txBox="1"/>
          <p:nvPr/>
        </p:nvSpPr>
        <p:spPr>
          <a:xfrm>
            <a:off x="7516368" y="2176272"/>
            <a:ext cx="3931920" cy="548640"/>
          </a:xfrm>
          <a:prstGeom prst="rect">
            <a:avLst/>
          </a:prstGeom>
          <a:noFill/>
          <a:ln/>
        </p:spPr>
        <p:txBody>
          <a:bodyPr wrap="square" lIns="0" tIns="0" rIns="0" bIns="0" rtlCol="0" anchor="ctr"/>
          <a:lstStyle/>
          <a:p>
            <a:pPr marL="0" indent="0">
              <a:lnSpc>
                <a:spcPts val="1900"/>
              </a:lnSpc>
              <a:buNone/>
            </a:pPr>
            <a:r>
              <a:rPr lang="en-US" sz="1350" dirty="0">
                <a:solidFill>
                  <a:srgbClr val="C6C6C6"/>
                </a:solidFill>
              </a:rPr>
              <a:t>Depth-trend detection, to catch the slow consumer</a:t>
            </a:r>
            <a:endParaRPr lang="en-US" sz="1350" dirty="0"/>
          </a:p>
        </p:txBody>
      </p:sp>
      <p:sp>
        <p:nvSpPr>
          <p:cNvPr id="9" name="msg-square"/>
          <p:cNvSpPr/>
          <p:nvPr/>
        </p:nvSpPr>
        <p:spPr>
          <a:xfrm>
            <a:off x="7223760" y="3127248"/>
            <a:ext cx="137160" cy="137160"/>
          </a:xfrm>
          <a:prstGeom prst="rect">
            <a:avLst/>
          </a:prstGeom>
          <a:solidFill>
            <a:srgbClr val="0F62FE"/>
          </a:solidFill>
          <a:ln w="6350">
            <a:solidFill>
              <a:srgbClr val="0F62FE"/>
            </a:solidFill>
            <a:prstDash val="solid"/>
          </a:ln>
        </p:spPr>
      </p:sp>
      <p:sp>
        <p:nvSpPr>
          <p:cNvPr id="10" name="Text 8"/>
          <p:cNvSpPr txBox="1"/>
          <p:nvPr/>
        </p:nvSpPr>
        <p:spPr>
          <a:xfrm>
            <a:off x="7516368" y="2962656"/>
            <a:ext cx="3931920" cy="548640"/>
          </a:xfrm>
          <a:prstGeom prst="rect">
            <a:avLst/>
          </a:prstGeom>
          <a:noFill/>
          <a:ln/>
        </p:spPr>
        <p:txBody>
          <a:bodyPr wrap="square" lIns="0" tIns="0" rIns="0" bIns="0" rtlCol="0" anchor="ctr"/>
          <a:lstStyle/>
          <a:p>
            <a:pPr marL="0" indent="0">
              <a:lnSpc>
                <a:spcPts val="1900"/>
              </a:lnSpc>
              <a:buNone/>
            </a:pPr>
            <a:r>
              <a:rPr lang="en-US" sz="1350" dirty="0">
                <a:solidFill>
                  <a:srgbClr val="C6C6C6"/>
                </a:solidFill>
              </a:rPr>
              <a:t>The agent consumes the enhanced ticket directly</a:t>
            </a:r>
            <a:endParaRPr lang="en-US" sz="1350" dirty="0"/>
          </a:p>
        </p:txBody>
      </p:sp>
      <p:sp>
        <p:nvSpPr>
          <p:cNvPr id="11" name="msg-square"/>
          <p:cNvSpPr/>
          <p:nvPr/>
        </p:nvSpPr>
        <p:spPr>
          <a:xfrm>
            <a:off x="7223760" y="3913632"/>
            <a:ext cx="137160" cy="137160"/>
          </a:xfrm>
          <a:prstGeom prst="rect">
            <a:avLst/>
          </a:prstGeom>
          <a:solidFill>
            <a:srgbClr val="0F62FE"/>
          </a:solidFill>
          <a:ln w="6350">
            <a:solidFill>
              <a:srgbClr val="0F62FE"/>
            </a:solidFill>
            <a:prstDash val="solid"/>
          </a:ln>
        </p:spPr>
      </p:sp>
      <p:sp>
        <p:nvSpPr>
          <p:cNvPr id="12" name="Text 10"/>
          <p:cNvSpPr txBox="1"/>
          <p:nvPr/>
        </p:nvSpPr>
        <p:spPr>
          <a:xfrm>
            <a:off x="7516368" y="3749040"/>
            <a:ext cx="3931920" cy="548640"/>
          </a:xfrm>
          <a:prstGeom prst="rect">
            <a:avLst/>
          </a:prstGeom>
          <a:noFill/>
          <a:ln/>
        </p:spPr>
        <p:txBody>
          <a:bodyPr wrap="square" lIns="0" tIns="0" rIns="0" bIns="0" rtlCol="0" anchor="ctr"/>
          <a:lstStyle/>
          <a:p>
            <a:pPr marL="0" indent="0">
              <a:lnSpc>
                <a:spcPts val="1900"/>
              </a:lnSpc>
              <a:buNone/>
            </a:pPr>
            <a:r>
              <a:rPr lang="en-US" sz="1350" dirty="0">
                <a:solidFill>
                  <a:srgbClr val="C6C6C6"/>
                </a:solidFill>
              </a:rPr>
              <a:t>Remediation behind an approval step</a:t>
            </a:r>
            <a:endParaRPr lang="en-US" sz="1350" dirty="0"/>
          </a:p>
        </p:txBody>
      </p:sp>
      <p:sp>
        <p:nvSpPr>
          <p:cNvPr id="13" name="msg-square"/>
          <p:cNvSpPr/>
          <p:nvPr/>
        </p:nvSpPr>
        <p:spPr>
          <a:xfrm>
            <a:off x="7223760" y="4846320"/>
            <a:ext cx="155448" cy="155448"/>
          </a:xfrm>
          <a:prstGeom prst="rect">
            <a:avLst/>
          </a:prstGeom>
          <a:solidFill>
            <a:srgbClr val="161616"/>
          </a:solidFill>
          <a:ln w="9525">
            <a:solidFill>
              <a:srgbClr val="393939"/>
            </a:solidFill>
            <a:prstDash val="solid"/>
          </a:ln>
        </p:spPr>
      </p:sp>
      <p:sp>
        <p:nvSpPr>
          <p:cNvPr id="14" name="msg-square"/>
          <p:cNvSpPr/>
          <p:nvPr/>
        </p:nvSpPr>
        <p:spPr>
          <a:xfrm>
            <a:off x="7447788" y="4846320"/>
            <a:ext cx="155448" cy="155448"/>
          </a:xfrm>
          <a:prstGeom prst="rect">
            <a:avLst/>
          </a:prstGeom>
          <a:solidFill>
            <a:srgbClr val="161616"/>
          </a:solidFill>
          <a:ln w="9525">
            <a:solidFill>
              <a:srgbClr val="393939"/>
            </a:solidFill>
            <a:prstDash val="solid"/>
          </a:ln>
        </p:spPr>
      </p:sp>
      <p:sp>
        <p:nvSpPr>
          <p:cNvPr id="15" name="msg-square"/>
          <p:cNvSpPr/>
          <p:nvPr/>
        </p:nvSpPr>
        <p:spPr>
          <a:xfrm>
            <a:off x="7671816" y="4846320"/>
            <a:ext cx="155448" cy="155448"/>
          </a:xfrm>
          <a:prstGeom prst="rect">
            <a:avLst/>
          </a:prstGeom>
          <a:solidFill>
            <a:srgbClr val="161616"/>
          </a:solidFill>
          <a:ln w="9525">
            <a:solidFill>
              <a:srgbClr val="393939"/>
            </a:solidFill>
            <a:prstDash val="solid"/>
          </a:ln>
        </p:spPr>
      </p:sp>
      <p:sp>
        <p:nvSpPr>
          <p:cNvPr id="16" name="msg-square"/>
          <p:cNvSpPr/>
          <p:nvPr/>
        </p:nvSpPr>
        <p:spPr>
          <a:xfrm>
            <a:off x="7895844" y="4846320"/>
            <a:ext cx="155448" cy="155448"/>
          </a:xfrm>
          <a:prstGeom prst="rect">
            <a:avLst/>
          </a:prstGeom>
          <a:solidFill>
            <a:srgbClr val="161616"/>
          </a:solidFill>
          <a:ln w="9525">
            <a:solidFill>
              <a:srgbClr val="393939"/>
            </a:solidFill>
            <a:prstDash val="solid"/>
          </a:ln>
        </p:spPr>
      </p:sp>
      <p:sp>
        <p:nvSpPr>
          <p:cNvPr id="17" name="msg-square"/>
          <p:cNvSpPr/>
          <p:nvPr/>
        </p:nvSpPr>
        <p:spPr>
          <a:xfrm>
            <a:off x="8119872" y="4846320"/>
            <a:ext cx="155448" cy="155448"/>
          </a:xfrm>
          <a:prstGeom prst="rect">
            <a:avLst/>
          </a:prstGeom>
          <a:solidFill>
            <a:srgbClr val="161616"/>
          </a:solidFill>
          <a:ln w="9525">
            <a:solidFill>
              <a:srgbClr val="393939"/>
            </a:solidFill>
            <a:prstDash val="solid"/>
          </a:ln>
        </p:spPr>
      </p:sp>
      <p:sp>
        <p:nvSpPr>
          <p:cNvPr id="18" name="msg-square"/>
          <p:cNvSpPr/>
          <p:nvPr/>
        </p:nvSpPr>
        <p:spPr>
          <a:xfrm>
            <a:off x="8343900" y="4846320"/>
            <a:ext cx="155448" cy="155448"/>
          </a:xfrm>
          <a:prstGeom prst="rect">
            <a:avLst/>
          </a:prstGeom>
          <a:solidFill>
            <a:srgbClr val="161616"/>
          </a:solidFill>
          <a:ln w="9525">
            <a:solidFill>
              <a:srgbClr val="393939"/>
            </a:solidFill>
            <a:prstDash val="solid"/>
          </a:ln>
        </p:spPr>
      </p:sp>
      <p:sp>
        <p:nvSpPr>
          <p:cNvPr id="19" name="msg-square"/>
          <p:cNvSpPr/>
          <p:nvPr/>
        </p:nvSpPr>
        <p:spPr>
          <a:xfrm>
            <a:off x="8567928" y="4846320"/>
            <a:ext cx="155448" cy="155448"/>
          </a:xfrm>
          <a:prstGeom prst="rect">
            <a:avLst/>
          </a:prstGeom>
          <a:solidFill>
            <a:srgbClr val="161616"/>
          </a:solidFill>
          <a:ln w="9525">
            <a:solidFill>
              <a:srgbClr val="393939"/>
            </a:solidFill>
            <a:prstDash val="solid"/>
          </a:ln>
        </p:spPr>
      </p:sp>
      <p:sp>
        <p:nvSpPr>
          <p:cNvPr id="20" name="msg-square"/>
          <p:cNvSpPr/>
          <p:nvPr/>
        </p:nvSpPr>
        <p:spPr>
          <a:xfrm>
            <a:off x="8791956" y="4846320"/>
            <a:ext cx="155448" cy="155448"/>
          </a:xfrm>
          <a:prstGeom prst="rect">
            <a:avLst/>
          </a:prstGeom>
          <a:solidFill>
            <a:srgbClr val="161616"/>
          </a:solidFill>
          <a:ln w="9525">
            <a:solidFill>
              <a:srgbClr val="393939"/>
            </a:solidFill>
            <a:prstDash val="solid"/>
          </a:ln>
        </p:spPr>
      </p:sp>
      <p:sp>
        <p:nvSpPr>
          <p:cNvPr id="21" name="msg-square"/>
          <p:cNvSpPr/>
          <p:nvPr/>
        </p:nvSpPr>
        <p:spPr>
          <a:xfrm>
            <a:off x="9015984" y="4846320"/>
            <a:ext cx="155448" cy="155448"/>
          </a:xfrm>
          <a:prstGeom prst="rect">
            <a:avLst/>
          </a:prstGeom>
          <a:solidFill>
            <a:srgbClr val="161616"/>
          </a:solidFill>
          <a:ln w="9525">
            <a:solidFill>
              <a:srgbClr val="393939"/>
            </a:solidFill>
            <a:prstDash val="solid"/>
          </a:ln>
        </p:spPr>
      </p:sp>
      <p:sp>
        <p:nvSpPr>
          <p:cNvPr id="22" name="msg-square"/>
          <p:cNvSpPr/>
          <p:nvPr/>
        </p:nvSpPr>
        <p:spPr>
          <a:xfrm>
            <a:off x="9240012" y="4846320"/>
            <a:ext cx="155448" cy="155448"/>
          </a:xfrm>
          <a:prstGeom prst="rect">
            <a:avLst/>
          </a:prstGeom>
          <a:solidFill>
            <a:srgbClr val="161616"/>
          </a:solidFill>
          <a:ln w="9525">
            <a:solidFill>
              <a:srgbClr val="393939"/>
            </a:solidFill>
            <a:prstDash val="solid"/>
          </a:ln>
        </p:spPr>
      </p:sp>
      <p:sp>
        <p:nvSpPr>
          <p:cNvPr id="23" name="msg-square"/>
          <p:cNvSpPr/>
          <p:nvPr/>
        </p:nvSpPr>
        <p:spPr>
          <a:xfrm>
            <a:off x="9464040" y="4846320"/>
            <a:ext cx="155448" cy="155448"/>
          </a:xfrm>
          <a:prstGeom prst="rect">
            <a:avLst/>
          </a:prstGeom>
          <a:solidFill>
            <a:srgbClr val="161616"/>
          </a:solidFill>
          <a:ln w="9525">
            <a:solidFill>
              <a:srgbClr val="393939"/>
            </a:solidFill>
            <a:prstDash val="solid"/>
          </a:ln>
        </p:spPr>
      </p:sp>
      <p:sp>
        <p:nvSpPr>
          <p:cNvPr id="24" name="msg-square"/>
          <p:cNvSpPr/>
          <p:nvPr/>
        </p:nvSpPr>
        <p:spPr>
          <a:xfrm>
            <a:off x="9688068" y="4846320"/>
            <a:ext cx="155448" cy="155448"/>
          </a:xfrm>
          <a:prstGeom prst="rect">
            <a:avLst/>
          </a:prstGeom>
          <a:solidFill>
            <a:srgbClr val="161616"/>
          </a:solidFill>
          <a:ln w="9525">
            <a:solidFill>
              <a:srgbClr val="393939"/>
            </a:solidFill>
            <a:prstDash val="solid"/>
          </a:ln>
        </p:spPr>
      </p:sp>
      <p:sp>
        <p:nvSpPr>
          <p:cNvPr id="25" name="msg-square"/>
          <p:cNvSpPr/>
          <p:nvPr/>
        </p:nvSpPr>
        <p:spPr>
          <a:xfrm>
            <a:off x="9912096" y="4846320"/>
            <a:ext cx="155448" cy="155448"/>
          </a:xfrm>
          <a:prstGeom prst="rect">
            <a:avLst/>
          </a:prstGeom>
          <a:solidFill>
            <a:srgbClr val="161616"/>
          </a:solidFill>
          <a:ln w="9525">
            <a:solidFill>
              <a:srgbClr val="393939"/>
            </a:solidFill>
            <a:prstDash val="solid"/>
          </a:ln>
        </p:spPr>
      </p:sp>
      <p:sp>
        <p:nvSpPr>
          <p:cNvPr id="26" name="msg-square"/>
          <p:cNvSpPr/>
          <p:nvPr/>
        </p:nvSpPr>
        <p:spPr>
          <a:xfrm>
            <a:off x="10136124" y="4846320"/>
            <a:ext cx="155448" cy="155448"/>
          </a:xfrm>
          <a:prstGeom prst="rect">
            <a:avLst/>
          </a:prstGeom>
          <a:solidFill>
            <a:srgbClr val="161616"/>
          </a:solidFill>
          <a:ln w="9525">
            <a:solidFill>
              <a:srgbClr val="393939"/>
            </a:solidFill>
            <a:prstDash val="solid"/>
          </a:ln>
        </p:spPr>
      </p:sp>
      <p:sp>
        <p:nvSpPr>
          <p:cNvPr id="27" name="msg-square"/>
          <p:cNvSpPr/>
          <p:nvPr/>
        </p:nvSpPr>
        <p:spPr>
          <a:xfrm>
            <a:off x="10360152" y="4846320"/>
            <a:ext cx="155448" cy="155448"/>
          </a:xfrm>
          <a:prstGeom prst="rect">
            <a:avLst/>
          </a:prstGeom>
          <a:solidFill>
            <a:srgbClr val="161616"/>
          </a:solidFill>
          <a:ln w="9525">
            <a:solidFill>
              <a:srgbClr val="393939"/>
            </a:solidFill>
            <a:prstDash val="solid"/>
          </a:ln>
        </p:spPr>
      </p:sp>
      <p:sp>
        <p:nvSpPr>
          <p:cNvPr id="28" name="msg-square"/>
          <p:cNvSpPr/>
          <p:nvPr/>
        </p:nvSpPr>
        <p:spPr>
          <a:xfrm>
            <a:off x="10584180" y="4846320"/>
            <a:ext cx="155448" cy="155448"/>
          </a:xfrm>
          <a:prstGeom prst="rect">
            <a:avLst/>
          </a:prstGeom>
          <a:solidFill>
            <a:srgbClr val="161616"/>
          </a:solidFill>
          <a:ln w="9525">
            <a:solidFill>
              <a:srgbClr val="393939"/>
            </a:solidFill>
            <a:prstDash val="solid"/>
          </a:ln>
        </p:spPr>
      </p:sp>
      <p:sp>
        <p:nvSpPr>
          <p:cNvPr id="29" name="msg-square"/>
          <p:cNvSpPr/>
          <p:nvPr/>
        </p:nvSpPr>
        <p:spPr>
          <a:xfrm>
            <a:off x="10808208" y="4846320"/>
            <a:ext cx="155448" cy="155448"/>
          </a:xfrm>
          <a:prstGeom prst="rect">
            <a:avLst/>
          </a:prstGeom>
          <a:solidFill>
            <a:srgbClr val="161616"/>
          </a:solidFill>
          <a:ln w="9525">
            <a:solidFill>
              <a:srgbClr val="393939"/>
            </a:solidFill>
            <a:prstDash val="solid"/>
          </a:ln>
        </p:spPr>
      </p:sp>
      <p:sp>
        <p:nvSpPr>
          <p:cNvPr id="30" name="msg-square"/>
          <p:cNvSpPr/>
          <p:nvPr/>
        </p:nvSpPr>
        <p:spPr>
          <a:xfrm>
            <a:off x="11032236" y="4846320"/>
            <a:ext cx="155448" cy="155448"/>
          </a:xfrm>
          <a:prstGeom prst="rect">
            <a:avLst/>
          </a:prstGeom>
          <a:solidFill>
            <a:srgbClr val="161616"/>
          </a:solidFill>
          <a:ln w="9525">
            <a:solidFill>
              <a:srgbClr val="393939"/>
            </a:solidFill>
            <a:prstDash val="solid"/>
          </a:ln>
        </p:spPr>
      </p:sp>
      <p:sp>
        <p:nvSpPr>
          <p:cNvPr id="31" name="msg-square"/>
          <p:cNvSpPr/>
          <p:nvPr/>
        </p:nvSpPr>
        <p:spPr>
          <a:xfrm>
            <a:off x="11256264" y="4846320"/>
            <a:ext cx="155448" cy="155448"/>
          </a:xfrm>
          <a:prstGeom prst="rect">
            <a:avLst/>
          </a:prstGeom>
          <a:solidFill>
            <a:srgbClr val="161616"/>
          </a:solidFill>
          <a:ln w="9525">
            <a:solidFill>
              <a:srgbClr val="393939"/>
            </a:solidFill>
            <a:prstDash val="solid"/>
          </a:ln>
        </p:spPr>
      </p:sp>
      <p:sp>
        <p:nvSpPr>
          <p:cNvPr id="32" name="msg-square"/>
          <p:cNvSpPr/>
          <p:nvPr/>
        </p:nvSpPr>
        <p:spPr>
          <a:xfrm>
            <a:off x="11480292" y="4846320"/>
            <a:ext cx="155448" cy="155448"/>
          </a:xfrm>
          <a:prstGeom prst="rect">
            <a:avLst/>
          </a:prstGeom>
          <a:solidFill>
            <a:srgbClr val="161616"/>
          </a:solidFill>
          <a:ln w="9525">
            <a:solidFill>
              <a:srgbClr val="393939"/>
            </a:solidFill>
            <a:prstDash val="solid"/>
          </a:ln>
        </p:spPr>
      </p:sp>
      <p:sp>
        <p:nvSpPr>
          <p:cNvPr id="33" name="msg-square"/>
          <p:cNvSpPr/>
          <p:nvPr/>
        </p:nvSpPr>
        <p:spPr>
          <a:xfrm>
            <a:off x="7223760" y="5070348"/>
            <a:ext cx="155448" cy="155448"/>
          </a:xfrm>
          <a:prstGeom prst="rect">
            <a:avLst/>
          </a:prstGeom>
          <a:solidFill>
            <a:srgbClr val="161616"/>
          </a:solidFill>
          <a:ln w="9525">
            <a:solidFill>
              <a:srgbClr val="393939"/>
            </a:solidFill>
            <a:prstDash val="solid"/>
          </a:ln>
        </p:spPr>
      </p:sp>
      <p:sp>
        <p:nvSpPr>
          <p:cNvPr id="34" name="msg-square"/>
          <p:cNvSpPr/>
          <p:nvPr/>
        </p:nvSpPr>
        <p:spPr>
          <a:xfrm>
            <a:off x="7447788" y="5070348"/>
            <a:ext cx="155448" cy="155448"/>
          </a:xfrm>
          <a:prstGeom prst="rect">
            <a:avLst/>
          </a:prstGeom>
          <a:solidFill>
            <a:srgbClr val="161616"/>
          </a:solidFill>
          <a:ln w="9525">
            <a:solidFill>
              <a:srgbClr val="393939"/>
            </a:solidFill>
            <a:prstDash val="solid"/>
          </a:ln>
        </p:spPr>
      </p:sp>
      <p:sp>
        <p:nvSpPr>
          <p:cNvPr id="35" name="msg-square"/>
          <p:cNvSpPr/>
          <p:nvPr/>
        </p:nvSpPr>
        <p:spPr>
          <a:xfrm>
            <a:off x="7671816" y="5070348"/>
            <a:ext cx="155448" cy="155448"/>
          </a:xfrm>
          <a:prstGeom prst="rect">
            <a:avLst/>
          </a:prstGeom>
          <a:solidFill>
            <a:srgbClr val="161616"/>
          </a:solidFill>
          <a:ln w="9525">
            <a:solidFill>
              <a:srgbClr val="393939"/>
            </a:solidFill>
            <a:prstDash val="solid"/>
          </a:ln>
        </p:spPr>
      </p:sp>
      <p:sp>
        <p:nvSpPr>
          <p:cNvPr id="36" name="msg-square"/>
          <p:cNvSpPr/>
          <p:nvPr/>
        </p:nvSpPr>
        <p:spPr>
          <a:xfrm>
            <a:off x="7895844" y="5070348"/>
            <a:ext cx="155448" cy="155448"/>
          </a:xfrm>
          <a:prstGeom prst="rect">
            <a:avLst/>
          </a:prstGeom>
          <a:solidFill>
            <a:srgbClr val="161616"/>
          </a:solidFill>
          <a:ln w="9525">
            <a:solidFill>
              <a:srgbClr val="393939"/>
            </a:solidFill>
            <a:prstDash val="solid"/>
          </a:ln>
        </p:spPr>
      </p:sp>
      <p:sp>
        <p:nvSpPr>
          <p:cNvPr id="37" name="msg-square"/>
          <p:cNvSpPr/>
          <p:nvPr/>
        </p:nvSpPr>
        <p:spPr>
          <a:xfrm>
            <a:off x="8119872" y="5070348"/>
            <a:ext cx="155448" cy="155448"/>
          </a:xfrm>
          <a:prstGeom prst="rect">
            <a:avLst/>
          </a:prstGeom>
          <a:solidFill>
            <a:srgbClr val="161616"/>
          </a:solidFill>
          <a:ln w="9525">
            <a:solidFill>
              <a:srgbClr val="393939"/>
            </a:solidFill>
            <a:prstDash val="solid"/>
          </a:ln>
        </p:spPr>
      </p:sp>
      <p:sp>
        <p:nvSpPr>
          <p:cNvPr id="38" name="msg-square"/>
          <p:cNvSpPr/>
          <p:nvPr/>
        </p:nvSpPr>
        <p:spPr>
          <a:xfrm>
            <a:off x="8343900" y="5070348"/>
            <a:ext cx="155448" cy="155448"/>
          </a:xfrm>
          <a:prstGeom prst="rect">
            <a:avLst/>
          </a:prstGeom>
          <a:solidFill>
            <a:srgbClr val="161616"/>
          </a:solidFill>
          <a:ln w="9525">
            <a:solidFill>
              <a:srgbClr val="393939"/>
            </a:solidFill>
            <a:prstDash val="solid"/>
          </a:ln>
        </p:spPr>
      </p:sp>
      <p:sp>
        <p:nvSpPr>
          <p:cNvPr id="39" name="msg-square"/>
          <p:cNvSpPr/>
          <p:nvPr/>
        </p:nvSpPr>
        <p:spPr>
          <a:xfrm>
            <a:off x="8567928" y="5070348"/>
            <a:ext cx="155448" cy="155448"/>
          </a:xfrm>
          <a:prstGeom prst="rect">
            <a:avLst/>
          </a:prstGeom>
          <a:solidFill>
            <a:srgbClr val="161616"/>
          </a:solidFill>
          <a:ln w="9525">
            <a:solidFill>
              <a:srgbClr val="393939"/>
            </a:solidFill>
            <a:prstDash val="solid"/>
          </a:ln>
        </p:spPr>
      </p:sp>
      <p:sp>
        <p:nvSpPr>
          <p:cNvPr id="40" name="msg-square"/>
          <p:cNvSpPr/>
          <p:nvPr/>
        </p:nvSpPr>
        <p:spPr>
          <a:xfrm>
            <a:off x="8791956" y="5070348"/>
            <a:ext cx="155448" cy="155448"/>
          </a:xfrm>
          <a:prstGeom prst="rect">
            <a:avLst/>
          </a:prstGeom>
          <a:solidFill>
            <a:srgbClr val="161616"/>
          </a:solidFill>
          <a:ln w="9525">
            <a:solidFill>
              <a:srgbClr val="393939"/>
            </a:solidFill>
            <a:prstDash val="solid"/>
          </a:ln>
        </p:spPr>
      </p:sp>
      <p:sp>
        <p:nvSpPr>
          <p:cNvPr id="41" name="msg-square"/>
          <p:cNvSpPr/>
          <p:nvPr/>
        </p:nvSpPr>
        <p:spPr>
          <a:xfrm>
            <a:off x="9015984" y="5070348"/>
            <a:ext cx="155448" cy="155448"/>
          </a:xfrm>
          <a:prstGeom prst="rect">
            <a:avLst/>
          </a:prstGeom>
          <a:solidFill>
            <a:srgbClr val="161616"/>
          </a:solidFill>
          <a:ln w="9525">
            <a:solidFill>
              <a:srgbClr val="393939"/>
            </a:solidFill>
            <a:prstDash val="solid"/>
          </a:ln>
        </p:spPr>
      </p:sp>
      <p:sp>
        <p:nvSpPr>
          <p:cNvPr id="42" name="msg-square"/>
          <p:cNvSpPr/>
          <p:nvPr/>
        </p:nvSpPr>
        <p:spPr>
          <a:xfrm>
            <a:off x="9240012" y="5070348"/>
            <a:ext cx="155448" cy="155448"/>
          </a:xfrm>
          <a:prstGeom prst="rect">
            <a:avLst/>
          </a:prstGeom>
          <a:solidFill>
            <a:srgbClr val="161616"/>
          </a:solidFill>
          <a:ln w="9525">
            <a:solidFill>
              <a:srgbClr val="393939"/>
            </a:solidFill>
            <a:prstDash val="solid"/>
          </a:ln>
        </p:spPr>
      </p:sp>
      <p:sp>
        <p:nvSpPr>
          <p:cNvPr id="43" name="msg-square"/>
          <p:cNvSpPr/>
          <p:nvPr/>
        </p:nvSpPr>
        <p:spPr>
          <a:xfrm>
            <a:off x="9464040" y="5070348"/>
            <a:ext cx="155448" cy="155448"/>
          </a:xfrm>
          <a:prstGeom prst="rect">
            <a:avLst/>
          </a:prstGeom>
          <a:solidFill>
            <a:srgbClr val="161616"/>
          </a:solidFill>
          <a:ln w="9525">
            <a:solidFill>
              <a:srgbClr val="393939"/>
            </a:solidFill>
            <a:prstDash val="solid"/>
          </a:ln>
        </p:spPr>
      </p:sp>
      <p:sp>
        <p:nvSpPr>
          <p:cNvPr id="44" name="msg-square"/>
          <p:cNvSpPr/>
          <p:nvPr/>
        </p:nvSpPr>
        <p:spPr>
          <a:xfrm>
            <a:off x="9688068" y="5070348"/>
            <a:ext cx="155448" cy="155448"/>
          </a:xfrm>
          <a:prstGeom prst="rect">
            <a:avLst/>
          </a:prstGeom>
          <a:solidFill>
            <a:srgbClr val="161616"/>
          </a:solidFill>
          <a:ln w="9525">
            <a:solidFill>
              <a:srgbClr val="393939"/>
            </a:solidFill>
            <a:prstDash val="solid"/>
          </a:ln>
        </p:spPr>
      </p:sp>
      <p:sp>
        <p:nvSpPr>
          <p:cNvPr id="45" name="msg-square"/>
          <p:cNvSpPr/>
          <p:nvPr/>
        </p:nvSpPr>
        <p:spPr>
          <a:xfrm>
            <a:off x="9912096" y="5070348"/>
            <a:ext cx="155448" cy="155448"/>
          </a:xfrm>
          <a:prstGeom prst="rect">
            <a:avLst/>
          </a:prstGeom>
          <a:solidFill>
            <a:srgbClr val="161616"/>
          </a:solidFill>
          <a:ln w="9525">
            <a:solidFill>
              <a:srgbClr val="393939"/>
            </a:solidFill>
            <a:prstDash val="solid"/>
          </a:ln>
        </p:spPr>
      </p:sp>
      <p:sp>
        <p:nvSpPr>
          <p:cNvPr id="46" name="msg-square"/>
          <p:cNvSpPr/>
          <p:nvPr/>
        </p:nvSpPr>
        <p:spPr>
          <a:xfrm>
            <a:off x="10136124" y="5070348"/>
            <a:ext cx="155448" cy="155448"/>
          </a:xfrm>
          <a:prstGeom prst="rect">
            <a:avLst/>
          </a:prstGeom>
          <a:solidFill>
            <a:srgbClr val="161616"/>
          </a:solidFill>
          <a:ln w="9525">
            <a:solidFill>
              <a:srgbClr val="393939"/>
            </a:solidFill>
            <a:prstDash val="solid"/>
          </a:ln>
        </p:spPr>
      </p:sp>
      <p:sp>
        <p:nvSpPr>
          <p:cNvPr id="47" name="msg-square"/>
          <p:cNvSpPr/>
          <p:nvPr/>
        </p:nvSpPr>
        <p:spPr>
          <a:xfrm>
            <a:off x="10360152" y="5070348"/>
            <a:ext cx="155448" cy="155448"/>
          </a:xfrm>
          <a:prstGeom prst="rect">
            <a:avLst/>
          </a:prstGeom>
          <a:solidFill>
            <a:srgbClr val="161616"/>
          </a:solidFill>
          <a:ln w="9525">
            <a:solidFill>
              <a:srgbClr val="393939"/>
            </a:solidFill>
            <a:prstDash val="solid"/>
          </a:ln>
        </p:spPr>
      </p:sp>
      <p:sp>
        <p:nvSpPr>
          <p:cNvPr id="48" name="msg-square"/>
          <p:cNvSpPr/>
          <p:nvPr/>
        </p:nvSpPr>
        <p:spPr>
          <a:xfrm>
            <a:off x="10584180" y="5070348"/>
            <a:ext cx="155448" cy="155448"/>
          </a:xfrm>
          <a:prstGeom prst="rect">
            <a:avLst/>
          </a:prstGeom>
          <a:solidFill>
            <a:srgbClr val="161616"/>
          </a:solidFill>
          <a:ln w="9525">
            <a:solidFill>
              <a:srgbClr val="393939"/>
            </a:solidFill>
            <a:prstDash val="solid"/>
          </a:ln>
        </p:spPr>
      </p:sp>
      <p:sp>
        <p:nvSpPr>
          <p:cNvPr id="49" name="msg-square"/>
          <p:cNvSpPr/>
          <p:nvPr/>
        </p:nvSpPr>
        <p:spPr>
          <a:xfrm>
            <a:off x="10808208" y="5070348"/>
            <a:ext cx="155448" cy="155448"/>
          </a:xfrm>
          <a:prstGeom prst="rect">
            <a:avLst/>
          </a:prstGeom>
          <a:solidFill>
            <a:srgbClr val="161616"/>
          </a:solidFill>
          <a:ln w="9525">
            <a:solidFill>
              <a:srgbClr val="393939"/>
            </a:solidFill>
            <a:prstDash val="solid"/>
          </a:ln>
        </p:spPr>
      </p:sp>
      <p:sp>
        <p:nvSpPr>
          <p:cNvPr id="50" name="msg-square"/>
          <p:cNvSpPr/>
          <p:nvPr/>
        </p:nvSpPr>
        <p:spPr>
          <a:xfrm>
            <a:off x="11032236" y="5070348"/>
            <a:ext cx="155448" cy="155448"/>
          </a:xfrm>
          <a:prstGeom prst="rect">
            <a:avLst/>
          </a:prstGeom>
          <a:solidFill>
            <a:srgbClr val="161616"/>
          </a:solidFill>
          <a:ln w="9525">
            <a:solidFill>
              <a:srgbClr val="393939"/>
            </a:solidFill>
            <a:prstDash val="solid"/>
          </a:ln>
        </p:spPr>
      </p:sp>
      <p:sp>
        <p:nvSpPr>
          <p:cNvPr id="51" name="msg-square"/>
          <p:cNvSpPr/>
          <p:nvPr/>
        </p:nvSpPr>
        <p:spPr>
          <a:xfrm>
            <a:off x="11256264" y="5070348"/>
            <a:ext cx="155448" cy="155448"/>
          </a:xfrm>
          <a:prstGeom prst="rect">
            <a:avLst/>
          </a:prstGeom>
          <a:solidFill>
            <a:srgbClr val="161616"/>
          </a:solidFill>
          <a:ln w="9525">
            <a:solidFill>
              <a:srgbClr val="393939"/>
            </a:solidFill>
            <a:prstDash val="solid"/>
          </a:ln>
        </p:spPr>
      </p:sp>
      <p:sp>
        <p:nvSpPr>
          <p:cNvPr id="52" name="msg-square"/>
          <p:cNvSpPr/>
          <p:nvPr/>
        </p:nvSpPr>
        <p:spPr>
          <a:xfrm>
            <a:off x="11480292" y="5070348"/>
            <a:ext cx="155448" cy="155448"/>
          </a:xfrm>
          <a:prstGeom prst="rect">
            <a:avLst/>
          </a:prstGeom>
          <a:solidFill>
            <a:srgbClr val="161616"/>
          </a:solidFill>
          <a:ln w="9525">
            <a:solidFill>
              <a:srgbClr val="393939"/>
            </a:solidFill>
            <a:prstDash val="solid"/>
          </a:ln>
        </p:spPr>
      </p:sp>
      <p:sp>
        <p:nvSpPr>
          <p:cNvPr id="53" name="Text 51"/>
          <p:cNvSpPr txBox="1"/>
          <p:nvPr/>
        </p:nvSpPr>
        <p:spPr>
          <a:xfrm>
            <a:off x="7223760" y="5385816"/>
            <a:ext cx="3657600" cy="256032"/>
          </a:xfrm>
          <a:prstGeom prst="rect">
            <a:avLst/>
          </a:prstGeom>
          <a:noFill/>
          <a:ln/>
        </p:spPr>
        <p:txBody>
          <a:bodyPr wrap="square" lIns="0" tIns="0" rIns="0" bIns="0" rtlCol="0" anchor="ctr"/>
          <a:lstStyle/>
          <a:p>
            <a:pPr marL="0" indent="0">
              <a:buNone/>
            </a:pPr>
            <a:r>
              <a:rPr lang="en-US" sz="1100" dirty="0">
                <a:solidFill>
                  <a:srgbClr val="42BE65"/>
                </a:solidFill>
                <a:latin typeface="Courier New" pitchFamily="34" charset="0"/>
                <a:ea typeface="Courier New" pitchFamily="34" charset="-122"/>
                <a:cs typeface="Courier New" pitchFamily="34" charset="-120"/>
              </a:rPr>
              <a:t>GET(ENABLED)  ·  depth 0</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66928" y="384048"/>
            <a:ext cx="10424160" cy="713232"/>
          </a:xfrm>
          <a:prstGeom prst="rect">
            <a:avLst/>
          </a:prstGeom>
          <a:noFill/>
          <a:ln/>
        </p:spPr>
        <p:txBody>
          <a:bodyPr wrap="square" rtlCol="0" anchor="t"/>
          <a:lstStyle/>
          <a:p>
            <a:pPr marL="0" indent="0" algn="l">
              <a:buNone/>
            </a:pPr>
            <a:r>
              <a:rPr lang="en-US" sz="3200" b="1" kern="0" spc="-40" dirty="0">
                <a:solidFill>
                  <a:srgbClr val="161616"/>
                </a:solidFill>
              </a:rPr>
              <a:t>Why CURDEPTH and IPPROCS</a:t>
            </a:r>
            <a:endParaRPr lang="en-US" sz="3200" dirty="0"/>
          </a:p>
        </p:txBody>
      </p:sp>
      <p:sp>
        <p:nvSpPr>
          <p:cNvPr id="3" name="rule-part"/>
          <p:cNvSpPr/>
          <p:nvPr/>
        </p:nvSpPr>
        <p:spPr>
          <a:xfrm>
            <a:off x="566928" y="1536192"/>
            <a:ext cx="6309360" cy="1316736"/>
          </a:xfrm>
          <a:prstGeom prst="rect">
            <a:avLst/>
          </a:prstGeom>
          <a:solidFill>
            <a:srgbClr val="F4F4F4"/>
          </a:solidFill>
          <a:ln w="12700">
            <a:solidFill>
              <a:srgbClr val="F4F4F4"/>
            </a:solidFill>
            <a:prstDash val="solid"/>
          </a:ln>
        </p:spPr>
      </p:sp>
      <p:sp>
        <p:nvSpPr>
          <p:cNvPr id="4" name="msg-square"/>
          <p:cNvSpPr/>
          <p:nvPr/>
        </p:nvSpPr>
        <p:spPr>
          <a:xfrm>
            <a:off x="841248" y="1828800"/>
            <a:ext cx="146304" cy="146304"/>
          </a:xfrm>
          <a:prstGeom prst="rect">
            <a:avLst/>
          </a:prstGeom>
          <a:solidFill>
            <a:srgbClr val="0F62FE"/>
          </a:solidFill>
          <a:ln w="6350">
            <a:solidFill>
              <a:srgbClr val="0F62FE"/>
            </a:solidFill>
            <a:prstDash val="solid"/>
          </a:ln>
        </p:spPr>
      </p:sp>
      <p:sp>
        <p:nvSpPr>
          <p:cNvPr id="5" name="Text 3"/>
          <p:cNvSpPr txBox="1"/>
          <p:nvPr/>
        </p:nvSpPr>
        <p:spPr>
          <a:xfrm>
            <a:off x="1133856" y="1773936"/>
            <a:ext cx="3291840" cy="274320"/>
          </a:xfrm>
          <a:prstGeom prst="rect">
            <a:avLst/>
          </a:prstGeom>
          <a:noFill/>
          <a:ln/>
        </p:spPr>
        <p:txBody>
          <a:bodyPr wrap="square" lIns="0" tIns="0" rIns="0" bIns="0" rtlCol="0" anchor="ctr"/>
          <a:lstStyle/>
          <a:p>
            <a:pPr marL="0" indent="0">
              <a:buNone/>
            </a:pPr>
            <a:r>
              <a:rPr lang="en-US" sz="1500" b="1" dirty="0">
                <a:solidFill>
                  <a:srgbClr val="161616"/>
                </a:solidFill>
                <a:latin typeface="Courier New" pitchFamily="34" charset="0"/>
                <a:ea typeface="Courier New" pitchFamily="34" charset="-122"/>
                <a:cs typeface="Courier New" pitchFamily="34" charset="-120"/>
              </a:rPr>
              <a:t>CURDEPTH &gt; 0</a:t>
            </a:r>
            <a:endParaRPr lang="en-US" sz="1500" dirty="0"/>
          </a:p>
        </p:txBody>
      </p:sp>
      <p:sp>
        <p:nvSpPr>
          <p:cNvPr id="6" name="Text 4"/>
          <p:cNvSpPr txBox="1"/>
          <p:nvPr/>
        </p:nvSpPr>
        <p:spPr>
          <a:xfrm>
            <a:off x="1133856" y="2121408"/>
            <a:ext cx="5449824" cy="603504"/>
          </a:xfrm>
          <a:prstGeom prst="rect">
            <a:avLst/>
          </a:prstGeom>
          <a:noFill/>
          <a:ln/>
        </p:spPr>
        <p:txBody>
          <a:bodyPr wrap="square" lIns="0" tIns="0" rIns="0" bIns="0" rtlCol="0" anchor="ctr"/>
          <a:lstStyle/>
          <a:p>
            <a:pPr marL="0" indent="0">
              <a:lnSpc>
                <a:spcPts val="1700"/>
              </a:lnSpc>
              <a:buNone/>
            </a:pPr>
            <a:r>
              <a:rPr lang="en-US" sz="1200" dirty="0">
                <a:solidFill>
                  <a:srgbClr val="393939"/>
                </a:solidFill>
              </a:rPr>
              <a:t>There is work waiting on the queue. On its own this is normal — a healthy queue has depth all the time.</a:t>
            </a:r>
            <a:endParaRPr lang="en-US" sz="1200" dirty="0"/>
          </a:p>
        </p:txBody>
      </p:sp>
      <p:sp>
        <p:nvSpPr>
          <p:cNvPr id="7" name="rule-part"/>
          <p:cNvSpPr/>
          <p:nvPr/>
        </p:nvSpPr>
        <p:spPr>
          <a:xfrm>
            <a:off x="566928" y="2999232"/>
            <a:ext cx="6309360" cy="1316736"/>
          </a:xfrm>
          <a:prstGeom prst="rect">
            <a:avLst/>
          </a:prstGeom>
          <a:solidFill>
            <a:srgbClr val="F4F4F4"/>
          </a:solidFill>
          <a:ln w="12700">
            <a:solidFill>
              <a:srgbClr val="F4F4F4"/>
            </a:solidFill>
            <a:prstDash val="solid"/>
          </a:ln>
        </p:spPr>
      </p:sp>
      <p:sp>
        <p:nvSpPr>
          <p:cNvPr id="8" name="msg-square"/>
          <p:cNvSpPr/>
          <p:nvPr/>
        </p:nvSpPr>
        <p:spPr>
          <a:xfrm>
            <a:off x="841248" y="3291840"/>
            <a:ext cx="146304" cy="146304"/>
          </a:xfrm>
          <a:prstGeom prst="rect">
            <a:avLst/>
          </a:prstGeom>
          <a:solidFill>
            <a:srgbClr val="0F62FE"/>
          </a:solidFill>
          <a:ln w="6350">
            <a:solidFill>
              <a:srgbClr val="0F62FE"/>
            </a:solidFill>
            <a:prstDash val="solid"/>
          </a:ln>
        </p:spPr>
      </p:sp>
      <p:sp>
        <p:nvSpPr>
          <p:cNvPr id="9" name="Text 7"/>
          <p:cNvSpPr txBox="1"/>
          <p:nvPr/>
        </p:nvSpPr>
        <p:spPr>
          <a:xfrm>
            <a:off x="1133856" y="3236976"/>
            <a:ext cx="3291840" cy="274320"/>
          </a:xfrm>
          <a:prstGeom prst="rect">
            <a:avLst/>
          </a:prstGeom>
          <a:noFill/>
          <a:ln/>
        </p:spPr>
        <p:txBody>
          <a:bodyPr wrap="square" lIns="0" tIns="0" rIns="0" bIns="0" rtlCol="0" anchor="ctr"/>
          <a:lstStyle/>
          <a:p>
            <a:pPr marL="0" indent="0">
              <a:buNone/>
            </a:pPr>
            <a:r>
              <a:rPr lang="en-US" sz="1500" b="1" dirty="0">
                <a:solidFill>
                  <a:srgbClr val="161616"/>
                </a:solidFill>
                <a:latin typeface="Courier New" pitchFamily="34" charset="0"/>
                <a:ea typeface="Courier New" pitchFamily="34" charset="-122"/>
                <a:cs typeface="Courier New" pitchFamily="34" charset="-120"/>
              </a:rPr>
              <a:t>IPPROCS = 0</a:t>
            </a:r>
            <a:endParaRPr lang="en-US" sz="1500" dirty="0"/>
          </a:p>
        </p:txBody>
      </p:sp>
      <p:sp>
        <p:nvSpPr>
          <p:cNvPr id="10" name="Text 8"/>
          <p:cNvSpPr txBox="1"/>
          <p:nvPr/>
        </p:nvSpPr>
        <p:spPr>
          <a:xfrm>
            <a:off x="1133856" y="3584448"/>
            <a:ext cx="5449824" cy="603504"/>
          </a:xfrm>
          <a:prstGeom prst="rect">
            <a:avLst/>
          </a:prstGeom>
          <a:noFill/>
          <a:ln/>
        </p:spPr>
        <p:txBody>
          <a:bodyPr wrap="square" lIns="0" tIns="0" rIns="0" bIns="0" rtlCol="0" anchor="ctr"/>
          <a:lstStyle/>
          <a:p>
            <a:pPr marL="0" indent="0">
              <a:lnSpc>
                <a:spcPts val="1700"/>
              </a:lnSpc>
              <a:buNone/>
            </a:pPr>
            <a:r>
              <a:rPr lang="en-US" sz="1200" dirty="0">
                <a:solidFill>
                  <a:srgbClr val="393939"/>
                </a:solidFill>
              </a:rPr>
              <a:t>No application has the queue open for input. On its own this is also normal — an idle queue has no readers.</a:t>
            </a:r>
            <a:endParaRPr lang="en-US" sz="1200" dirty="0"/>
          </a:p>
        </p:txBody>
      </p:sp>
      <p:sp>
        <p:nvSpPr>
          <p:cNvPr id="11" name="rule-part"/>
          <p:cNvSpPr/>
          <p:nvPr/>
        </p:nvSpPr>
        <p:spPr>
          <a:xfrm>
            <a:off x="566928" y="4462272"/>
            <a:ext cx="6309360" cy="1316736"/>
          </a:xfrm>
          <a:prstGeom prst="rect">
            <a:avLst/>
          </a:prstGeom>
          <a:solidFill>
            <a:srgbClr val="F4F4F4"/>
          </a:solidFill>
          <a:ln w="12700">
            <a:solidFill>
              <a:srgbClr val="F4F4F4"/>
            </a:solidFill>
            <a:prstDash val="solid"/>
          </a:ln>
        </p:spPr>
      </p:sp>
      <p:sp>
        <p:nvSpPr>
          <p:cNvPr id="12" name="msg-square"/>
          <p:cNvSpPr/>
          <p:nvPr/>
        </p:nvSpPr>
        <p:spPr>
          <a:xfrm>
            <a:off x="841248" y="4754880"/>
            <a:ext cx="146304" cy="146304"/>
          </a:xfrm>
          <a:prstGeom prst="rect">
            <a:avLst/>
          </a:prstGeom>
          <a:solidFill>
            <a:srgbClr val="DA1E28"/>
          </a:solidFill>
          <a:ln w="6350">
            <a:solidFill>
              <a:srgbClr val="DA1E28"/>
            </a:solidFill>
            <a:prstDash val="solid"/>
          </a:ln>
        </p:spPr>
      </p:sp>
      <p:sp>
        <p:nvSpPr>
          <p:cNvPr id="13" name="Text 11"/>
          <p:cNvSpPr txBox="1"/>
          <p:nvPr/>
        </p:nvSpPr>
        <p:spPr>
          <a:xfrm>
            <a:off x="1133856" y="4700016"/>
            <a:ext cx="3291840" cy="274320"/>
          </a:xfrm>
          <a:prstGeom prst="rect">
            <a:avLst/>
          </a:prstGeom>
          <a:noFill/>
          <a:ln/>
        </p:spPr>
        <p:txBody>
          <a:bodyPr wrap="square" lIns="0" tIns="0" rIns="0" bIns="0" rtlCol="0" anchor="ctr"/>
          <a:lstStyle/>
          <a:p>
            <a:pPr marL="0" indent="0">
              <a:buNone/>
            </a:pPr>
            <a:r>
              <a:rPr lang="en-US" sz="1500" b="1" dirty="0">
                <a:solidFill>
                  <a:srgbClr val="161616"/>
                </a:solidFill>
                <a:latin typeface="Courier New" pitchFamily="34" charset="0"/>
                <a:ea typeface="Courier New" pitchFamily="34" charset="-122"/>
                <a:cs typeface="Courier New" pitchFamily="34" charset="-120"/>
              </a:rPr>
              <a:t>Both together</a:t>
            </a:r>
            <a:endParaRPr lang="en-US" sz="1500" dirty="0"/>
          </a:p>
        </p:txBody>
      </p:sp>
      <p:sp>
        <p:nvSpPr>
          <p:cNvPr id="14" name="Text 12"/>
          <p:cNvSpPr txBox="1"/>
          <p:nvPr/>
        </p:nvSpPr>
        <p:spPr>
          <a:xfrm>
            <a:off x="1133856" y="5047488"/>
            <a:ext cx="5449824" cy="603504"/>
          </a:xfrm>
          <a:prstGeom prst="rect">
            <a:avLst/>
          </a:prstGeom>
          <a:noFill/>
          <a:ln/>
        </p:spPr>
        <p:txBody>
          <a:bodyPr wrap="square" lIns="0" tIns="0" rIns="0" bIns="0" rtlCol="0" anchor="ctr"/>
          <a:lstStyle/>
          <a:p>
            <a:pPr marL="0" indent="0">
              <a:lnSpc>
                <a:spcPts val="1700"/>
              </a:lnSpc>
              <a:buNone/>
            </a:pPr>
            <a:r>
              <a:rPr lang="en-US" sz="1200" dirty="0">
                <a:solidFill>
                  <a:srgbClr val="393939"/>
                </a:solidFill>
              </a:rPr>
              <a:t>Messages are arriving and nothing can take them. This is the state that always needs a human, and it is cheap to detect across an entire estate.</a:t>
            </a:r>
            <a:endParaRPr lang="en-US" sz="1200" dirty="0"/>
          </a:p>
        </p:txBody>
      </p:sp>
      <p:sp>
        <p:nvSpPr>
          <p:cNvPr id="15" name="Text 13"/>
          <p:cNvSpPr txBox="1"/>
          <p:nvPr/>
        </p:nvSpPr>
        <p:spPr>
          <a:xfrm>
            <a:off x="7132320" y="1536192"/>
            <a:ext cx="4480560" cy="310896"/>
          </a:xfrm>
          <a:prstGeom prst="rect">
            <a:avLst/>
          </a:prstGeom>
          <a:noFill/>
          <a:ln/>
        </p:spPr>
        <p:txBody>
          <a:bodyPr wrap="square" lIns="0" tIns="0" rIns="0" bIns="0" rtlCol="0" anchor="ctr"/>
          <a:lstStyle/>
          <a:p>
            <a:pPr marL="0" indent="0">
              <a:buNone/>
            </a:pPr>
            <a:r>
              <a:rPr lang="en-US" sz="1700" b="1" dirty="0">
                <a:solidFill>
                  <a:srgbClr val="161616"/>
                </a:solidFill>
              </a:rPr>
              <a:t>What this rule does not catch</a:t>
            </a:r>
            <a:endParaRPr lang="en-US" sz="1700" dirty="0"/>
          </a:p>
        </p:txBody>
      </p:sp>
      <p:sp>
        <p:nvSpPr>
          <p:cNvPr id="16" name="Text 14"/>
          <p:cNvSpPr txBox="1"/>
          <p:nvPr/>
        </p:nvSpPr>
        <p:spPr>
          <a:xfrm>
            <a:off x="7132320" y="1975104"/>
            <a:ext cx="4480560" cy="256032"/>
          </a:xfrm>
          <a:prstGeom prst="rect">
            <a:avLst/>
          </a:prstGeom>
          <a:noFill/>
          <a:ln/>
        </p:spPr>
        <p:txBody>
          <a:bodyPr wrap="square" lIns="0" tIns="0" rIns="0" bIns="0" rtlCol="0" anchor="ctr"/>
          <a:lstStyle/>
          <a:p>
            <a:pPr marL="0" indent="0">
              <a:buNone/>
            </a:pPr>
            <a:r>
              <a:rPr lang="en-US" sz="1300" b="1" dirty="0">
                <a:solidFill>
                  <a:srgbClr val="A2191F"/>
                </a:solidFill>
              </a:rPr>
              <a:t>A slow consumer</a:t>
            </a:r>
            <a:endParaRPr lang="en-US" sz="1300" dirty="0"/>
          </a:p>
        </p:txBody>
      </p:sp>
      <p:sp>
        <p:nvSpPr>
          <p:cNvPr id="17" name="Text 15"/>
          <p:cNvSpPr txBox="1"/>
          <p:nvPr/>
        </p:nvSpPr>
        <p:spPr>
          <a:xfrm>
            <a:off x="7132320" y="2249424"/>
            <a:ext cx="4480560" cy="768096"/>
          </a:xfrm>
          <a:prstGeom prst="rect">
            <a:avLst/>
          </a:prstGeom>
          <a:noFill/>
          <a:ln/>
        </p:spPr>
        <p:txBody>
          <a:bodyPr wrap="square" lIns="0" tIns="0" rIns="0" bIns="0" rtlCol="0" anchor="ctr"/>
          <a:lstStyle/>
          <a:p>
            <a:pPr marL="0" indent="0">
              <a:lnSpc>
                <a:spcPts val="1700"/>
              </a:lnSpc>
              <a:buNone/>
            </a:pPr>
            <a:r>
              <a:rPr lang="en-US" sz="1200" dirty="0">
                <a:solidFill>
                  <a:srgbClr val="393939"/>
                </a:solidFill>
              </a:rPr>
              <a:t>IPPROCS is above zero but depth still climbs. Needs a depth trend over time, not a single reading.</a:t>
            </a:r>
            <a:endParaRPr lang="en-US" sz="1200" dirty="0"/>
          </a:p>
        </p:txBody>
      </p:sp>
      <p:sp>
        <p:nvSpPr>
          <p:cNvPr id="18" name="Text 16"/>
          <p:cNvSpPr txBox="1"/>
          <p:nvPr/>
        </p:nvSpPr>
        <p:spPr>
          <a:xfrm>
            <a:off x="7132320" y="3163824"/>
            <a:ext cx="4480560" cy="256032"/>
          </a:xfrm>
          <a:prstGeom prst="rect">
            <a:avLst/>
          </a:prstGeom>
          <a:noFill/>
          <a:ln/>
        </p:spPr>
        <p:txBody>
          <a:bodyPr wrap="square" lIns="0" tIns="0" rIns="0" bIns="0" rtlCol="0" anchor="ctr"/>
          <a:lstStyle/>
          <a:p>
            <a:pPr marL="0" indent="0">
              <a:buNone/>
            </a:pPr>
            <a:r>
              <a:rPr lang="en-US" sz="1300" b="1" dirty="0">
                <a:solidFill>
                  <a:srgbClr val="A2191F"/>
                </a:solidFill>
              </a:rPr>
              <a:t>A queue that is meant to be deep</a:t>
            </a:r>
            <a:endParaRPr lang="en-US" sz="1300" dirty="0"/>
          </a:p>
        </p:txBody>
      </p:sp>
      <p:sp>
        <p:nvSpPr>
          <p:cNvPr id="19" name="Text 17"/>
          <p:cNvSpPr txBox="1"/>
          <p:nvPr/>
        </p:nvSpPr>
        <p:spPr>
          <a:xfrm>
            <a:off x="7132320" y="3438144"/>
            <a:ext cx="4480560" cy="768096"/>
          </a:xfrm>
          <a:prstGeom prst="rect">
            <a:avLst/>
          </a:prstGeom>
          <a:noFill/>
          <a:ln/>
        </p:spPr>
        <p:txBody>
          <a:bodyPr wrap="square" lIns="0" tIns="0" rIns="0" bIns="0" rtlCol="0" anchor="ctr"/>
          <a:lstStyle/>
          <a:p>
            <a:pPr marL="0" indent="0">
              <a:lnSpc>
                <a:spcPts val="1700"/>
              </a:lnSpc>
              <a:buNone/>
            </a:pPr>
            <a:r>
              <a:rPr lang="en-US" sz="1200" dirty="0">
                <a:solidFill>
                  <a:srgbClr val="393939"/>
                </a:solidFill>
              </a:rPr>
              <a:t>Some queues are buffers by design. Needs an allow-list, or a per-queue threshold.</a:t>
            </a:r>
            <a:endParaRPr lang="en-US" sz="1200" dirty="0"/>
          </a:p>
        </p:txBody>
      </p:sp>
      <p:sp>
        <p:nvSpPr>
          <p:cNvPr id="20" name="Text 18"/>
          <p:cNvSpPr txBox="1"/>
          <p:nvPr/>
        </p:nvSpPr>
        <p:spPr>
          <a:xfrm>
            <a:off x="7132320" y="4352544"/>
            <a:ext cx="4480560" cy="256032"/>
          </a:xfrm>
          <a:prstGeom prst="rect">
            <a:avLst/>
          </a:prstGeom>
          <a:noFill/>
          <a:ln/>
        </p:spPr>
        <p:txBody>
          <a:bodyPr wrap="square" lIns="0" tIns="0" rIns="0" bIns="0" rtlCol="0" anchor="ctr"/>
          <a:lstStyle/>
          <a:p>
            <a:pPr marL="0" indent="0">
              <a:buNone/>
            </a:pPr>
            <a:r>
              <a:rPr lang="en-US" sz="1300" b="1" dirty="0">
                <a:solidFill>
                  <a:srgbClr val="A2191F"/>
                </a:solidFill>
              </a:rPr>
              <a:t>Why MONQ matters</a:t>
            </a:r>
            <a:endParaRPr lang="en-US" sz="1300" dirty="0"/>
          </a:p>
        </p:txBody>
      </p:sp>
      <p:sp>
        <p:nvSpPr>
          <p:cNvPr id="21" name="Text 19"/>
          <p:cNvSpPr txBox="1"/>
          <p:nvPr/>
        </p:nvSpPr>
        <p:spPr>
          <a:xfrm>
            <a:off x="7132320" y="4626864"/>
            <a:ext cx="4480560" cy="768096"/>
          </a:xfrm>
          <a:prstGeom prst="rect">
            <a:avLst/>
          </a:prstGeom>
          <a:noFill/>
          <a:ln/>
        </p:spPr>
        <p:txBody>
          <a:bodyPr wrap="square" lIns="0" tIns="0" rIns="0" bIns="0" rtlCol="0" anchor="ctr"/>
          <a:lstStyle/>
          <a:p>
            <a:pPr marL="0" indent="0">
              <a:lnSpc>
                <a:spcPts val="1700"/>
              </a:lnSpc>
              <a:buNone/>
            </a:pPr>
            <a:r>
              <a:rPr lang="en-US" sz="1200" dirty="0">
                <a:solidFill>
                  <a:srgbClr val="393939"/>
                </a:solidFill>
              </a:rPr>
              <a:t>With monitoring off there are no put and get timestamps, so the agent could tell us what was wrong but not how long it had been wrong.</a:t>
            </a:r>
            <a:endParaRPr lang="en-US" sz="1200" dirty="0"/>
          </a:p>
        </p:txBody>
      </p:sp>
      <p:sp>
        <p:nvSpPr>
          <p:cNvPr id="25" name="Slide Number Placeholder 0"/>
          <p:cNvSpPr>
            <a:spLocks noGrp="1"/>
          </p:cNvSpPr>
          <p:nvPr>
            <p:ph type="sldNum" sz="quarter" idx="4294967295"/>
          </p:nvPr>
        </p:nvSpPr>
        <p:spPr>
          <a:xfrm>
            <a:off x="11430000" y="6364224"/>
            <a:ext cx="365760"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A8A8A8"/>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66928" y="384048"/>
            <a:ext cx="10424160" cy="713232"/>
          </a:xfrm>
          <a:prstGeom prst="rect">
            <a:avLst/>
          </a:prstGeom>
          <a:noFill/>
          <a:ln/>
        </p:spPr>
        <p:txBody>
          <a:bodyPr wrap="square" rtlCol="0" anchor="t"/>
          <a:lstStyle/>
          <a:p>
            <a:pPr marL="0" indent="0" algn="l">
              <a:buNone/>
            </a:pPr>
            <a:r>
              <a:rPr lang="en-US" sz="3200" b="1" kern="0" spc="-40" dirty="0">
                <a:solidFill>
                  <a:srgbClr val="161616"/>
                </a:solidFill>
              </a:rPr>
              <a:t>Evidence: QMS1, live</a:t>
            </a:r>
            <a:endParaRPr lang="en-US" sz="3200" dirty="0"/>
          </a:p>
        </p:txBody>
      </p:sp>
      <p:pic>
        <p:nvPicPr>
          <p:cNvPr id="3" name="Image 0" descr="/tmp/claude-1000/-mnt-c-users-ajaro-claude-mq-ai-agent/c53c6715-f279-413a-824c-5ac25e45cef0/scratchpad/console-full.png"/>
          <p:cNvPicPr>
            <a:picLocks noChangeAspect="1"/>
          </p:cNvPicPr>
          <p:nvPr/>
        </p:nvPicPr>
        <p:blipFill>
          <a:blip r:embed="rId3"/>
          <a:stretch>
            <a:fillRect/>
          </a:stretch>
        </p:blipFill>
        <p:spPr>
          <a:xfrm>
            <a:off x="566928" y="1225296"/>
            <a:ext cx="8321040" cy="4526280"/>
          </a:xfrm>
          <a:prstGeom prst="rect">
            <a:avLst/>
          </a:prstGeom>
        </p:spPr>
      </p:pic>
      <p:sp>
        <p:nvSpPr>
          <p:cNvPr id="4" name="shot-frame"/>
          <p:cNvSpPr/>
          <p:nvPr/>
        </p:nvSpPr>
        <p:spPr>
          <a:xfrm>
            <a:off x="566928" y="1225296"/>
            <a:ext cx="8321040" cy="4526280"/>
          </a:xfrm>
          <a:prstGeom prst="rect">
            <a:avLst/>
          </a:prstGeom>
          <a:solidFill>
            <a:srgbClr val="FFFFFF">
              <a:alpha val="0"/>
            </a:srgbClr>
          </a:solidFill>
          <a:ln w="12700">
            <a:solidFill>
              <a:srgbClr val="C6C6C6"/>
            </a:solidFill>
            <a:prstDash val="solid"/>
          </a:ln>
        </p:spPr>
      </p:sp>
      <p:sp>
        <p:nvSpPr>
          <p:cNvPr id="5" name="msg-square"/>
          <p:cNvSpPr/>
          <p:nvPr/>
        </p:nvSpPr>
        <p:spPr>
          <a:xfrm>
            <a:off x="9125712" y="1307592"/>
            <a:ext cx="128016" cy="128016"/>
          </a:xfrm>
          <a:prstGeom prst="rect">
            <a:avLst/>
          </a:prstGeom>
          <a:solidFill>
            <a:srgbClr val="0F62FE"/>
          </a:solidFill>
          <a:ln w="6350">
            <a:solidFill>
              <a:srgbClr val="0F62FE"/>
            </a:solidFill>
            <a:prstDash val="solid"/>
          </a:ln>
        </p:spPr>
      </p:sp>
      <p:sp>
        <p:nvSpPr>
          <p:cNvPr id="6" name="Text 3"/>
          <p:cNvSpPr txBox="1"/>
          <p:nvPr/>
        </p:nvSpPr>
        <p:spPr>
          <a:xfrm>
            <a:off x="9400032" y="1225296"/>
            <a:ext cx="2194560" cy="1042416"/>
          </a:xfrm>
          <a:prstGeom prst="rect">
            <a:avLst/>
          </a:prstGeom>
          <a:noFill/>
          <a:ln/>
        </p:spPr>
        <p:txBody>
          <a:bodyPr wrap="square" lIns="0" tIns="0" rIns="0" bIns="0" rtlCol="0" anchor="t"/>
          <a:lstStyle/>
          <a:p>
            <a:pPr marL="0" indent="0">
              <a:lnSpc>
                <a:spcPts val="1500"/>
              </a:lnSpc>
              <a:buNone/>
            </a:pPr>
            <a:r>
              <a:rPr lang="en-US" sz="1200" b="1" dirty="0">
                <a:solidFill>
                  <a:srgbClr val="161616"/>
                </a:solidFill>
              </a:rPr>
              <a:t>remote-QMS1
</a:t>
            </a:r>
            <a:r>
              <a:rPr lang="en-US" sz="1050" dirty="0">
                <a:solidFill>
                  <a:srgbClr val="525252"/>
                </a:solidFill>
              </a:rPr>
              <a:t>The console's name for the remote connection. The agent answers on queue manager QMS1.</a:t>
            </a:r>
            <a:endParaRPr lang="en-US" sz="1200" dirty="0"/>
          </a:p>
        </p:txBody>
      </p:sp>
      <p:sp>
        <p:nvSpPr>
          <p:cNvPr id="7" name="msg-square"/>
          <p:cNvSpPr/>
          <p:nvPr/>
        </p:nvSpPr>
        <p:spPr>
          <a:xfrm>
            <a:off x="9125712" y="2423160"/>
            <a:ext cx="128016" cy="128016"/>
          </a:xfrm>
          <a:prstGeom prst="rect">
            <a:avLst/>
          </a:prstGeom>
          <a:solidFill>
            <a:srgbClr val="0F62FE"/>
          </a:solidFill>
          <a:ln w="6350">
            <a:solidFill>
              <a:srgbClr val="0F62FE"/>
            </a:solidFill>
            <a:prstDash val="solid"/>
          </a:ln>
        </p:spPr>
      </p:sp>
      <p:sp>
        <p:nvSpPr>
          <p:cNvPr id="8" name="Text 5"/>
          <p:cNvSpPr txBox="1"/>
          <p:nvPr/>
        </p:nvSpPr>
        <p:spPr>
          <a:xfrm>
            <a:off x="9400032" y="2340864"/>
            <a:ext cx="2194560" cy="1042416"/>
          </a:xfrm>
          <a:prstGeom prst="rect">
            <a:avLst/>
          </a:prstGeom>
          <a:noFill/>
          <a:ln/>
        </p:spPr>
        <p:txBody>
          <a:bodyPr wrap="square" lIns="0" tIns="0" rIns="0" bIns="0" rtlCol="0" anchor="t"/>
          <a:lstStyle/>
          <a:p>
            <a:pPr marL="0" indent="0">
              <a:lnSpc>
                <a:spcPts val="1500"/>
              </a:lnSpc>
              <a:buNone/>
            </a:pPr>
            <a:r>
              <a:rPr lang="en-US" sz="1200" b="1" dirty="0">
                <a:solidFill>
                  <a:srgbClr val="161616"/>
                </a:solidFill>
              </a:rPr>
              <a:t>850 / 1000
</a:t>
            </a:r>
            <a:r>
              <a:rPr lang="en-US" sz="1050" dirty="0">
                <a:solidFill>
                  <a:srgbClr val="525252"/>
                </a:solidFill>
              </a:rPr>
              <a:t>ACME.APPDATA.QUEUE, the queue in the ticket. ACME.COMMERCE.QUEUE sits above it at 3600 / 4000.</a:t>
            </a:r>
            <a:endParaRPr lang="en-US" sz="1200" dirty="0"/>
          </a:p>
        </p:txBody>
      </p:sp>
      <p:sp>
        <p:nvSpPr>
          <p:cNvPr id="9" name="msg-square"/>
          <p:cNvSpPr/>
          <p:nvPr/>
        </p:nvSpPr>
        <p:spPr>
          <a:xfrm>
            <a:off x="9125712" y="3538728"/>
            <a:ext cx="128016" cy="128016"/>
          </a:xfrm>
          <a:prstGeom prst="rect">
            <a:avLst/>
          </a:prstGeom>
          <a:solidFill>
            <a:srgbClr val="0F62FE"/>
          </a:solidFill>
          <a:ln w="6350">
            <a:solidFill>
              <a:srgbClr val="0F62FE"/>
            </a:solidFill>
            <a:prstDash val="solid"/>
          </a:ln>
        </p:spPr>
      </p:sp>
      <p:sp>
        <p:nvSpPr>
          <p:cNvPr id="10" name="Text 7"/>
          <p:cNvSpPr txBox="1"/>
          <p:nvPr/>
        </p:nvSpPr>
        <p:spPr>
          <a:xfrm>
            <a:off x="9400032" y="3456432"/>
            <a:ext cx="2194560" cy="1042416"/>
          </a:xfrm>
          <a:prstGeom prst="rect">
            <a:avLst/>
          </a:prstGeom>
          <a:noFill/>
          <a:ln/>
        </p:spPr>
        <p:txBody>
          <a:bodyPr wrap="square" lIns="0" tIns="0" rIns="0" bIns="0" rtlCol="0" anchor="t"/>
          <a:lstStyle/>
          <a:p>
            <a:pPr marL="0" indent="0">
              <a:lnSpc>
                <a:spcPts val="1500"/>
              </a:lnSpc>
              <a:buNone/>
            </a:pPr>
            <a:r>
              <a:rPr lang="en-US" sz="1200" b="1" dirty="0">
                <a:solidFill>
                  <a:srgbClr val="161616"/>
                </a:solidFill>
              </a:rPr>
              <a:t>No connected user applications
</a:t>
            </a:r>
            <a:r>
              <a:rPr lang="en-US" sz="1050" dirty="0">
                <a:solidFill>
                  <a:srgbClr val="525252"/>
                </a:solidFill>
              </a:rPr>
              <a:t>The console's own words for IPPROCS = 0.</a:t>
            </a:r>
            <a:endParaRPr lang="en-US" sz="1200" dirty="0"/>
          </a:p>
        </p:txBody>
      </p:sp>
      <p:sp>
        <p:nvSpPr>
          <p:cNvPr id="11" name="msg-square"/>
          <p:cNvSpPr/>
          <p:nvPr/>
        </p:nvSpPr>
        <p:spPr>
          <a:xfrm>
            <a:off x="9125712" y="4654296"/>
            <a:ext cx="128016" cy="128016"/>
          </a:xfrm>
          <a:prstGeom prst="rect">
            <a:avLst/>
          </a:prstGeom>
          <a:solidFill>
            <a:srgbClr val="0F62FE"/>
          </a:solidFill>
          <a:ln w="6350">
            <a:solidFill>
              <a:srgbClr val="0F62FE"/>
            </a:solidFill>
            <a:prstDash val="solid"/>
          </a:ln>
        </p:spPr>
      </p:sp>
      <p:sp>
        <p:nvSpPr>
          <p:cNvPr id="12" name="Text 9"/>
          <p:cNvSpPr txBox="1"/>
          <p:nvPr/>
        </p:nvSpPr>
        <p:spPr>
          <a:xfrm>
            <a:off x="9400032" y="4572000"/>
            <a:ext cx="2194560" cy="1042416"/>
          </a:xfrm>
          <a:prstGeom prst="rect">
            <a:avLst/>
          </a:prstGeom>
          <a:noFill/>
          <a:ln/>
        </p:spPr>
        <p:txBody>
          <a:bodyPr wrap="square" lIns="0" tIns="0" rIns="0" bIns="0" rtlCol="0" anchor="t"/>
          <a:lstStyle/>
          <a:p>
            <a:pPr marL="0" indent="0">
              <a:lnSpc>
                <a:spcPts val="1500"/>
              </a:lnSpc>
              <a:buNone/>
            </a:pPr>
            <a:r>
              <a:rPr lang="en-US" sz="1200" b="1" dirty="0">
                <a:solidFill>
                  <a:srgbClr val="161616"/>
                </a:solidFill>
              </a:rPr>
              <a:t>The AI button
</a:t>
            </a:r>
            <a:r>
              <a:rPr lang="en-US" sz="1050" dirty="0">
                <a:solidFill>
                  <a:srgbClr val="525252"/>
                </a:solidFill>
              </a:rPr>
              <a:t>Opens the agent panel. The reply is watsonx-branded.</a:t>
            </a:r>
            <a:endParaRPr lang="en-US" sz="1200" dirty="0"/>
          </a:p>
        </p:txBody>
      </p:sp>
      <p:sp>
        <p:nvSpPr>
          <p:cNvPr id="13" name="Text 10"/>
          <p:cNvSpPr txBox="1"/>
          <p:nvPr/>
        </p:nvSpPr>
        <p:spPr>
          <a:xfrm>
            <a:off x="566928" y="6035040"/>
            <a:ext cx="8229600" cy="237744"/>
          </a:xfrm>
          <a:prstGeom prst="rect">
            <a:avLst/>
          </a:prstGeom>
          <a:noFill/>
          <a:ln/>
        </p:spPr>
        <p:txBody>
          <a:bodyPr wrap="square" lIns="0" tIns="0" rIns="0" bIns="0" rtlCol="0" anchor="ctr"/>
          <a:lstStyle/>
          <a:p>
            <a:pPr marL="0" indent="0">
              <a:buNone/>
            </a:pPr>
            <a:r>
              <a:rPr lang="en-US" sz="950" dirty="0">
                <a:solidFill>
                  <a:srgbClr val="A8A8A8"/>
                </a:solidFill>
              </a:rPr>
              <a:t>Screenshot cropped to the application window. 9 October 2026, 12:33 AM.</a:t>
            </a:r>
            <a:endParaRPr lang="en-US" sz="950" dirty="0"/>
          </a:p>
        </p:txBody>
      </p:sp>
      <p:sp>
        <p:nvSpPr>
          <p:cNvPr id="25" name="Slide Number Placeholder 0"/>
          <p:cNvSpPr>
            <a:spLocks noGrp="1"/>
          </p:cNvSpPr>
          <p:nvPr>
            <p:ph type="sldNum" sz="quarter" idx="4294967295"/>
          </p:nvPr>
        </p:nvSpPr>
        <p:spPr>
          <a:xfrm>
            <a:off x="11430000" y="6364224"/>
            <a:ext cx="365760"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A8A8A8"/>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66928" y="384048"/>
            <a:ext cx="10424160" cy="713232"/>
          </a:xfrm>
          <a:prstGeom prst="rect">
            <a:avLst/>
          </a:prstGeom>
          <a:noFill/>
          <a:ln/>
        </p:spPr>
        <p:txBody>
          <a:bodyPr wrap="square" rtlCol="0" anchor="t"/>
          <a:lstStyle/>
          <a:p>
            <a:pPr marL="0" indent="0" algn="l">
              <a:buNone/>
            </a:pPr>
            <a:r>
              <a:rPr lang="en-US" sz="3200" b="1" kern="0" spc="-40" dirty="0">
                <a:solidFill>
                  <a:srgbClr val="FFFFFF"/>
                </a:solidFill>
              </a:rPr>
              <a:t>The agent's reply, unedited</a:t>
            </a:r>
            <a:endParaRPr lang="en-US" sz="3200" dirty="0"/>
          </a:p>
        </p:txBody>
      </p:sp>
      <p:sp>
        <p:nvSpPr>
          <p:cNvPr id="3" name="code-block"/>
          <p:cNvSpPr/>
          <p:nvPr/>
        </p:nvSpPr>
        <p:spPr>
          <a:xfrm>
            <a:off x="566928" y="1280160"/>
            <a:ext cx="5532120" cy="4572000"/>
          </a:xfrm>
          <a:prstGeom prst="rect">
            <a:avLst/>
          </a:prstGeom>
          <a:solidFill>
            <a:srgbClr val="000000"/>
          </a:solidFill>
          <a:ln w="12700">
            <a:solidFill>
              <a:srgbClr val="000000"/>
            </a:solidFill>
            <a:prstDash val="solid"/>
          </a:ln>
        </p:spPr>
      </p:sp>
      <p:sp>
        <p:nvSpPr>
          <p:cNvPr id="4" name="Text 2"/>
          <p:cNvSpPr txBox="1"/>
          <p:nvPr/>
        </p:nvSpPr>
        <p:spPr>
          <a:xfrm>
            <a:off x="768096" y="1426464"/>
            <a:ext cx="5129784" cy="4279392"/>
          </a:xfrm>
          <a:prstGeom prst="rect">
            <a:avLst/>
          </a:prstGeom>
          <a:noFill/>
          <a:ln/>
        </p:spPr>
        <p:txBody>
          <a:bodyPr wrap="square" lIns="0" tIns="0" rIns="0" bIns="0" rtlCol="0" anchor="t"/>
          <a:lstStyle/>
          <a:p>
            <a:pPr marL="0" indent="0">
              <a:lnSpc>
                <a:spcPts val="1523"/>
              </a:lnSpc>
              <a:buNone/>
            </a:pPr>
            <a:r>
              <a:rPr lang="en-US" sz="1050" dirty="0">
                <a:solidFill>
                  <a:srgbClr val="6F6F6F"/>
                </a:solidFill>
                <a:latin typeface="Courier New" pitchFamily="34" charset="0"/>
                <a:ea typeface="Courier New" pitchFamily="34" charset="-122"/>
                <a:cs typeface="Courier New" pitchFamily="34" charset="-120"/>
              </a:rPr>
              <a:t>You  12:30 AM
</a:t>
            </a:r>
            <a:r>
              <a:rPr lang="en-US" sz="1050" dirty="0">
                <a:solidFill>
                  <a:srgbClr val="78A9FF"/>
                </a:solidFill>
                <a:latin typeface="Courier New" pitchFamily="34" charset="0"/>
                <a:ea typeface="Courier New" pitchFamily="34" charset="-122"/>
                <a:cs typeface="Courier New" pitchFamily="34" charset="-120"/>
              </a:rPr>
              <a:t>Diagnose Q ACME.APPDATA.QUEUE on Q
Manager QMS1
</a:t>
            </a:r>
            <a:r>
              <a:rPr lang="en-US" sz="1050" dirty="0">
                <a:solidFill>
                  <a:srgbClr val="6F6F6F"/>
                </a:solidFill>
                <a:latin typeface="Courier New" pitchFamily="34" charset="0"/>
                <a:ea typeface="Courier New" pitchFamily="34" charset="-122"/>
                <a:cs typeface="Courier New" pitchFamily="34" charset="-120"/>
              </a:rPr>
              <a:t>watsonx  12:30 AM
</a:t>
            </a:r>
            <a:r>
              <a:rPr lang="en-US" sz="1050" b="1" dirty="0">
                <a:solidFill>
                  <a:srgbClr val="FFFFFF"/>
                </a:solidFill>
                <a:latin typeface="Courier New" pitchFamily="34" charset="0"/>
                <a:ea typeface="Courier New" pitchFamily="34" charset="-122"/>
                <a:cs typeface="Courier New" pitchFamily="34" charset="-120"/>
              </a:rPr>
              <a:t>Diagnosis for ACME.APPDATA.QUEUE on
queue manager QMS1
</a:t>
            </a:r>
            <a:r>
              <a:rPr lang="en-US" sz="1050" dirty="0">
                <a:solidFill>
                  <a:srgbClr val="F4F4F4"/>
                </a:solidFill>
                <a:latin typeface="Courier New" pitchFamily="34" charset="0"/>
                <a:ea typeface="Courier New" pitchFamily="34" charset="-122"/>
                <a:cs typeface="Courier New" pitchFamily="34" charset="-120"/>
              </a:rPr>
              <a:t>- Primary issue: The queue is
  GET-DISABLED, so applications cannot
  retrieve messages. This is why the
  depth is growing.
- Current metrics:
</a:t>
            </a:r>
            <a:r>
              <a:rPr lang="en-US" sz="1050" dirty="0">
                <a:solidFill>
                  <a:srgbClr val="C6C6C6"/>
                </a:solidFill>
                <a:latin typeface="Courier New" pitchFamily="34" charset="0"/>
                <a:ea typeface="Courier New" pitchFamily="34" charset="-122"/>
                <a:cs typeface="Courier New" pitchFamily="34" charset="-120"/>
              </a:rPr>
              <a:t>  - Current depth (CURDEPTH): 850
  - Maximum depth (MAXDEPTH): 1000
    (85 % full)
  - Uncommitted messages (UNCOM): 0
  - Monitoring (MONQ) is off, so
    timestamps for puts/gets aren't
    being recorded.
</a:t>
            </a:r>
            <a:r>
              <a:rPr lang="en-US" sz="1050" dirty="0">
                <a:solidFill>
                  <a:srgbClr val="F4F4F4"/>
                </a:solidFill>
                <a:latin typeface="Courier New" pitchFamily="34" charset="0"/>
                <a:ea typeface="Courier New" pitchFamily="34" charset="-122"/>
                <a:cs typeface="Courier New" pitchFamily="34" charset="-120"/>
              </a:rPr>
              <a:t>- No other obvious problems such as</a:t>
            </a:r>
            <a:endParaRPr lang="en-US" sz="1050" dirty="0"/>
          </a:p>
          <a:p>
            <a:pPr marL="0" indent="0">
              <a:lnSpc>
                <a:spcPts val="1523"/>
              </a:lnSpc>
              <a:buNone/>
            </a:pPr>
            <a:r>
              <a:rPr lang="en-US" sz="1050" dirty="0">
                <a:solidFill>
                  <a:srgbClr val="F4F4F4"/>
                </a:solidFill>
                <a:latin typeface="Courier New" pitchFamily="34" charset="0"/>
                <a:ea typeface="Courier New" pitchFamily="34" charset="-122"/>
                <a:cs typeface="Courier New" pitchFamily="34" charset="-120"/>
              </a:rPr>
              <a:t>  high uncommitted counts, trigger</a:t>
            </a:r>
            <a:endParaRPr lang="en-US" sz="1050" dirty="0"/>
          </a:p>
          <a:p>
            <a:pPr marL="0" indent="0">
              <a:lnSpc>
                <a:spcPts val="1523"/>
              </a:lnSpc>
              <a:buNone/>
            </a:pPr>
            <a:r>
              <a:rPr lang="en-US" sz="1050" dirty="0">
                <a:solidFill>
                  <a:srgbClr val="F4F4F4"/>
                </a:solidFill>
                <a:latin typeface="Courier New" pitchFamily="34" charset="0"/>
                <a:ea typeface="Courier New" pitchFamily="34" charset="-122"/>
                <a:cs typeface="Courier New" pitchFamily="34" charset="-120"/>
              </a:rPr>
              <a:t>  issues, or dead-letter routing were</a:t>
            </a:r>
            <a:endParaRPr lang="en-US" sz="1050" dirty="0"/>
          </a:p>
          <a:p>
            <a:pPr marL="0" indent="0">
              <a:lnSpc>
                <a:spcPts val="1523"/>
              </a:lnSpc>
              <a:buNone/>
            </a:pPr>
            <a:r>
              <a:rPr lang="en-US" sz="1050" dirty="0">
                <a:solidFill>
                  <a:srgbClr val="F4F4F4"/>
                </a:solidFill>
                <a:latin typeface="Courier New" pitchFamily="34" charset="0"/>
                <a:ea typeface="Courier New" pitchFamily="34" charset="-122"/>
                <a:cs typeface="Courier New" pitchFamily="34" charset="-120"/>
              </a:rPr>
              <a:t>  found.</a:t>
            </a:r>
            <a:endParaRPr lang="en-US" sz="1050" dirty="0"/>
          </a:p>
        </p:txBody>
      </p:sp>
      <p:sp>
        <p:nvSpPr>
          <p:cNvPr id="5" name="code-block"/>
          <p:cNvSpPr/>
          <p:nvPr/>
        </p:nvSpPr>
        <p:spPr>
          <a:xfrm>
            <a:off x="6510528" y="1280160"/>
            <a:ext cx="5084064" cy="4572000"/>
          </a:xfrm>
          <a:prstGeom prst="rect">
            <a:avLst/>
          </a:prstGeom>
          <a:solidFill>
            <a:srgbClr val="000000"/>
          </a:solidFill>
          <a:ln w="12700">
            <a:solidFill>
              <a:srgbClr val="000000"/>
            </a:solidFill>
            <a:prstDash val="solid"/>
          </a:ln>
        </p:spPr>
      </p:sp>
      <p:sp>
        <p:nvSpPr>
          <p:cNvPr id="6" name="Text 4"/>
          <p:cNvSpPr txBox="1"/>
          <p:nvPr/>
        </p:nvSpPr>
        <p:spPr>
          <a:xfrm>
            <a:off x="6711696" y="1426464"/>
            <a:ext cx="4681728" cy="4279392"/>
          </a:xfrm>
          <a:prstGeom prst="rect">
            <a:avLst/>
          </a:prstGeom>
          <a:noFill/>
          <a:ln/>
        </p:spPr>
        <p:txBody>
          <a:bodyPr wrap="square" lIns="0" tIns="0" rIns="0" bIns="0" rtlCol="0" anchor="t"/>
          <a:lstStyle/>
          <a:p>
            <a:pPr marL="0" indent="0">
              <a:lnSpc>
                <a:spcPts val="1523"/>
              </a:lnSpc>
              <a:buNone/>
            </a:pPr>
            <a:r>
              <a:rPr lang="en-US" sz="1050" b="1" dirty="0">
                <a:solidFill>
                  <a:srgbClr val="FFFFFF"/>
                </a:solidFill>
                <a:latin typeface="Courier New" pitchFamily="34" charset="0"/>
                <a:ea typeface="Courier New" pitchFamily="34" charset="-122"/>
                <a:cs typeface="Courier New" pitchFamily="34" charset="-120"/>
              </a:rPr>
              <a:t>Recommended actions
</a:t>
            </a:r>
            <a:r>
              <a:rPr lang="en-US" sz="1050" b="1" dirty="0">
                <a:solidFill>
                  <a:srgbClr val="42BE65"/>
                </a:solidFill>
                <a:latin typeface="Courier New" pitchFamily="34" charset="0"/>
                <a:ea typeface="Courier New" pitchFamily="34" charset="-122"/>
                <a:cs typeface="Courier New" pitchFamily="34" charset="-120"/>
              </a:rPr>
              <a:t>1. Re-enable GET
</a:t>
            </a:r>
            <a:r>
              <a:rPr lang="en-US" sz="1050" dirty="0">
                <a:solidFill>
                  <a:srgbClr val="42BE65"/>
                </a:solidFill>
                <a:latin typeface="Courier New" pitchFamily="34" charset="0"/>
                <a:ea typeface="Courier New" pitchFamily="34" charset="-122"/>
                <a:cs typeface="Courier New" pitchFamily="34" charset="-120"/>
              </a:rPr>
              <a:t>   ALTER QLOCAL('ACME.APPDATA.QUEUE')
   GET(ENABLED)
</a:t>
            </a:r>
            <a:r>
              <a:rPr lang="en-US" sz="1050" b="1" dirty="0">
                <a:solidFill>
                  <a:srgbClr val="F4F4F4"/>
                </a:solidFill>
                <a:latin typeface="Courier New" pitchFamily="34" charset="0"/>
                <a:ea typeface="Courier New" pitchFamily="34" charset="-122"/>
                <a:cs typeface="Courier New" pitchFamily="34" charset="-120"/>
              </a:rPr>
              <a:t>2. Investigate why GET was disabled
</a:t>
            </a:r>
            <a:r>
              <a:rPr lang="en-US" sz="1050" dirty="0">
                <a:solidFill>
                  <a:srgbClr val="C6C6C6"/>
                </a:solidFill>
                <a:latin typeface="Courier New" pitchFamily="34" charset="0"/>
                <a:ea typeface="Courier New" pitchFamily="34" charset="-122"/>
                <a:cs typeface="Courier New" pitchFamily="34" charset="-120"/>
              </a:rPr>
              <a:t>   - review recent config changes,
     deployments, or operational
     procedures that might have set
     the flag.
</a:t>
            </a:r>
            <a:r>
              <a:rPr lang="en-US" sz="1050" b="1" dirty="0">
                <a:solidFill>
                  <a:srgbClr val="F4F4F4"/>
                </a:solidFill>
                <a:latin typeface="Courier New" pitchFamily="34" charset="0"/>
                <a:ea typeface="Courier New" pitchFamily="34" charset="-122"/>
                <a:cs typeface="Courier New" pitchFamily="34" charset="-120"/>
              </a:rPr>
              <a:t>3. Optionally enable monitoring
</a:t>
            </a:r>
            <a:r>
              <a:rPr lang="en-US" sz="1050" dirty="0">
                <a:solidFill>
                  <a:srgbClr val="C6C6C6"/>
                </a:solidFill>
                <a:latin typeface="Courier New" pitchFamily="34" charset="0"/>
                <a:ea typeface="Courier New" pitchFamily="34" charset="-122"/>
                <a:cs typeface="Courier New" pitchFamily="34" charset="-120"/>
              </a:rPr>
              <a:t>   ALTER QLOCAL('ACME.APPDATA.QUEUE')
   MONQ(ENABLED)
4. After enabling GET, monitor the
   depth trend and verify consuming
   applications are running correctly.
</a:t>
            </a:r>
            <a:r>
              <a:rPr lang="en-US" sz="1050" dirty="0">
                <a:solidFill>
                  <a:srgbClr val="8D8D8D"/>
                </a:solidFill>
                <a:latin typeface="Courier New" pitchFamily="34" charset="0"/>
                <a:ea typeface="Courier New" pitchFamily="34" charset="-122"/>
                <a:cs typeface="Courier New" pitchFamily="34" charset="-120"/>
              </a:rPr>
              <a:t>If the issue persists: check the</a:t>
            </a:r>
            <a:endParaRPr lang="en-US" sz="1050" dirty="0"/>
          </a:p>
          <a:p>
            <a:pPr marL="0" indent="0">
              <a:lnSpc>
                <a:spcPts val="1523"/>
              </a:lnSpc>
              <a:buNone/>
            </a:pPr>
            <a:r>
              <a:rPr lang="en-US" sz="1050" dirty="0">
                <a:solidFill>
                  <a:srgbClr val="8D8D8D"/>
                </a:solidFill>
                <a:latin typeface="Courier New" pitchFamily="34" charset="0"/>
                <a:ea typeface="Courier New" pitchFamily="34" charset="-122"/>
                <a:cs typeface="Courier New" pitchFamily="34" charset="-120"/>
              </a:rPr>
              <a:t>consumer applications, trigger</a:t>
            </a:r>
            <a:endParaRPr lang="en-US" sz="1050" dirty="0"/>
          </a:p>
          <a:p>
            <a:pPr marL="0" indent="0">
              <a:lnSpc>
                <a:spcPts val="1523"/>
              </a:lnSpc>
              <a:buNone/>
            </a:pPr>
            <a:r>
              <a:rPr lang="en-US" sz="1050" dirty="0">
                <a:solidFill>
                  <a:srgbClr val="8D8D8D"/>
                </a:solidFill>
                <a:latin typeface="Courier New" pitchFamily="34" charset="0"/>
                <a:ea typeface="Courier New" pitchFamily="34" charset="-122"/>
                <a:cs typeface="Courier New" pitchFamily="34" charset="-120"/>
              </a:rPr>
              <a:t>definitions, and any dead-letter or</a:t>
            </a:r>
            <a:endParaRPr lang="en-US" sz="1050" dirty="0"/>
          </a:p>
          <a:p>
            <a:pPr marL="0" indent="0">
              <a:lnSpc>
                <a:spcPts val="1523"/>
              </a:lnSpc>
              <a:buNone/>
            </a:pPr>
            <a:r>
              <a:rPr lang="en-US" sz="1050" dirty="0">
                <a:solidFill>
                  <a:srgbClr val="8D8D8D"/>
                </a:solidFill>
                <a:latin typeface="Courier New" pitchFamily="34" charset="0"/>
                <a:ea typeface="Courier New" pitchFamily="34" charset="-122"/>
                <a:cs typeface="Courier New" pitchFamily="34" charset="-120"/>
              </a:rPr>
              <a:t>expiry handling affecting the queue.</a:t>
            </a:r>
            <a:endParaRPr lang="en-US" sz="1050" dirty="0"/>
          </a:p>
        </p:txBody>
      </p:sp>
      <p:sp>
        <p:nvSpPr>
          <p:cNvPr id="7" name="Text 5"/>
          <p:cNvSpPr txBox="1"/>
          <p:nvPr/>
        </p:nvSpPr>
        <p:spPr>
          <a:xfrm>
            <a:off x="566928" y="5961888"/>
            <a:ext cx="10058400" cy="256032"/>
          </a:xfrm>
          <a:prstGeom prst="rect">
            <a:avLst/>
          </a:prstGeom>
          <a:noFill/>
          <a:ln/>
        </p:spPr>
        <p:txBody>
          <a:bodyPr wrap="square" lIns="0" tIns="0" rIns="0" bIns="0" rtlCol="0" anchor="ctr"/>
          <a:lstStyle/>
          <a:p>
            <a:pPr marL="0" indent="0">
              <a:buNone/>
            </a:pPr>
            <a:r>
              <a:rPr lang="en-US" sz="950" dirty="0">
                <a:solidFill>
                  <a:srgbClr val="6F6F6F"/>
                </a:solidFill>
              </a:rPr>
              <a:t>Left column transcribed from the screenshot. Right column continues below the visible scroll, from the saved conversation.</a:t>
            </a:r>
            <a:endParaRPr lang="en-US" sz="950" dirty="0"/>
          </a:p>
        </p:txBody>
      </p:sp>
      <p:sp>
        <p:nvSpPr>
          <p:cNvPr id="25" name="Slide Number Placeholder 0"/>
          <p:cNvSpPr>
            <a:spLocks noGrp="1"/>
          </p:cNvSpPr>
          <p:nvPr>
            <p:ph type="sldNum" sz="quarter" idx="4294967295"/>
          </p:nvPr>
        </p:nvSpPr>
        <p:spPr>
          <a:xfrm>
            <a:off x="11430000" y="6364224"/>
            <a:ext cx="365760"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6F6F6F"/>
                </a:solidFill>
              </a:defRPr>
            </a:lvl1pPr>
          </a:lstStyle>
          <a:p>
            <a:pPr algn="r"/>
            <a:fld id="{F7021451-1387-4CA6-816F-3879F97B5CBC}" type="slidenum">
              <a:rPr lang="en-US" b="0"/>
              <a:t>15</a:t>
            </a:fld>
            <a:endParaRPr lang="en-US"/>
          </a:p>
        </p:txBody>
      </p:sp>
    </p:spTree>
  </p:cSld>
  <p:clrMapOvr>
    <a:masterClrMapping/>
  </p:clrMapOvr>
</p:sld>
</file>

<file path=ppt/theme/theme1.xml><?xml version="1.0" encoding="utf-8"?>
<a:theme xmlns:a="http://schemas.openxmlformats.org/drawingml/2006/main" name="IBM MQ Carbon">
  <a:themeElements>
    <a:clrScheme name="IBM MQ Carbon">
      <a:dk1>
        <a:srgbClr val="161616"/>
      </a:dk1>
      <a:lt1>
        <a:srgbClr val="FFFFFF"/>
      </a:lt1>
      <a:dk2>
        <a:srgbClr val="0043CE"/>
      </a:dk2>
      <a:lt2>
        <a:srgbClr val="F4F4F4"/>
      </a:lt2>
      <a:accent1>
        <a:srgbClr val="0F62FE"/>
      </a:accent1>
      <a:accent2>
        <a:srgbClr val="DA1E28"/>
      </a:accent2>
      <a:accent3>
        <a:srgbClr val="24A148"/>
      </a:accent3>
      <a:accent4>
        <a:srgbClr val="F1C21B"/>
      </a:accent4>
      <a:accent5>
        <a:srgbClr val="8A3FFC"/>
      </a:accent5>
      <a:accent6>
        <a:srgbClr val="6F6F6F"/>
      </a:accent6>
      <a:hlink>
        <a:srgbClr val="0F62FE"/>
      </a:hlink>
      <a:folHlink>
        <a:srgbClr val="8A3FFC"/>
      </a:folHlink>
    </a:clrScheme>
    <a:fontScheme name="IBM MQ Carbon">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189</TotalTime>
  <Words>2776</Words>
  <Application>Microsoft Office PowerPoint</Application>
  <PresentationFormat>Widescreen</PresentationFormat>
  <Paragraphs>253</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Courier New</vt:lpstr>
      <vt:lpstr>IBM MQ Carbon</vt:lpstr>
      <vt:lpstr>MQ AI Agent Ticket Pipeline</vt:lpstr>
      <vt:lpstr>Overview: What we are building</vt:lpstr>
      <vt:lpstr>A queue can be 85% full with no one reading from it</vt:lpstr>
      <vt:lpstr>Five stages, one instruction</vt:lpstr>
      <vt:lpstr>Building a queue that nobody can drain</vt:lpstr>
      <vt:lpstr>One sweep, every queue</vt:lpstr>
      <vt:lpstr>The enhancement is one line</vt:lpstr>
      <vt:lpstr>The answer</vt:lpstr>
      <vt:lpstr>QMS1, as the agent found it</vt:lpstr>
      <vt:lpstr>What answers the ticket</vt:lpstr>
      <vt:lpstr>The agent recommends, people still decide</vt:lpstr>
      <vt:lpstr>Thank you</vt:lpstr>
      <vt:lpstr>Why CURDEPTH and IPPROCS</vt:lpstr>
      <vt:lpstr>Evidence: QMS1, live</vt:lpstr>
      <vt:lpstr>The agent's reply, unedited</vt:lpstr>
    </vt:vector>
  </TitlesOfParts>
  <Company>IBM AngelHack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MQ AI Agent Ticket Pipeline</dc:title>
  <dc:subject>Diagnosing a GET-disabled queue on QMS1 with the IBM MQ Agent</dc:subject>
  <dc:creator>A.J. Aronoff</dc:creator>
  <cp:lastModifiedBy>AJ Aronoff</cp:lastModifiedBy>
  <cp:revision>4</cp:revision>
  <dcterms:created xsi:type="dcterms:W3CDTF">2026-10-09T04:57:24Z</dcterms:created>
  <dcterms:modified xsi:type="dcterms:W3CDTF">2026-10-10T01:14:36Z</dcterms:modified>
</cp:coreProperties>
</file>